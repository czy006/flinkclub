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6" r:id="rId3"/>
    <p:sldId id="257" r:id="rId5"/>
    <p:sldId id="258" r:id="rId6"/>
    <p:sldId id="259" r:id="rId7"/>
    <p:sldId id="275" r:id="rId8"/>
    <p:sldId id="268" r:id="rId9"/>
    <p:sldId id="260" r:id="rId10"/>
    <p:sldId id="284" r:id="rId11"/>
    <p:sldId id="303" r:id="rId12"/>
    <p:sldId id="304" r:id="rId13"/>
    <p:sldId id="305" r:id="rId14"/>
    <p:sldId id="306" r:id="rId15"/>
    <p:sldId id="307" r:id="rId16"/>
    <p:sldId id="286" r:id="rId17"/>
    <p:sldId id="278" r:id="rId18"/>
    <p:sldId id="279" r:id="rId19"/>
    <p:sldId id="280" r:id="rId20"/>
    <p:sldId id="290" r:id="rId21"/>
    <p:sldId id="281" r:id="rId22"/>
    <p:sldId id="287" r:id="rId23"/>
    <p:sldId id="282" r:id="rId24"/>
    <p:sldId id="308" r:id="rId25"/>
    <p:sldId id="283" r:id="rId26"/>
    <p:sldId id="289" r:id="rId27"/>
    <p:sldId id="276" r:id="rId28"/>
    <p:sldId id="277" r:id="rId29"/>
    <p:sldId id="264" r:id="rId30"/>
  </p:sldIdLst>
  <p:sldSz cx="12192000" cy="6858000"/>
  <p:notesSz cx="6858000" cy="9144000"/>
  <p:embeddedFontLst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Full" cryptAlgorithmClass="hash" cryptAlgorithmType="typeAny" cryptAlgorithmSid="4" spinCount="100000" saltData="jp684xN8h6+6/5Aua/A97w==" hashData="WLLsN+R9NsIdpE2ECqN+QlcNOVs=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6F38"/>
    <a:srgbClr val="46648B"/>
    <a:srgbClr val="010119"/>
    <a:srgbClr val="B77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88"/>
    <p:restoredTop sz="94732"/>
  </p:normalViewPr>
  <p:slideViewPr>
    <p:cSldViewPr snapToGrid="0">
      <p:cViewPr>
        <p:scale>
          <a:sx n="180" d="100"/>
          <a:sy n="180" d="100"/>
        </p:scale>
        <p:origin x="253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5" d="100"/>
          <a:sy n="155" d="100"/>
        </p:scale>
        <p:origin x="2536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140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5C234-94A7-004C-8A92-75BCF8539FB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AF0CB-5A0C-704A-84DA-6AAFD633494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algn="l">
              <a:buFont typeface="Arial" panose="020B0604020202090204" pitchFamily="34" charset="0"/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流计算场景下，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数据湖表的治理成为核心需求。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随着流式写入，它必然带来小文件问题，进而带来查询的性能问题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，甚至有可能因为小文件或者 delete 文件太多，造成表不可用。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Amoro 数据湖表提供了开箱即用的治理的能力。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Amoro 会自动发现注册在 Catalog 中的数据湖表，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自动地持续地去监测数据服务表的小文件以及 data 文件的数量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，然后对整个表中的文件数据量进行评估，自动根据优先级优化任务调度，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达到开箱即用的对数据湖表的文件治理。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数据延迟</a:t>
            </a:r>
            <a:r>
              <a:rPr lang="en-US" altLang="zh-CN"/>
              <a:t>7</a:t>
            </a:r>
            <a:r>
              <a:rPr lang="zh-CN" altLang="en-US"/>
              <a:t>日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 descr="男子的脸部特写与配字&#10;&#10;中度可信度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883" y="253697"/>
            <a:ext cx="1302605" cy="397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 descr="男子的脸部特写与配字&#10;&#10;中度可信度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883" y="253697"/>
            <a:ext cx="1302605" cy="397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 descr="男子的脸部特写与配字&#10;&#10;中度可信度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883" y="253697"/>
            <a:ext cx="1302605" cy="397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男子的脸部特写与配字&#10;&#10;中度可信度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883" y="253697"/>
            <a:ext cx="1302605" cy="39788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.xml"/><Relationship Id="rId3" Type="http://schemas.openxmlformats.org/officeDocument/2006/relationships/image" Target="../media/image7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16.xml"/><Relationship Id="rId4" Type="http://schemas.openxmlformats.org/officeDocument/2006/relationships/image" Target="../media/image8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8.xml"/><Relationship Id="rId2" Type="http://schemas.openxmlformats.org/officeDocument/2006/relationships/image" Target="../media/image9.png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4" Type="http://schemas.openxmlformats.org/officeDocument/2006/relationships/slideLayout" Target="../slideLayouts/slideLayout3.xml"/><Relationship Id="rId33" Type="http://schemas.openxmlformats.org/officeDocument/2006/relationships/tags" Target="../tags/tag50.xml"/><Relationship Id="rId32" Type="http://schemas.openxmlformats.org/officeDocument/2006/relationships/tags" Target="../tags/tag49.xml"/><Relationship Id="rId31" Type="http://schemas.openxmlformats.org/officeDocument/2006/relationships/tags" Target="../tags/tag48.xml"/><Relationship Id="rId30" Type="http://schemas.openxmlformats.org/officeDocument/2006/relationships/tags" Target="../tags/tag47.xml"/><Relationship Id="rId3" Type="http://schemas.openxmlformats.org/officeDocument/2006/relationships/tags" Target="../tags/tag21.xml"/><Relationship Id="rId29" Type="http://schemas.openxmlformats.org/officeDocument/2006/relationships/tags" Target="../tags/tag46.xml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tags" Target="../tags/tag43.xml"/><Relationship Id="rId25" Type="http://schemas.openxmlformats.org/officeDocument/2006/relationships/tags" Target="../tags/tag42.xml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20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image" Target="../media/image10.png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6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9.xml"/><Relationship Id="rId3" Type="http://schemas.openxmlformats.org/officeDocument/2006/relationships/image" Target="../media/image13.jpe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93.xml"/><Relationship Id="rId4" Type="http://schemas.openxmlformats.org/officeDocument/2006/relationships/image" Target="../media/image14.png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96.xml"/><Relationship Id="rId3" Type="http://schemas.openxmlformats.org/officeDocument/2006/relationships/image" Target="../media/image15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7.png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tags" Target="../tags/tag106.xml"/><Relationship Id="rId7" Type="http://schemas.openxmlformats.org/officeDocument/2006/relationships/image" Target="../media/image23.svg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7" Type="http://schemas.openxmlformats.org/officeDocument/2006/relationships/slideLayout" Target="../slideLayouts/slideLayout3.xml"/><Relationship Id="rId26" Type="http://schemas.openxmlformats.org/officeDocument/2006/relationships/tags" Target="../tags/tag123.xml"/><Relationship Id="rId25" Type="http://schemas.openxmlformats.org/officeDocument/2006/relationships/tags" Target="../tags/tag122.xml"/><Relationship Id="rId24" Type="http://schemas.openxmlformats.org/officeDocument/2006/relationships/tags" Target="../tags/tag121.xml"/><Relationship Id="rId23" Type="http://schemas.openxmlformats.org/officeDocument/2006/relationships/tags" Target="../tags/tag120.xml"/><Relationship Id="rId22" Type="http://schemas.openxmlformats.org/officeDocument/2006/relationships/tags" Target="../tags/tag119.xml"/><Relationship Id="rId21" Type="http://schemas.openxmlformats.org/officeDocument/2006/relationships/tags" Target="../tags/tag118.xml"/><Relationship Id="rId20" Type="http://schemas.openxmlformats.org/officeDocument/2006/relationships/tags" Target="../tags/tag117.xml"/><Relationship Id="rId2" Type="http://schemas.openxmlformats.org/officeDocument/2006/relationships/tags" Target="../tags/tag105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tags" Target="../tags/tag1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8.png"/><Relationship Id="rId2" Type="http://schemas.openxmlformats.org/officeDocument/2006/relationships/tags" Target="../tags/tag139.xml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1105123" y="1934803"/>
            <a:ext cx="1051242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4400" b="1" dirty="0">
                <a:solidFill>
                  <a:srgbClr val="FFFF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Amoro + Flink CDC </a:t>
            </a:r>
            <a:r>
              <a:rPr lang="zh-CN" altLang="en-US" sz="4400" b="1" dirty="0">
                <a:solidFill>
                  <a:srgbClr val="FFFF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数据融合入湖新体验</a:t>
            </a:r>
            <a:endParaRPr lang="zh-CN" altLang="en-US" sz="4400" b="1" dirty="0">
              <a:solidFill>
                <a:srgbClr val="FFFFFF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04900" y="2912745"/>
            <a:ext cx="3902710" cy="8388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indent="0" defTabSz="457200"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FFFFFF"/>
                </a:solidFill>
                <a:latin typeface="Space Grotesk" pitchFamily="2" charset="0"/>
                <a:ea typeface="阿里巴巴普惠体 R" panose="00020600040101010101" pitchFamily="18" charset="-122"/>
                <a:cs typeface="Space Grotesk" pitchFamily="2" charset="0"/>
              </a:rPr>
              <a:t>Apache Amoro PPMC &amp; </a:t>
            </a:r>
            <a:r>
              <a:rPr lang="zh-CN" altLang="en-US" sz="1600" dirty="0">
                <a:solidFill>
                  <a:srgbClr val="FFFFFF"/>
                </a:solidFill>
                <a:latin typeface="Space Grotesk" pitchFamily="2" charset="0"/>
                <a:ea typeface="阿里巴巴普惠体 R" panose="00020600040101010101" pitchFamily="18" charset="-122"/>
                <a:cs typeface="Space Grotesk" pitchFamily="2" charset="0"/>
              </a:rPr>
              <a:t>社区运营</a:t>
            </a:r>
            <a:endParaRPr lang="en-US" altLang="zh-CN" sz="1600" dirty="0">
              <a:solidFill>
                <a:srgbClr val="FFFFFF"/>
              </a:solidFill>
              <a:latin typeface="Space Grotesk" pitchFamily="2" charset="0"/>
              <a:ea typeface="阿里巴巴普惠体 R" panose="00020600040101010101" pitchFamily="18" charset="-122"/>
              <a:cs typeface="Space Grotesk" pitchFamily="2" charset="0"/>
            </a:endParaRPr>
          </a:p>
          <a:p>
            <a:pPr indent="0" defTabSz="457200"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FFFFFF"/>
                </a:solidFill>
                <a:latin typeface="Space Grotesk" pitchFamily="2" charset="0"/>
                <a:ea typeface="阿里巴巴普惠体 R" panose="00020600040101010101" pitchFamily="18" charset="-122"/>
                <a:cs typeface="Space Grotesk" pitchFamily="2" charset="0"/>
              </a:rPr>
              <a:t>Apache Flink Contrubitor &amp; </a:t>
            </a:r>
            <a:r>
              <a:rPr lang="zh-CN" altLang="en-US" sz="1600" dirty="0">
                <a:solidFill>
                  <a:srgbClr val="FFFFFF"/>
                </a:solidFill>
                <a:latin typeface="Space Grotesk" pitchFamily="2" charset="0"/>
                <a:ea typeface="阿里巴巴普惠体 R" panose="00020600040101010101" pitchFamily="18" charset="-122"/>
                <a:cs typeface="Space Grotesk" pitchFamily="2" charset="0"/>
              </a:rPr>
              <a:t>社区</a:t>
            </a:r>
            <a:r>
              <a:rPr lang="zh-CN" altLang="en-US" sz="1600" dirty="0">
                <a:solidFill>
                  <a:srgbClr val="FFFFFF"/>
                </a:solidFill>
                <a:latin typeface="Space Grotesk" pitchFamily="2" charset="0"/>
                <a:ea typeface="阿里巴巴普惠体 R" panose="00020600040101010101" pitchFamily="18" charset="-122"/>
                <a:cs typeface="Space Grotesk" pitchFamily="2" charset="0"/>
              </a:rPr>
              <a:t>志愿者</a:t>
            </a:r>
            <a:endParaRPr lang="zh-CN" altLang="en-US" sz="1600" dirty="0">
              <a:solidFill>
                <a:srgbClr val="FFFFFF"/>
              </a:solidFill>
              <a:latin typeface="Space Grotesk" pitchFamily="2" charset="0"/>
              <a:ea typeface="阿里巴巴普惠体 R" panose="00020600040101010101" pitchFamily="18" charset="-122"/>
              <a:cs typeface="Space Grotesk" pitchFamily="2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48155" y="3955828"/>
            <a:ext cx="4232541" cy="534217"/>
          </a:xfrm>
          <a:prstGeom prst="rect">
            <a:avLst/>
          </a:prstGeom>
          <a:gradFill>
            <a:gsLst>
              <a:gs pos="49000">
                <a:schemeClr val="tx2">
                  <a:alpha val="50000"/>
                </a:schemeClr>
              </a:gs>
              <a:gs pos="0">
                <a:schemeClr val="tx2">
                  <a:alpha val="0"/>
                </a:schemeClr>
              </a:gs>
              <a:gs pos="100000">
                <a:schemeClr val="tx2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254135" y="3992104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5400" b="1">
                <a:solidFill>
                  <a:schemeClr val="bg1"/>
                </a:solidFill>
                <a:latin typeface="Alibaba PuHuiTi 2.0 95 ExtraBol" pitchFamily="18" charset="-122"/>
                <a:ea typeface="Alibaba PuHuiTi 2.0 95 ExtraBol" pitchFamily="18" charset="-122"/>
                <a:cs typeface="Alibaba PuHuiTi 2.0 95 ExtraBol" pitchFamily="18" charset="-122"/>
              </a:defRPr>
            </a:lvl1pPr>
          </a:lstStyle>
          <a:p>
            <a:pPr defTabSz="457200"/>
            <a:r>
              <a:rPr lang="zh-CN" altLang="en-US" sz="2400" b="0" dirty="0">
                <a:solidFill>
                  <a:srgbClr val="FFFFFF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陈政羽</a:t>
            </a:r>
            <a:endParaRPr lang="zh-CN" altLang="en-US" sz="2400" b="0" dirty="0">
              <a:solidFill>
                <a:srgbClr val="FFFFFF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432211" y="3992104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5400" b="1">
                <a:solidFill>
                  <a:schemeClr val="bg1"/>
                </a:solidFill>
                <a:latin typeface="Alibaba PuHuiTi 2.0 95 ExtraBol" pitchFamily="18" charset="-122"/>
                <a:ea typeface="Alibaba PuHuiTi 2.0 95 ExtraBol" pitchFamily="18" charset="-122"/>
                <a:cs typeface="Alibaba PuHuiTi 2.0 95 ExtraBol" pitchFamily="18" charset="-122"/>
              </a:defRPr>
            </a:lvl1pPr>
          </a:lstStyle>
          <a:p>
            <a:pPr defTabSz="457200"/>
            <a:r>
              <a:rPr lang="zh-CN" altLang="en-US" sz="2400" b="0" dirty="0">
                <a:solidFill>
                  <a:srgbClr val="FFFFFF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货拉拉数据湖方向负责人</a:t>
            </a:r>
            <a:endParaRPr lang="zh-CN" altLang="en-US" sz="2400" b="0" dirty="0">
              <a:solidFill>
                <a:srgbClr val="FFFFFF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343551" y="4104221"/>
            <a:ext cx="17808" cy="23743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94030" y="3955828"/>
            <a:ext cx="29679" cy="534217"/>
          </a:xfrm>
          <a:prstGeom prst="rect">
            <a:avLst/>
          </a:prstGeom>
          <a:solidFill>
            <a:srgbClr val="9967F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13051" y="1265592"/>
            <a:ext cx="11993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7200" b="1" dirty="0">
                <a:gradFill flip="none" rotWithShape="1">
                  <a:gsLst>
                    <a:gs pos="15000">
                      <a:schemeClr val="tx2"/>
                    </a:gs>
                    <a:gs pos="75000">
                      <a:schemeClr val="tx2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Space Grotesk" pitchFamily="2" charset="0"/>
                <a:cs typeface="Space Grotesk" pitchFamily="2" charset="0"/>
              </a:rPr>
              <a:t>01</a:t>
            </a:r>
            <a:endParaRPr kumimoji="1" lang="zh-CN" altLang="en-US" sz="7200" b="1" dirty="0">
              <a:gradFill flip="none" rotWithShape="1">
                <a:gsLst>
                  <a:gs pos="15000">
                    <a:schemeClr val="tx2"/>
                  </a:gs>
                  <a:gs pos="75000">
                    <a:schemeClr val="tx2">
                      <a:alpha val="0"/>
                    </a:schemeClr>
                  </a:gs>
                </a:gsLst>
                <a:lin ang="5400000" scaled="0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6323" y="2220941"/>
            <a:ext cx="35128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sz="32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CDC在货拉拉应用</a:t>
            </a:r>
            <a:endParaRPr kumimoji="1" lang="zh-CN" altLang="en-US" sz="3200" b="1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89406" y="2918458"/>
            <a:ext cx="24923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Flink CDC 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实时数据订阅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入口</a:t>
            </a:r>
            <a:endParaRPr kumimoji="1" lang="zh-CN" altLang="en-US" sz="1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74454" y="2823759"/>
            <a:ext cx="276557" cy="230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3" name="文本框 2"/>
          <p:cNvSpPr txBox="1"/>
          <p:nvPr/>
        </p:nvSpPr>
        <p:spPr>
          <a:xfrm>
            <a:off x="8406838" y="1266862"/>
            <a:ext cx="13308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1" sz="11500" b="1">
                <a:gradFill flip="none" rotWithShape="1">
                  <a:gsLst>
                    <a:gs pos="15000">
                      <a:schemeClr val="bg1">
                        <a:alpha val="35000"/>
                      </a:schemeClr>
                    </a:gs>
                    <a:gs pos="75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altLang="zh-CN" sz="7200" dirty="0">
                <a:gradFill flip="none" rotWithShape="1">
                  <a:gsLst>
                    <a:gs pos="15000">
                      <a:schemeClr val="bg2"/>
                    </a:gs>
                    <a:gs pos="75000">
                      <a:schemeClr val="bg2">
                        <a:alpha val="0"/>
                      </a:schemeClr>
                    </a:gs>
                  </a:gsLst>
                  <a:lin ang="5400000" scaled="0"/>
                  <a:tileRect/>
                </a:gradFill>
              </a:rPr>
              <a:t>02</a:t>
            </a:r>
            <a:endParaRPr lang="zh-CN" altLang="en-US" sz="7200" dirty="0">
              <a:gradFill flip="none" rotWithShape="1">
                <a:gsLst>
                  <a:gs pos="15000">
                    <a:schemeClr val="bg2"/>
                  </a:gs>
                  <a:gs pos="75000">
                    <a:schemeClr val="bg2">
                      <a:alpha val="0"/>
                    </a:schemeClr>
                  </a:gs>
                </a:gsLst>
                <a:lin ang="5400000" scaled="0"/>
                <a:tileRect/>
              </a:gra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56182" y="2244436"/>
            <a:ext cx="30321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数据入湖新</a:t>
            </a:r>
            <a:r>
              <a:rPr kumimoji="1" lang="zh-CN" altLang="en-US" sz="32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体验</a:t>
            </a:r>
            <a:endParaRPr kumimoji="1" lang="zh-CN" altLang="en-US" sz="3200" b="1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54390" y="2919728"/>
            <a:ext cx="1235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pipeline 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入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湖</a:t>
            </a:r>
            <a:endParaRPr kumimoji="1" lang="zh-CN" altLang="en-US" sz="1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33966" y="2825029"/>
            <a:ext cx="276557" cy="230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4" name="文本框 3"/>
          <p:cNvSpPr txBox="1"/>
          <p:nvPr/>
        </p:nvSpPr>
        <p:spPr>
          <a:xfrm>
            <a:off x="1928469" y="3969422"/>
            <a:ext cx="13436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1" sz="11500" b="1">
                <a:gradFill flip="none" rotWithShape="1">
                  <a:gsLst>
                    <a:gs pos="15000">
                      <a:schemeClr val="bg1">
                        <a:alpha val="35000"/>
                      </a:schemeClr>
                    </a:gs>
                    <a:gs pos="75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altLang="zh-CN" sz="7200" dirty="0">
                <a:gradFill flip="none" rotWithShape="1">
                  <a:gsLst>
                    <a:gs pos="15000">
                      <a:schemeClr val="accent1"/>
                    </a:gs>
                    <a:gs pos="75000">
                      <a:schemeClr val="accent1">
                        <a:alpha val="0"/>
                      </a:schemeClr>
                    </a:gs>
                  </a:gsLst>
                  <a:lin ang="5400000" scaled="0"/>
                  <a:tileRect/>
                </a:gradFill>
              </a:rPr>
              <a:t>03</a:t>
            </a:r>
            <a:endParaRPr lang="zh-CN" altLang="en-US" sz="7200" dirty="0">
              <a:gradFill flip="none" rotWithShape="1">
                <a:gsLst>
                  <a:gs pos="15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</a:gsLst>
                <a:lin ang="5400000" scaled="0"/>
                <a:tileRect/>
              </a:gra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4778" y="4946996"/>
            <a:ext cx="18110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入湖</a:t>
            </a:r>
            <a:r>
              <a:rPr kumimoji="1" lang="zh-CN" altLang="en-US" sz="32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优化</a:t>
            </a:r>
            <a:endParaRPr kumimoji="1" lang="zh-CN" altLang="en-US" sz="3200" b="1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08749" y="5622288"/>
            <a:ext cx="1783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入湖数据新鲜度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提升</a:t>
            </a:r>
            <a:endParaRPr kumimoji="1" lang="zh-CN" altLang="en-US" sz="1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62009" y="5527589"/>
            <a:ext cx="276557" cy="230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8406728" y="3891317"/>
            <a:ext cx="128270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1" sz="11500" b="1">
                <a:gradFill flip="none" rotWithShape="1">
                  <a:gsLst>
                    <a:gs pos="15000">
                      <a:schemeClr val="bg1">
                        <a:alpha val="35000"/>
                      </a:schemeClr>
                    </a:gs>
                    <a:gs pos="75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altLang="zh-CN" sz="7200" dirty="0">
                <a:solidFill>
                  <a:schemeClr val="accent4">
                    <a:lumMod val="75000"/>
                  </a:schemeClr>
                </a:solidFill>
              </a:rPr>
              <a:t>04</a:t>
            </a:r>
            <a:endParaRPr lang="en-US" altLang="zh-CN" sz="7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8245475" y="4946996"/>
            <a:ext cx="18110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未来</a:t>
            </a:r>
            <a:r>
              <a:rPr kumimoji="1" lang="zh-CN" altLang="en-US" sz="32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规划</a:t>
            </a:r>
            <a:endParaRPr kumimoji="1" lang="zh-CN" altLang="en-US" sz="3200" b="1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8476933" y="5622288"/>
            <a:ext cx="134810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CDC &amp; 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数据湖</a:t>
            </a:r>
            <a:endParaRPr kumimoji="1" lang="en-US" altLang="zh-CN" sz="1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2625091" y="2961970"/>
            <a:ext cx="69418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sz="48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Flink CDC 在货拉拉应用</a:t>
            </a:r>
            <a:endParaRPr kumimoji="1" sz="4800" b="1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06239" y="4042952"/>
            <a:ext cx="37795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CDC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逐步成为实时数据订阅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入口</a:t>
            </a:r>
            <a:endParaRPr kumimoji="1" lang="zh-CN" altLang="en-US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26398" y="1617396"/>
            <a:ext cx="15392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9600" b="1" dirty="0">
                <a:gradFill flip="none" rotWithShape="1">
                  <a:gsLst>
                    <a:gs pos="15000">
                      <a:schemeClr val="tx2"/>
                    </a:gs>
                    <a:gs pos="75000">
                      <a:schemeClr val="tx2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Space Grotesk" pitchFamily="2" charset="0"/>
                <a:cs typeface="Space Grotesk" pitchFamily="2" charset="0"/>
              </a:rPr>
              <a:t>01</a:t>
            </a:r>
            <a:endParaRPr kumimoji="1" lang="zh-CN" altLang="en-US" sz="9600" b="1" dirty="0">
              <a:gradFill flip="none" rotWithShape="1">
                <a:gsLst>
                  <a:gs pos="15000">
                    <a:schemeClr val="tx2"/>
                  </a:gs>
                  <a:gs pos="75000">
                    <a:schemeClr val="tx2">
                      <a:alpha val="0"/>
                    </a:schemeClr>
                  </a:gs>
                </a:gsLst>
                <a:lin ang="5400000" scaled="0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40744" y="3825111"/>
            <a:ext cx="510511" cy="446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985580" y="660400"/>
            <a:ext cx="38804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altLang="zh-CN" dirty="0"/>
              <a:t>Flink CDC </a:t>
            </a:r>
            <a:r>
              <a:rPr lang="zh-CN" altLang="en-US" dirty="0"/>
              <a:t>使用</a:t>
            </a:r>
            <a:r>
              <a:rPr lang="zh-CN" altLang="en-US" dirty="0"/>
              <a:t>量</a:t>
            </a:r>
            <a:endParaRPr lang="zh-CN" altLang="en-US" dirty="0"/>
          </a:p>
        </p:txBody>
      </p:sp>
      <p:sp>
        <p:nvSpPr>
          <p:cNvPr id="2" name="椭圆 1"/>
          <p:cNvSpPr/>
          <p:nvPr/>
        </p:nvSpPr>
        <p:spPr>
          <a:xfrm>
            <a:off x="1697306" y="2156101"/>
            <a:ext cx="1581070" cy="1581069"/>
          </a:xfrm>
          <a:prstGeom prst="ellipse">
            <a:avLst/>
          </a:prstGeom>
          <a:gradFill flip="none" rotWithShape="1">
            <a:gsLst>
              <a:gs pos="90000">
                <a:schemeClr val="tx2">
                  <a:alpha val="0"/>
                </a:schemeClr>
              </a:gs>
              <a:gs pos="100000">
                <a:schemeClr val="tx2">
                  <a:alpha val="29963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" name="椭圆 2"/>
          <p:cNvSpPr/>
          <p:nvPr/>
        </p:nvSpPr>
        <p:spPr>
          <a:xfrm rot="10800000">
            <a:off x="1779732" y="2238526"/>
            <a:ext cx="1416219" cy="1416219"/>
          </a:xfrm>
          <a:prstGeom prst="ellipse">
            <a:avLst/>
          </a:prstGeom>
          <a:gradFill flip="none" rotWithShape="1">
            <a:gsLst>
              <a:gs pos="67000">
                <a:schemeClr val="tx2">
                  <a:alpha val="0"/>
                </a:schemeClr>
              </a:gs>
              <a:gs pos="100000">
                <a:schemeClr val="tx2">
                  <a:alpha val="69986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305465" y="2156101"/>
            <a:ext cx="1581070" cy="1581069"/>
          </a:xfrm>
          <a:prstGeom prst="ellipse">
            <a:avLst/>
          </a:prstGeom>
          <a:gradFill flip="none" rotWithShape="1">
            <a:gsLst>
              <a:gs pos="90000">
                <a:srgbClr val="4EB5FF">
                  <a:alpha val="0"/>
                </a:srgbClr>
              </a:gs>
              <a:gs pos="100000">
                <a:srgbClr val="4EB5FF">
                  <a:alpha val="29931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dirty="0"/>
          </a:p>
        </p:txBody>
      </p:sp>
      <p:sp>
        <p:nvSpPr>
          <p:cNvPr id="6" name="椭圆 5"/>
          <p:cNvSpPr/>
          <p:nvPr/>
        </p:nvSpPr>
        <p:spPr>
          <a:xfrm rot="10800000">
            <a:off x="5387891" y="2238527"/>
            <a:ext cx="1416219" cy="1416219"/>
          </a:xfrm>
          <a:prstGeom prst="ellipse">
            <a:avLst/>
          </a:prstGeom>
          <a:gradFill flip="none" rotWithShape="1">
            <a:gsLst>
              <a:gs pos="67000">
                <a:srgbClr val="4EB5FF">
                  <a:alpha val="0"/>
                </a:srgbClr>
              </a:gs>
              <a:gs pos="100000">
                <a:srgbClr val="4EB5FF">
                  <a:alpha val="70125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rgbClr val="4EB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913624" y="2156101"/>
            <a:ext cx="1581070" cy="1581069"/>
          </a:xfrm>
          <a:prstGeom prst="ellipse">
            <a:avLst/>
          </a:prstGeom>
          <a:gradFill flip="none" rotWithShape="1">
            <a:gsLst>
              <a:gs pos="90000">
                <a:srgbClr val="04D082">
                  <a:alpha val="0"/>
                </a:srgbClr>
              </a:gs>
              <a:gs pos="100000">
                <a:srgbClr val="04D082">
                  <a:alpha val="29974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dirty="0"/>
          </a:p>
        </p:txBody>
      </p:sp>
      <p:sp>
        <p:nvSpPr>
          <p:cNvPr id="9" name="椭圆 8"/>
          <p:cNvSpPr/>
          <p:nvPr/>
        </p:nvSpPr>
        <p:spPr>
          <a:xfrm rot="10800000">
            <a:off x="8996050" y="2238527"/>
            <a:ext cx="1416219" cy="1416219"/>
          </a:xfrm>
          <a:prstGeom prst="ellipse">
            <a:avLst/>
          </a:prstGeom>
          <a:gradFill flip="none" rotWithShape="1">
            <a:gsLst>
              <a:gs pos="67000">
                <a:srgbClr val="04D082">
                  <a:alpha val="0"/>
                </a:srgbClr>
              </a:gs>
              <a:gs pos="100000">
                <a:srgbClr val="04D082">
                  <a:alpha val="69778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rgbClr val="04D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156201" y="3915217"/>
            <a:ext cx="18796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数据量</a:t>
            </a:r>
            <a:r>
              <a:rPr kumimoji="1" lang="en-US" altLang="zh-CN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 </a:t>
            </a:r>
            <a:r>
              <a:rPr kumimoji="1" lang="en-US" altLang="zh-CN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TB +</a:t>
            </a:r>
            <a:endParaRPr kumimoji="1" lang="en-US" altLang="zh-CN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204461" y="4322496"/>
            <a:ext cx="1783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采集数据量稳步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上升</a:t>
            </a:r>
            <a:endParaRPr kumimoji="1" lang="zh-CN" altLang="en-US" sz="14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15046" y="3915217"/>
            <a:ext cx="15455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任务</a:t>
            </a:r>
            <a:r>
              <a:rPr kumimoji="1" lang="en-US" altLang="zh-CN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 50 +</a:t>
            </a:r>
            <a:endParaRPr kumimoji="1" lang="en-US" altLang="zh-CN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96300" y="4322496"/>
            <a:ext cx="1783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建设标准化采集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平台</a:t>
            </a:r>
            <a:endParaRPr kumimoji="1" lang="zh-CN" altLang="en-US" sz="14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646885" y="3915217"/>
            <a:ext cx="21145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采集</a:t>
            </a:r>
            <a:r>
              <a:rPr kumimoji="1" lang="en-US" altLang="zh-CN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 5000+</a:t>
            </a: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表</a:t>
            </a:r>
            <a:endParaRPr kumimoji="1" lang="zh-CN" altLang="en-US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901519" y="4322496"/>
            <a:ext cx="1605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包含多个分库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分表</a:t>
            </a:r>
            <a:endParaRPr kumimoji="1" lang="zh-CN" altLang="en-US" sz="14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3" name="任意形状 22"/>
          <p:cNvSpPr/>
          <p:nvPr/>
        </p:nvSpPr>
        <p:spPr>
          <a:xfrm>
            <a:off x="5836825" y="2687466"/>
            <a:ext cx="518353" cy="518341"/>
          </a:xfrm>
          <a:custGeom>
            <a:avLst/>
            <a:gdLst>
              <a:gd name="connsiteX0" fmla="*/ 198110 w 518353"/>
              <a:gd name="connsiteY0" fmla="*/ 29 h 518341"/>
              <a:gd name="connsiteX1" fmla="*/ 232045 w 518353"/>
              <a:gd name="connsiteY1" fmla="*/ 18921 h 518341"/>
              <a:gd name="connsiteX2" fmla="*/ 259175 w 518353"/>
              <a:gd name="connsiteY2" fmla="*/ 34241 h 518341"/>
              <a:gd name="connsiteX3" fmla="*/ 285892 w 518353"/>
              <a:gd name="connsiteY3" fmla="*/ 19563 h 518341"/>
              <a:gd name="connsiteX4" fmla="*/ 286212 w 518353"/>
              <a:gd name="connsiteY4" fmla="*/ 19061 h 518341"/>
              <a:gd name="connsiteX5" fmla="*/ 334472 w 518353"/>
              <a:gd name="connsiteY5" fmla="*/ 1771 h 518341"/>
              <a:gd name="connsiteX6" fmla="*/ 334651 w 518353"/>
              <a:gd name="connsiteY6" fmla="*/ 1826 h 518341"/>
              <a:gd name="connsiteX7" fmla="*/ 389530 w 518353"/>
              <a:gd name="connsiteY7" fmla="*/ 24806 h 518341"/>
              <a:gd name="connsiteX8" fmla="*/ 390188 w 518353"/>
              <a:gd name="connsiteY8" fmla="*/ 25222 h 518341"/>
              <a:gd name="connsiteX9" fmla="*/ 409990 w 518353"/>
              <a:gd name="connsiteY9" fmla="*/ 70919 h 518341"/>
              <a:gd name="connsiteX10" fmla="*/ 418352 w 518353"/>
              <a:gd name="connsiteY10" fmla="*/ 100001 h 518341"/>
              <a:gd name="connsiteX11" fmla="*/ 447004 w 518353"/>
              <a:gd name="connsiteY11" fmla="*/ 108447 h 518341"/>
              <a:gd name="connsiteX12" fmla="*/ 493820 w 518353"/>
              <a:gd name="connsiteY12" fmla="*/ 129294 h 518341"/>
              <a:gd name="connsiteX13" fmla="*/ 493954 w 518353"/>
              <a:gd name="connsiteY13" fmla="*/ 129541 h 518341"/>
              <a:gd name="connsiteX14" fmla="*/ 516606 w 518353"/>
              <a:gd name="connsiteY14" fmla="*/ 183966 h 518341"/>
              <a:gd name="connsiteX15" fmla="*/ 516695 w 518353"/>
              <a:gd name="connsiteY15" fmla="*/ 184278 h 518341"/>
              <a:gd name="connsiteX16" fmla="*/ 499434 w 518353"/>
              <a:gd name="connsiteY16" fmla="*/ 232044 h 518341"/>
              <a:gd name="connsiteX17" fmla="*/ 484112 w 518353"/>
              <a:gd name="connsiteY17" fmla="*/ 259177 h 518341"/>
              <a:gd name="connsiteX18" fmla="*/ 498790 w 518353"/>
              <a:gd name="connsiteY18" fmla="*/ 285893 h 518341"/>
              <a:gd name="connsiteX19" fmla="*/ 499290 w 518353"/>
              <a:gd name="connsiteY19" fmla="*/ 286214 h 518341"/>
              <a:gd name="connsiteX20" fmla="*/ 516695 w 518353"/>
              <a:gd name="connsiteY20" fmla="*/ 334076 h 518341"/>
              <a:gd name="connsiteX21" fmla="*/ 516526 w 518353"/>
              <a:gd name="connsiteY21" fmla="*/ 334652 h 518341"/>
              <a:gd name="connsiteX22" fmla="*/ 493548 w 518353"/>
              <a:gd name="connsiteY22" fmla="*/ 389531 h 518341"/>
              <a:gd name="connsiteX23" fmla="*/ 493131 w 518353"/>
              <a:gd name="connsiteY23" fmla="*/ 390189 h 518341"/>
              <a:gd name="connsiteX24" fmla="*/ 447433 w 518353"/>
              <a:gd name="connsiteY24" fmla="*/ 409990 h 518341"/>
              <a:gd name="connsiteX25" fmla="*/ 418352 w 518353"/>
              <a:gd name="connsiteY25" fmla="*/ 418353 h 518341"/>
              <a:gd name="connsiteX26" fmla="*/ 417788 w 518353"/>
              <a:gd name="connsiteY26" fmla="*/ 418891 h 518341"/>
              <a:gd name="connsiteX27" fmla="*/ 409907 w 518353"/>
              <a:gd name="connsiteY27" fmla="*/ 447006 h 518341"/>
              <a:gd name="connsiteX28" fmla="*/ 389059 w 518353"/>
              <a:gd name="connsiteY28" fmla="*/ 493821 h 518341"/>
              <a:gd name="connsiteX29" fmla="*/ 388812 w 518353"/>
              <a:gd name="connsiteY29" fmla="*/ 493955 h 518341"/>
              <a:gd name="connsiteX30" fmla="*/ 335360 w 518353"/>
              <a:gd name="connsiteY30" fmla="*/ 516319 h 518341"/>
              <a:gd name="connsiteX31" fmla="*/ 322284 w 518353"/>
              <a:gd name="connsiteY31" fmla="*/ 518341 h 518341"/>
              <a:gd name="connsiteX32" fmla="*/ 286512 w 518353"/>
              <a:gd name="connsiteY32" fmla="*/ 499725 h 518341"/>
              <a:gd name="connsiteX33" fmla="*/ 286374 w 518353"/>
              <a:gd name="connsiteY33" fmla="*/ 499530 h 518341"/>
              <a:gd name="connsiteX34" fmla="*/ 259176 w 518353"/>
              <a:gd name="connsiteY34" fmla="*/ 484113 h 518341"/>
              <a:gd name="connsiteX35" fmla="*/ 232461 w 518353"/>
              <a:gd name="connsiteY35" fmla="*/ 498791 h 518341"/>
              <a:gd name="connsiteX36" fmla="*/ 232139 w 518353"/>
              <a:gd name="connsiteY36" fmla="*/ 499292 h 518341"/>
              <a:gd name="connsiteX37" fmla="*/ 183880 w 518353"/>
              <a:gd name="connsiteY37" fmla="*/ 516582 h 518341"/>
              <a:gd name="connsiteX38" fmla="*/ 183700 w 518353"/>
              <a:gd name="connsiteY38" fmla="*/ 516527 h 518341"/>
              <a:gd name="connsiteX39" fmla="*/ 128822 w 518353"/>
              <a:gd name="connsiteY39" fmla="*/ 493548 h 518341"/>
              <a:gd name="connsiteX40" fmla="*/ 128164 w 518353"/>
              <a:gd name="connsiteY40" fmla="*/ 493131 h 518341"/>
              <a:gd name="connsiteX41" fmla="*/ 108362 w 518353"/>
              <a:gd name="connsiteY41" fmla="*/ 447434 h 518341"/>
              <a:gd name="connsiteX42" fmla="*/ 100000 w 518353"/>
              <a:gd name="connsiteY42" fmla="*/ 418353 h 518341"/>
              <a:gd name="connsiteX43" fmla="*/ 99462 w 518353"/>
              <a:gd name="connsiteY43" fmla="*/ 417789 h 518341"/>
              <a:gd name="connsiteX44" fmla="*/ 70918 w 518353"/>
              <a:gd name="connsiteY44" fmla="*/ 409990 h 518341"/>
              <a:gd name="connsiteX45" fmla="*/ 70636 w 518353"/>
              <a:gd name="connsiteY45" fmla="*/ 410044 h 518341"/>
              <a:gd name="connsiteX46" fmla="*/ 24532 w 518353"/>
              <a:gd name="connsiteY46" fmla="*/ 389059 h 518341"/>
              <a:gd name="connsiteX47" fmla="*/ 24398 w 518353"/>
              <a:gd name="connsiteY47" fmla="*/ 388812 h 518341"/>
              <a:gd name="connsiteX48" fmla="*/ 1745 w 518353"/>
              <a:gd name="connsiteY48" fmla="*/ 334390 h 518341"/>
              <a:gd name="connsiteX49" fmla="*/ 1658 w 518353"/>
              <a:gd name="connsiteY49" fmla="*/ 334077 h 518341"/>
              <a:gd name="connsiteX50" fmla="*/ 18924 w 518353"/>
              <a:gd name="connsiteY50" fmla="*/ 286306 h 518341"/>
              <a:gd name="connsiteX51" fmla="*/ 34240 w 518353"/>
              <a:gd name="connsiteY51" fmla="*/ 259177 h 518341"/>
              <a:gd name="connsiteX52" fmla="*/ 19561 w 518353"/>
              <a:gd name="connsiteY52" fmla="*/ 232461 h 518341"/>
              <a:gd name="connsiteX53" fmla="*/ 19061 w 518353"/>
              <a:gd name="connsiteY53" fmla="*/ 232139 h 518341"/>
              <a:gd name="connsiteX54" fmla="*/ 1771 w 518353"/>
              <a:gd name="connsiteY54" fmla="*/ 183880 h 518341"/>
              <a:gd name="connsiteX55" fmla="*/ 1825 w 518353"/>
              <a:gd name="connsiteY55" fmla="*/ 183702 h 518341"/>
              <a:gd name="connsiteX56" fmla="*/ 24804 w 518353"/>
              <a:gd name="connsiteY56" fmla="*/ 128823 h 518341"/>
              <a:gd name="connsiteX57" fmla="*/ 25221 w 518353"/>
              <a:gd name="connsiteY57" fmla="*/ 128165 h 518341"/>
              <a:gd name="connsiteX58" fmla="*/ 70918 w 518353"/>
              <a:gd name="connsiteY58" fmla="*/ 108363 h 518341"/>
              <a:gd name="connsiteX59" fmla="*/ 99999 w 518353"/>
              <a:gd name="connsiteY59" fmla="*/ 100001 h 518341"/>
              <a:gd name="connsiteX60" fmla="*/ 100563 w 518353"/>
              <a:gd name="connsiteY60" fmla="*/ 99463 h 518341"/>
              <a:gd name="connsiteX61" fmla="*/ 108445 w 518353"/>
              <a:gd name="connsiteY61" fmla="*/ 71350 h 518341"/>
              <a:gd name="connsiteX62" fmla="*/ 129292 w 518353"/>
              <a:gd name="connsiteY62" fmla="*/ 24532 h 518341"/>
              <a:gd name="connsiteX63" fmla="*/ 129539 w 518353"/>
              <a:gd name="connsiteY63" fmla="*/ 24398 h 518341"/>
              <a:gd name="connsiteX64" fmla="*/ 183964 w 518353"/>
              <a:gd name="connsiteY64" fmla="*/ 1745 h 518341"/>
              <a:gd name="connsiteX65" fmla="*/ 184275 w 518353"/>
              <a:gd name="connsiteY65" fmla="*/ 1658 h 518341"/>
              <a:gd name="connsiteX66" fmla="*/ 198110 w 518353"/>
              <a:gd name="connsiteY66" fmla="*/ 29 h 518341"/>
              <a:gd name="connsiteX67" fmla="*/ 325008 w 518353"/>
              <a:gd name="connsiteY67" fmla="*/ 33086 h 518341"/>
              <a:gd name="connsiteX68" fmla="*/ 313542 w 518353"/>
              <a:gd name="connsiteY68" fmla="*/ 37048 h 518341"/>
              <a:gd name="connsiteX69" fmla="*/ 259176 w 518353"/>
              <a:gd name="connsiteY69" fmla="*/ 66954 h 518341"/>
              <a:gd name="connsiteX70" fmla="*/ 205081 w 518353"/>
              <a:gd name="connsiteY70" fmla="*/ 37445 h 518341"/>
              <a:gd name="connsiteX71" fmla="*/ 204921 w 518353"/>
              <a:gd name="connsiteY71" fmla="*/ 37208 h 518341"/>
              <a:gd name="connsiteX72" fmla="*/ 193013 w 518353"/>
              <a:gd name="connsiteY72" fmla="*/ 33185 h 518341"/>
              <a:gd name="connsiteX73" fmla="*/ 145086 w 518353"/>
              <a:gd name="connsiteY73" fmla="*/ 53183 h 518341"/>
              <a:gd name="connsiteX74" fmla="*/ 140182 w 518353"/>
              <a:gd name="connsiteY74" fmla="*/ 63408 h 518341"/>
              <a:gd name="connsiteX75" fmla="*/ 140330 w 518353"/>
              <a:gd name="connsiteY75" fmla="*/ 63951 h 518341"/>
              <a:gd name="connsiteX76" fmla="*/ 140441 w 518353"/>
              <a:gd name="connsiteY76" fmla="*/ 64504 h 518341"/>
              <a:gd name="connsiteX77" fmla="*/ 122861 w 518353"/>
              <a:gd name="connsiteY77" fmla="*/ 123402 h 518341"/>
              <a:gd name="connsiteX78" fmla="*/ 64504 w 518353"/>
              <a:gd name="connsiteY78" fmla="*/ 140441 h 518341"/>
              <a:gd name="connsiteX79" fmla="*/ 52624 w 518353"/>
              <a:gd name="connsiteY79" fmla="*/ 146044 h 518341"/>
              <a:gd name="connsiteX80" fmla="*/ 33086 w 518353"/>
              <a:gd name="connsiteY80" fmla="*/ 193346 h 518341"/>
              <a:gd name="connsiteX81" fmla="*/ 37048 w 518353"/>
              <a:gd name="connsiteY81" fmla="*/ 204811 h 518341"/>
              <a:gd name="connsiteX82" fmla="*/ 66954 w 518353"/>
              <a:gd name="connsiteY82" fmla="*/ 259177 h 518341"/>
              <a:gd name="connsiteX83" fmla="*/ 37445 w 518353"/>
              <a:gd name="connsiteY83" fmla="*/ 313271 h 518341"/>
              <a:gd name="connsiteX84" fmla="*/ 37207 w 518353"/>
              <a:gd name="connsiteY84" fmla="*/ 313433 h 518341"/>
              <a:gd name="connsiteX85" fmla="*/ 33184 w 518353"/>
              <a:gd name="connsiteY85" fmla="*/ 325341 h 518341"/>
              <a:gd name="connsiteX86" fmla="*/ 53181 w 518353"/>
              <a:gd name="connsiteY86" fmla="*/ 373263 h 518341"/>
              <a:gd name="connsiteX87" fmla="*/ 64682 w 518353"/>
              <a:gd name="connsiteY87" fmla="*/ 377877 h 518341"/>
              <a:gd name="connsiteX88" fmla="*/ 123400 w 518353"/>
              <a:gd name="connsiteY88" fmla="*/ 395490 h 518341"/>
              <a:gd name="connsiteX89" fmla="*/ 140441 w 518353"/>
              <a:gd name="connsiteY89" fmla="*/ 453850 h 518341"/>
              <a:gd name="connsiteX90" fmla="*/ 146044 w 518353"/>
              <a:gd name="connsiteY90" fmla="*/ 465730 h 518341"/>
              <a:gd name="connsiteX91" fmla="*/ 193344 w 518353"/>
              <a:gd name="connsiteY91" fmla="*/ 485268 h 518341"/>
              <a:gd name="connsiteX92" fmla="*/ 204812 w 518353"/>
              <a:gd name="connsiteY92" fmla="*/ 481307 h 518341"/>
              <a:gd name="connsiteX93" fmla="*/ 259177 w 518353"/>
              <a:gd name="connsiteY93" fmla="*/ 451401 h 518341"/>
              <a:gd name="connsiteX94" fmla="*/ 313184 w 518353"/>
              <a:gd name="connsiteY94" fmla="*/ 480784 h 518341"/>
              <a:gd name="connsiteX95" fmla="*/ 322284 w 518353"/>
              <a:gd name="connsiteY95" fmla="*/ 485627 h 518341"/>
              <a:gd name="connsiteX96" fmla="*/ 323838 w 518353"/>
              <a:gd name="connsiteY96" fmla="*/ 485611 h 518341"/>
              <a:gd name="connsiteX97" fmla="*/ 325156 w 518353"/>
              <a:gd name="connsiteY97" fmla="*/ 485223 h 518341"/>
              <a:gd name="connsiteX98" fmla="*/ 373265 w 518353"/>
              <a:gd name="connsiteY98" fmla="*/ 465171 h 518341"/>
              <a:gd name="connsiteX99" fmla="*/ 378170 w 518353"/>
              <a:gd name="connsiteY99" fmla="*/ 454945 h 518341"/>
              <a:gd name="connsiteX100" fmla="*/ 378022 w 518353"/>
              <a:gd name="connsiteY100" fmla="*/ 454402 h 518341"/>
              <a:gd name="connsiteX101" fmla="*/ 377911 w 518353"/>
              <a:gd name="connsiteY101" fmla="*/ 453849 h 518341"/>
              <a:gd name="connsiteX102" fmla="*/ 395491 w 518353"/>
              <a:gd name="connsiteY102" fmla="*/ 394951 h 518341"/>
              <a:gd name="connsiteX103" fmla="*/ 453849 w 518353"/>
              <a:gd name="connsiteY103" fmla="*/ 377911 h 518341"/>
              <a:gd name="connsiteX104" fmla="*/ 465729 w 518353"/>
              <a:gd name="connsiteY104" fmla="*/ 372309 h 518341"/>
              <a:gd name="connsiteX105" fmla="*/ 485197 w 518353"/>
              <a:gd name="connsiteY105" fmla="*/ 325232 h 518341"/>
              <a:gd name="connsiteX106" fmla="*/ 481318 w 518353"/>
              <a:gd name="connsiteY106" fmla="*/ 313549 h 518341"/>
              <a:gd name="connsiteX107" fmla="*/ 451399 w 518353"/>
              <a:gd name="connsiteY107" fmla="*/ 259176 h 518341"/>
              <a:gd name="connsiteX108" fmla="*/ 480908 w 518353"/>
              <a:gd name="connsiteY108" fmla="*/ 205081 h 518341"/>
              <a:gd name="connsiteX109" fmla="*/ 481146 w 518353"/>
              <a:gd name="connsiteY109" fmla="*/ 204920 h 518341"/>
              <a:gd name="connsiteX110" fmla="*/ 485168 w 518353"/>
              <a:gd name="connsiteY110" fmla="*/ 193011 h 518341"/>
              <a:gd name="connsiteX111" fmla="*/ 465170 w 518353"/>
              <a:gd name="connsiteY111" fmla="*/ 145086 h 518341"/>
              <a:gd name="connsiteX112" fmla="*/ 454945 w 518353"/>
              <a:gd name="connsiteY112" fmla="*/ 140181 h 518341"/>
              <a:gd name="connsiteX113" fmla="*/ 454402 w 518353"/>
              <a:gd name="connsiteY113" fmla="*/ 140329 h 518341"/>
              <a:gd name="connsiteX114" fmla="*/ 453849 w 518353"/>
              <a:gd name="connsiteY114" fmla="*/ 140440 h 518341"/>
              <a:gd name="connsiteX115" fmla="*/ 395220 w 518353"/>
              <a:gd name="connsiteY115" fmla="*/ 123132 h 518341"/>
              <a:gd name="connsiteX116" fmla="*/ 377912 w 518353"/>
              <a:gd name="connsiteY116" fmla="*/ 64503 h 518341"/>
              <a:gd name="connsiteX117" fmla="*/ 372309 w 518353"/>
              <a:gd name="connsiteY117" fmla="*/ 52623 h 518341"/>
              <a:gd name="connsiteX118" fmla="*/ 325008 w 518353"/>
              <a:gd name="connsiteY118" fmla="*/ 33086 h 51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518353" h="518341">
                <a:moveTo>
                  <a:pt x="198110" y="29"/>
                </a:moveTo>
                <a:cubicBezTo>
                  <a:pt x="211708" y="526"/>
                  <a:pt x="224204" y="7254"/>
                  <a:pt x="232045" y="18921"/>
                </a:cubicBezTo>
                <a:cubicBezTo>
                  <a:pt x="239117" y="29086"/>
                  <a:pt x="248245" y="34241"/>
                  <a:pt x="259175" y="34241"/>
                </a:cubicBezTo>
                <a:cubicBezTo>
                  <a:pt x="270413" y="34241"/>
                  <a:pt x="280151" y="28891"/>
                  <a:pt x="285892" y="19563"/>
                </a:cubicBezTo>
                <a:lnTo>
                  <a:pt x="286212" y="19061"/>
                </a:lnTo>
                <a:cubicBezTo>
                  <a:pt x="296439" y="3722"/>
                  <a:pt x="316735" y="-3548"/>
                  <a:pt x="334472" y="1771"/>
                </a:cubicBezTo>
                <a:lnTo>
                  <a:pt x="334651" y="1826"/>
                </a:lnTo>
                <a:cubicBezTo>
                  <a:pt x="351763" y="7174"/>
                  <a:pt x="371666" y="14086"/>
                  <a:pt x="389530" y="24806"/>
                </a:cubicBezTo>
                <a:lnTo>
                  <a:pt x="390188" y="25222"/>
                </a:lnTo>
                <a:cubicBezTo>
                  <a:pt x="405461" y="35405"/>
                  <a:pt x="413419" y="53769"/>
                  <a:pt x="409990" y="70919"/>
                </a:cubicBezTo>
                <a:cubicBezTo>
                  <a:pt x="407762" y="82053"/>
                  <a:pt x="410732" y="92380"/>
                  <a:pt x="418352" y="100001"/>
                </a:cubicBezTo>
                <a:cubicBezTo>
                  <a:pt x="425873" y="107522"/>
                  <a:pt x="436032" y="110514"/>
                  <a:pt x="447004" y="108447"/>
                </a:cubicBezTo>
                <a:cubicBezTo>
                  <a:pt x="464938" y="103894"/>
                  <a:pt x="484535" y="112582"/>
                  <a:pt x="493820" y="129294"/>
                </a:cubicBezTo>
                <a:lnTo>
                  <a:pt x="493954" y="129541"/>
                </a:lnTo>
                <a:cubicBezTo>
                  <a:pt x="503923" y="148233"/>
                  <a:pt x="511333" y="166036"/>
                  <a:pt x="516606" y="183966"/>
                </a:cubicBezTo>
                <a:lnTo>
                  <a:pt x="516695" y="184278"/>
                </a:lnTo>
                <a:cubicBezTo>
                  <a:pt x="521762" y="202860"/>
                  <a:pt x="514988" y="221589"/>
                  <a:pt x="499434" y="232044"/>
                </a:cubicBezTo>
                <a:cubicBezTo>
                  <a:pt x="489267" y="239117"/>
                  <a:pt x="484112" y="248244"/>
                  <a:pt x="484112" y="259177"/>
                </a:cubicBezTo>
                <a:cubicBezTo>
                  <a:pt x="484112" y="270415"/>
                  <a:pt x="489463" y="280152"/>
                  <a:pt x="498790" y="285893"/>
                </a:cubicBezTo>
                <a:lnTo>
                  <a:pt x="499290" y="286214"/>
                </a:lnTo>
                <a:cubicBezTo>
                  <a:pt x="514946" y="296649"/>
                  <a:pt x="521777" y="315436"/>
                  <a:pt x="516695" y="334076"/>
                </a:cubicBezTo>
                <a:lnTo>
                  <a:pt x="516526" y="334652"/>
                </a:lnTo>
                <a:cubicBezTo>
                  <a:pt x="511178" y="351764"/>
                  <a:pt x="504267" y="371665"/>
                  <a:pt x="493548" y="389531"/>
                </a:cubicBezTo>
                <a:lnTo>
                  <a:pt x="493131" y="390189"/>
                </a:lnTo>
                <a:cubicBezTo>
                  <a:pt x="482948" y="405463"/>
                  <a:pt x="464583" y="413419"/>
                  <a:pt x="447433" y="409990"/>
                </a:cubicBezTo>
                <a:cubicBezTo>
                  <a:pt x="436302" y="407765"/>
                  <a:pt x="425972" y="410733"/>
                  <a:pt x="418352" y="418353"/>
                </a:cubicBezTo>
                <a:lnTo>
                  <a:pt x="417788" y="418891"/>
                </a:lnTo>
                <a:cubicBezTo>
                  <a:pt x="410828" y="425217"/>
                  <a:pt x="407826" y="435959"/>
                  <a:pt x="409907" y="447006"/>
                </a:cubicBezTo>
                <a:cubicBezTo>
                  <a:pt x="414455" y="464940"/>
                  <a:pt x="405770" y="484537"/>
                  <a:pt x="389059" y="493821"/>
                </a:cubicBezTo>
                <a:lnTo>
                  <a:pt x="388812" y="493955"/>
                </a:lnTo>
                <a:cubicBezTo>
                  <a:pt x="370458" y="503743"/>
                  <a:pt x="352961" y="511064"/>
                  <a:pt x="335360" y="516319"/>
                </a:cubicBezTo>
                <a:cubicBezTo>
                  <a:pt x="330296" y="518341"/>
                  <a:pt x="325173" y="518341"/>
                  <a:pt x="322284" y="518341"/>
                </a:cubicBezTo>
                <a:cubicBezTo>
                  <a:pt x="308211" y="518341"/>
                  <a:pt x="294837" y="511381"/>
                  <a:pt x="286512" y="499725"/>
                </a:cubicBezTo>
                <a:lnTo>
                  <a:pt x="286374" y="499530"/>
                </a:lnTo>
                <a:cubicBezTo>
                  <a:pt x="279292" y="489299"/>
                  <a:pt x="270142" y="484113"/>
                  <a:pt x="259176" y="484113"/>
                </a:cubicBezTo>
                <a:cubicBezTo>
                  <a:pt x="247938" y="484113"/>
                  <a:pt x="238201" y="489463"/>
                  <a:pt x="232461" y="498791"/>
                </a:cubicBezTo>
                <a:lnTo>
                  <a:pt x="232139" y="499292"/>
                </a:lnTo>
                <a:cubicBezTo>
                  <a:pt x="221913" y="514631"/>
                  <a:pt x="201617" y="521901"/>
                  <a:pt x="183880" y="516582"/>
                </a:cubicBezTo>
                <a:lnTo>
                  <a:pt x="183700" y="516527"/>
                </a:lnTo>
                <a:cubicBezTo>
                  <a:pt x="166589" y="511179"/>
                  <a:pt x="146688" y="504268"/>
                  <a:pt x="128822" y="493548"/>
                </a:cubicBezTo>
                <a:lnTo>
                  <a:pt x="128164" y="493131"/>
                </a:lnTo>
                <a:cubicBezTo>
                  <a:pt x="112890" y="482950"/>
                  <a:pt x="104932" y="464585"/>
                  <a:pt x="108362" y="447434"/>
                </a:cubicBezTo>
                <a:cubicBezTo>
                  <a:pt x="110590" y="436300"/>
                  <a:pt x="107619" y="425973"/>
                  <a:pt x="100000" y="418353"/>
                </a:cubicBezTo>
                <a:lnTo>
                  <a:pt x="99462" y="417789"/>
                </a:lnTo>
                <a:cubicBezTo>
                  <a:pt x="93053" y="410738"/>
                  <a:pt x="82116" y="407751"/>
                  <a:pt x="70918" y="409990"/>
                </a:cubicBezTo>
                <a:lnTo>
                  <a:pt x="70636" y="410044"/>
                </a:lnTo>
                <a:cubicBezTo>
                  <a:pt x="51924" y="413443"/>
                  <a:pt x="33396" y="405013"/>
                  <a:pt x="24532" y="389059"/>
                </a:cubicBezTo>
                <a:lnTo>
                  <a:pt x="24398" y="388812"/>
                </a:lnTo>
                <a:cubicBezTo>
                  <a:pt x="14430" y="370122"/>
                  <a:pt x="7020" y="352319"/>
                  <a:pt x="1745" y="334390"/>
                </a:cubicBezTo>
                <a:lnTo>
                  <a:pt x="1658" y="334077"/>
                </a:lnTo>
                <a:cubicBezTo>
                  <a:pt x="-3411" y="315493"/>
                  <a:pt x="3365" y="296761"/>
                  <a:pt x="18924" y="286306"/>
                </a:cubicBezTo>
                <a:cubicBezTo>
                  <a:pt x="29087" y="279233"/>
                  <a:pt x="34240" y="270106"/>
                  <a:pt x="34240" y="259177"/>
                </a:cubicBezTo>
                <a:cubicBezTo>
                  <a:pt x="34240" y="247939"/>
                  <a:pt x="28890" y="238201"/>
                  <a:pt x="19561" y="232461"/>
                </a:cubicBezTo>
                <a:lnTo>
                  <a:pt x="19061" y="232139"/>
                </a:lnTo>
                <a:cubicBezTo>
                  <a:pt x="3721" y="221913"/>
                  <a:pt x="-3551" y="201618"/>
                  <a:pt x="1771" y="183880"/>
                </a:cubicBezTo>
                <a:lnTo>
                  <a:pt x="1825" y="183702"/>
                </a:lnTo>
                <a:cubicBezTo>
                  <a:pt x="7172" y="166591"/>
                  <a:pt x="14084" y="146690"/>
                  <a:pt x="24804" y="128823"/>
                </a:cubicBezTo>
                <a:lnTo>
                  <a:pt x="25221" y="128165"/>
                </a:lnTo>
                <a:cubicBezTo>
                  <a:pt x="35404" y="112890"/>
                  <a:pt x="53771" y="104932"/>
                  <a:pt x="70918" y="108363"/>
                </a:cubicBezTo>
                <a:cubicBezTo>
                  <a:pt x="82051" y="110589"/>
                  <a:pt x="92380" y="107619"/>
                  <a:pt x="99999" y="100001"/>
                </a:cubicBezTo>
                <a:lnTo>
                  <a:pt x="100563" y="99463"/>
                </a:lnTo>
                <a:cubicBezTo>
                  <a:pt x="107523" y="93136"/>
                  <a:pt x="110525" y="82396"/>
                  <a:pt x="108445" y="71350"/>
                </a:cubicBezTo>
                <a:cubicBezTo>
                  <a:pt x="103893" y="53415"/>
                  <a:pt x="112581" y="33817"/>
                  <a:pt x="129292" y="24532"/>
                </a:cubicBezTo>
                <a:lnTo>
                  <a:pt x="129539" y="24398"/>
                </a:lnTo>
                <a:cubicBezTo>
                  <a:pt x="148232" y="14429"/>
                  <a:pt x="166033" y="7019"/>
                  <a:pt x="183964" y="1745"/>
                </a:cubicBezTo>
                <a:lnTo>
                  <a:pt x="184275" y="1658"/>
                </a:lnTo>
                <a:cubicBezTo>
                  <a:pt x="188921" y="390"/>
                  <a:pt x="193576" y="-137"/>
                  <a:pt x="198110" y="29"/>
                </a:cubicBezTo>
                <a:close/>
                <a:moveTo>
                  <a:pt x="325008" y="33086"/>
                </a:moveTo>
                <a:cubicBezTo>
                  <a:pt x="321056" y="31936"/>
                  <a:pt x="315874" y="33737"/>
                  <a:pt x="313542" y="37048"/>
                </a:cubicBezTo>
                <a:cubicBezTo>
                  <a:pt x="301853" y="55781"/>
                  <a:pt x="281559" y="66954"/>
                  <a:pt x="259176" y="66954"/>
                </a:cubicBezTo>
                <a:cubicBezTo>
                  <a:pt x="237466" y="66954"/>
                  <a:pt x="218255" y="56474"/>
                  <a:pt x="205081" y="37445"/>
                </a:cubicBezTo>
                <a:lnTo>
                  <a:pt x="204921" y="37208"/>
                </a:lnTo>
                <a:cubicBezTo>
                  <a:pt x="202412" y="33446"/>
                  <a:pt x="197859" y="31910"/>
                  <a:pt x="193013" y="33185"/>
                </a:cubicBezTo>
                <a:cubicBezTo>
                  <a:pt x="177352" y="37806"/>
                  <a:pt x="161671" y="44349"/>
                  <a:pt x="145086" y="53183"/>
                </a:cubicBezTo>
                <a:cubicBezTo>
                  <a:pt x="141798" y="55063"/>
                  <a:pt x="139081" y="59369"/>
                  <a:pt x="140182" y="63408"/>
                </a:cubicBezTo>
                <a:lnTo>
                  <a:pt x="140330" y="63951"/>
                </a:lnTo>
                <a:lnTo>
                  <a:pt x="140441" y="64504"/>
                </a:lnTo>
                <a:cubicBezTo>
                  <a:pt x="144892" y="86764"/>
                  <a:pt x="138159" y="109290"/>
                  <a:pt x="122861" y="123402"/>
                </a:cubicBezTo>
                <a:cubicBezTo>
                  <a:pt x="107505" y="138583"/>
                  <a:pt x="86258" y="144791"/>
                  <a:pt x="64504" y="140441"/>
                </a:cubicBezTo>
                <a:cubicBezTo>
                  <a:pt x="60493" y="139641"/>
                  <a:pt x="55442" y="142038"/>
                  <a:pt x="52624" y="146044"/>
                </a:cubicBezTo>
                <a:cubicBezTo>
                  <a:pt x="43822" y="160840"/>
                  <a:pt x="37810" y="178237"/>
                  <a:pt x="33086" y="193346"/>
                </a:cubicBezTo>
                <a:cubicBezTo>
                  <a:pt x="31937" y="197298"/>
                  <a:pt x="33738" y="202480"/>
                  <a:pt x="37048" y="204811"/>
                </a:cubicBezTo>
                <a:cubicBezTo>
                  <a:pt x="55784" y="216500"/>
                  <a:pt x="66954" y="236792"/>
                  <a:pt x="66954" y="259177"/>
                </a:cubicBezTo>
                <a:cubicBezTo>
                  <a:pt x="66954" y="280886"/>
                  <a:pt x="56475" y="300097"/>
                  <a:pt x="37445" y="313271"/>
                </a:cubicBezTo>
                <a:lnTo>
                  <a:pt x="37207" y="313433"/>
                </a:lnTo>
                <a:cubicBezTo>
                  <a:pt x="33445" y="315941"/>
                  <a:pt x="31911" y="320493"/>
                  <a:pt x="33184" y="325341"/>
                </a:cubicBezTo>
                <a:cubicBezTo>
                  <a:pt x="37806" y="341002"/>
                  <a:pt x="44347" y="356680"/>
                  <a:pt x="53181" y="373263"/>
                </a:cubicBezTo>
                <a:cubicBezTo>
                  <a:pt x="55188" y="376761"/>
                  <a:pt x="59990" y="378691"/>
                  <a:pt x="64682" y="377877"/>
                </a:cubicBezTo>
                <a:cubicBezTo>
                  <a:pt x="86882" y="373499"/>
                  <a:pt x="109325" y="380234"/>
                  <a:pt x="123400" y="395490"/>
                </a:cubicBezTo>
                <a:cubicBezTo>
                  <a:pt x="138583" y="410846"/>
                  <a:pt x="144793" y="432094"/>
                  <a:pt x="140441" y="453850"/>
                </a:cubicBezTo>
                <a:cubicBezTo>
                  <a:pt x="139639" y="457862"/>
                  <a:pt x="142038" y="462913"/>
                  <a:pt x="146044" y="465730"/>
                </a:cubicBezTo>
                <a:cubicBezTo>
                  <a:pt x="160839" y="474531"/>
                  <a:pt x="178235" y="480543"/>
                  <a:pt x="193344" y="485268"/>
                </a:cubicBezTo>
                <a:cubicBezTo>
                  <a:pt x="197296" y="486418"/>
                  <a:pt x="202479" y="484618"/>
                  <a:pt x="204812" y="481307"/>
                </a:cubicBezTo>
                <a:cubicBezTo>
                  <a:pt x="216500" y="462572"/>
                  <a:pt x="236792" y="451401"/>
                  <a:pt x="259177" y="451401"/>
                </a:cubicBezTo>
                <a:cubicBezTo>
                  <a:pt x="280838" y="451399"/>
                  <a:pt x="300012" y="461833"/>
                  <a:pt x="313184" y="480784"/>
                </a:cubicBezTo>
                <a:cubicBezTo>
                  <a:pt x="315354" y="483774"/>
                  <a:pt x="318833" y="485627"/>
                  <a:pt x="322284" y="485627"/>
                </a:cubicBezTo>
                <a:cubicBezTo>
                  <a:pt x="322717" y="485627"/>
                  <a:pt x="323339" y="485627"/>
                  <a:pt x="323838" y="485611"/>
                </a:cubicBezTo>
                <a:lnTo>
                  <a:pt x="325156" y="485223"/>
                </a:lnTo>
                <a:cubicBezTo>
                  <a:pt x="340878" y="480599"/>
                  <a:pt x="356617" y="474039"/>
                  <a:pt x="373265" y="465171"/>
                </a:cubicBezTo>
                <a:cubicBezTo>
                  <a:pt x="376554" y="463292"/>
                  <a:pt x="379271" y="458984"/>
                  <a:pt x="378170" y="454945"/>
                </a:cubicBezTo>
                <a:lnTo>
                  <a:pt x="378022" y="454402"/>
                </a:lnTo>
                <a:lnTo>
                  <a:pt x="377911" y="453849"/>
                </a:lnTo>
                <a:cubicBezTo>
                  <a:pt x="373459" y="431591"/>
                  <a:pt x="380194" y="409065"/>
                  <a:pt x="395491" y="394951"/>
                </a:cubicBezTo>
                <a:cubicBezTo>
                  <a:pt x="410847" y="379769"/>
                  <a:pt x="432097" y="373563"/>
                  <a:pt x="453849" y="377911"/>
                </a:cubicBezTo>
                <a:cubicBezTo>
                  <a:pt x="457858" y="378713"/>
                  <a:pt x="462911" y="376316"/>
                  <a:pt x="465729" y="372309"/>
                </a:cubicBezTo>
                <a:cubicBezTo>
                  <a:pt x="474486" y="357585"/>
                  <a:pt x="480483" y="340289"/>
                  <a:pt x="485197" y="325232"/>
                </a:cubicBezTo>
                <a:cubicBezTo>
                  <a:pt x="486399" y="320500"/>
                  <a:pt x="484926" y="316061"/>
                  <a:pt x="481318" y="313549"/>
                </a:cubicBezTo>
                <a:cubicBezTo>
                  <a:pt x="462575" y="301861"/>
                  <a:pt x="451399" y="281564"/>
                  <a:pt x="451399" y="259176"/>
                </a:cubicBezTo>
                <a:cubicBezTo>
                  <a:pt x="451399" y="237466"/>
                  <a:pt x="461879" y="218255"/>
                  <a:pt x="480908" y="205081"/>
                </a:cubicBezTo>
                <a:lnTo>
                  <a:pt x="481146" y="204920"/>
                </a:lnTo>
                <a:cubicBezTo>
                  <a:pt x="484908" y="202411"/>
                  <a:pt x="486443" y="197858"/>
                  <a:pt x="485168" y="193011"/>
                </a:cubicBezTo>
                <a:cubicBezTo>
                  <a:pt x="480548" y="177351"/>
                  <a:pt x="474004" y="161669"/>
                  <a:pt x="465170" y="145086"/>
                </a:cubicBezTo>
                <a:cubicBezTo>
                  <a:pt x="463291" y="141797"/>
                  <a:pt x="458982" y="139081"/>
                  <a:pt x="454945" y="140181"/>
                </a:cubicBezTo>
                <a:lnTo>
                  <a:pt x="454402" y="140329"/>
                </a:lnTo>
                <a:lnTo>
                  <a:pt x="453849" y="140440"/>
                </a:lnTo>
                <a:cubicBezTo>
                  <a:pt x="431962" y="144816"/>
                  <a:pt x="410595" y="138507"/>
                  <a:pt x="395220" y="123132"/>
                </a:cubicBezTo>
                <a:cubicBezTo>
                  <a:pt x="379844" y="107755"/>
                  <a:pt x="373535" y="86385"/>
                  <a:pt x="377912" y="64503"/>
                </a:cubicBezTo>
                <a:cubicBezTo>
                  <a:pt x="378714" y="60492"/>
                  <a:pt x="376315" y="55441"/>
                  <a:pt x="372309" y="52623"/>
                </a:cubicBezTo>
                <a:cubicBezTo>
                  <a:pt x="357515" y="43823"/>
                  <a:pt x="340117" y="37811"/>
                  <a:pt x="325008" y="330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400"/>
          </a:p>
        </p:txBody>
      </p:sp>
      <p:sp>
        <p:nvSpPr>
          <p:cNvPr id="15" name="任意形状 14"/>
          <p:cNvSpPr/>
          <p:nvPr/>
        </p:nvSpPr>
        <p:spPr>
          <a:xfrm>
            <a:off x="5976857" y="2827505"/>
            <a:ext cx="238291" cy="238291"/>
          </a:xfrm>
          <a:custGeom>
            <a:avLst/>
            <a:gdLst>
              <a:gd name="connsiteX0" fmla="*/ 119145 w 238291"/>
              <a:gd name="connsiteY0" fmla="*/ 0 h 238291"/>
              <a:gd name="connsiteX1" fmla="*/ 238291 w 238291"/>
              <a:gd name="connsiteY1" fmla="*/ 119146 h 238291"/>
              <a:gd name="connsiteX2" fmla="*/ 119145 w 238291"/>
              <a:gd name="connsiteY2" fmla="*/ 238291 h 238291"/>
              <a:gd name="connsiteX3" fmla="*/ 0 w 238291"/>
              <a:gd name="connsiteY3" fmla="*/ 119146 h 238291"/>
              <a:gd name="connsiteX4" fmla="*/ 119145 w 238291"/>
              <a:gd name="connsiteY4" fmla="*/ 0 h 238291"/>
              <a:gd name="connsiteX5" fmla="*/ 119145 w 238291"/>
              <a:gd name="connsiteY5" fmla="*/ 32714 h 238291"/>
              <a:gd name="connsiteX6" fmla="*/ 32713 w 238291"/>
              <a:gd name="connsiteY6" fmla="*/ 119146 h 238291"/>
              <a:gd name="connsiteX7" fmla="*/ 119145 w 238291"/>
              <a:gd name="connsiteY7" fmla="*/ 205578 h 238291"/>
              <a:gd name="connsiteX8" fmla="*/ 205577 w 238291"/>
              <a:gd name="connsiteY8" fmla="*/ 119146 h 238291"/>
              <a:gd name="connsiteX9" fmla="*/ 119145 w 238291"/>
              <a:gd name="connsiteY9" fmla="*/ 32714 h 2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91" h="238291">
                <a:moveTo>
                  <a:pt x="119145" y="0"/>
                </a:moveTo>
                <a:cubicBezTo>
                  <a:pt x="184842" y="0"/>
                  <a:pt x="238291" y="53449"/>
                  <a:pt x="238291" y="119146"/>
                </a:cubicBezTo>
                <a:cubicBezTo>
                  <a:pt x="238291" y="184843"/>
                  <a:pt x="184842" y="238291"/>
                  <a:pt x="119145" y="238291"/>
                </a:cubicBezTo>
                <a:cubicBezTo>
                  <a:pt x="53448" y="238291"/>
                  <a:pt x="0" y="184843"/>
                  <a:pt x="0" y="119146"/>
                </a:cubicBezTo>
                <a:cubicBezTo>
                  <a:pt x="0" y="53449"/>
                  <a:pt x="53448" y="0"/>
                  <a:pt x="119145" y="0"/>
                </a:cubicBezTo>
                <a:close/>
                <a:moveTo>
                  <a:pt x="119145" y="32714"/>
                </a:moveTo>
                <a:cubicBezTo>
                  <a:pt x="71486" y="32714"/>
                  <a:pt x="32713" y="71487"/>
                  <a:pt x="32713" y="119146"/>
                </a:cubicBezTo>
                <a:cubicBezTo>
                  <a:pt x="32713" y="166805"/>
                  <a:pt x="71486" y="205578"/>
                  <a:pt x="119145" y="205578"/>
                </a:cubicBezTo>
                <a:cubicBezTo>
                  <a:pt x="166804" y="205578"/>
                  <a:pt x="205577" y="166805"/>
                  <a:pt x="205577" y="119146"/>
                </a:cubicBezTo>
                <a:cubicBezTo>
                  <a:pt x="205577" y="71487"/>
                  <a:pt x="166804" y="32714"/>
                  <a:pt x="119145" y="3271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400"/>
          </a:p>
        </p:txBody>
      </p:sp>
      <p:sp>
        <p:nvSpPr>
          <p:cNvPr id="4" name="任意形状 265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2304222" y="2762579"/>
            <a:ext cx="405311" cy="440459"/>
          </a:xfrm>
          <a:custGeom>
            <a:avLst/>
            <a:gdLst>
              <a:gd name="connsiteX0" fmla="*/ 953606 w 1322678"/>
              <a:gd name="connsiteY0" fmla="*/ 983697 h 1437379"/>
              <a:gd name="connsiteX1" fmla="*/ 989612 w 1322678"/>
              <a:gd name="connsiteY1" fmla="*/ 1019702 h 1437379"/>
              <a:gd name="connsiteX2" fmla="*/ 989612 w 1322678"/>
              <a:gd name="connsiteY2" fmla="*/ 1158330 h 1437379"/>
              <a:gd name="connsiteX3" fmla="*/ 1092234 w 1322678"/>
              <a:gd name="connsiteY3" fmla="*/ 1158330 h 1437379"/>
              <a:gd name="connsiteX4" fmla="*/ 1128239 w 1322678"/>
              <a:gd name="connsiteY4" fmla="*/ 1194335 h 1437379"/>
              <a:gd name="connsiteX5" fmla="*/ 1092234 w 1322678"/>
              <a:gd name="connsiteY5" fmla="*/ 1230341 h 1437379"/>
              <a:gd name="connsiteX6" fmla="*/ 953606 w 1322678"/>
              <a:gd name="connsiteY6" fmla="*/ 1230341 h 1437379"/>
              <a:gd name="connsiteX7" fmla="*/ 917601 w 1322678"/>
              <a:gd name="connsiteY7" fmla="*/ 1194335 h 1437379"/>
              <a:gd name="connsiteX8" fmla="*/ 917601 w 1322678"/>
              <a:gd name="connsiteY8" fmla="*/ 1019702 h 1437379"/>
              <a:gd name="connsiteX9" fmla="*/ 953606 w 1322678"/>
              <a:gd name="connsiteY9" fmla="*/ 983697 h 1437379"/>
              <a:gd name="connsiteX10" fmla="*/ 1004019 w 1322678"/>
              <a:gd name="connsiteY10" fmla="*/ 879273 h 1437379"/>
              <a:gd name="connsiteX11" fmla="*/ 764573 w 1322678"/>
              <a:gd name="connsiteY11" fmla="*/ 1118719 h 1437379"/>
              <a:gd name="connsiteX12" fmla="*/ 1004019 w 1322678"/>
              <a:gd name="connsiteY12" fmla="*/ 1358165 h 1437379"/>
              <a:gd name="connsiteX13" fmla="*/ 1243464 w 1322678"/>
              <a:gd name="connsiteY13" fmla="*/ 1118719 h 1437379"/>
              <a:gd name="connsiteX14" fmla="*/ 1004019 w 1322678"/>
              <a:gd name="connsiteY14" fmla="*/ 879273 h 1437379"/>
              <a:gd name="connsiteX15" fmla="*/ 1004019 w 1322678"/>
              <a:gd name="connsiteY15" fmla="*/ 800059 h 1437379"/>
              <a:gd name="connsiteX16" fmla="*/ 1322678 w 1322678"/>
              <a:gd name="connsiteY16" fmla="*/ 1118719 h 1437379"/>
              <a:gd name="connsiteX17" fmla="*/ 1004019 w 1322678"/>
              <a:gd name="connsiteY17" fmla="*/ 1437379 h 1437379"/>
              <a:gd name="connsiteX18" fmla="*/ 685359 w 1322678"/>
              <a:gd name="connsiteY18" fmla="*/ 1118719 h 1437379"/>
              <a:gd name="connsiteX19" fmla="*/ 1004019 w 1322678"/>
              <a:gd name="connsiteY19" fmla="*/ 800059 h 1437379"/>
              <a:gd name="connsiteX20" fmla="*/ 453526 w 1322678"/>
              <a:gd name="connsiteY20" fmla="*/ 694903 h 1437379"/>
              <a:gd name="connsiteX21" fmla="*/ 519360 w 1322678"/>
              <a:gd name="connsiteY21" fmla="*/ 694903 h 1437379"/>
              <a:gd name="connsiteX22" fmla="*/ 529019 w 1322678"/>
              <a:gd name="connsiteY22" fmla="*/ 713776 h 1437379"/>
              <a:gd name="connsiteX23" fmla="*/ 359304 w 1322678"/>
              <a:gd name="connsiteY23" fmla="*/ 948582 h 1437379"/>
              <a:gd name="connsiteX24" fmla="*/ 340134 w 1322678"/>
              <a:gd name="connsiteY24" fmla="*/ 948582 h 1437379"/>
              <a:gd name="connsiteX25" fmla="*/ 230458 w 1322678"/>
              <a:gd name="connsiteY25" fmla="*/ 796850 h 1437379"/>
              <a:gd name="connsiteX26" fmla="*/ 240117 w 1322678"/>
              <a:gd name="connsiteY26" fmla="*/ 777977 h 1437379"/>
              <a:gd name="connsiteX27" fmla="*/ 305804 w 1322678"/>
              <a:gd name="connsiteY27" fmla="*/ 777977 h 1437379"/>
              <a:gd name="connsiteX28" fmla="*/ 315463 w 1322678"/>
              <a:gd name="connsiteY28" fmla="*/ 782881 h 1437379"/>
              <a:gd name="connsiteX29" fmla="*/ 349499 w 1322678"/>
              <a:gd name="connsiteY29" fmla="*/ 830288 h 1437379"/>
              <a:gd name="connsiteX30" fmla="*/ 443867 w 1322678"/>
              <a:gd name="connsiteY30" fmla="*/ 699807 h 1437379"/>
              <a:gd name="connsiteX31" fmla="*/ 453526 w 1322678"/>
              <a:gd name="connsiteY31" fmla="*/ 694903 h 1437379"/>
              <a:gd name="connsiteX32" fmla="*/ 663572 w 1322678"/>
              <a:gd name="connsiteY32" fmla="*/ 368997 h 1437379"/>
              <a:gd name="connsiteX33" fmla="*/ 1022620 w 1322678"/>
              <a:gd name="connsiteY33" fmla="*/ 368997 h 1437379"/>
              <a:gd name="connsiteX34" fmla="*/ 1022620 w 1322678"/>
              <a:gd name="connsiteY34" fmla="*/ 458294 h 1437379"/>
              <a:gd name="connsiteX35" fmla="*/ 663572 w 1322678"/>
              <a:gd name="connsiteY35" fmla="*/ 458294 h 1437379"/>
              <a:gd name="connsiteX36" fmla="*/ 453526 w 1322678"/>
              <a:gd name="connsiteY36" fmla="*/ 293067 h 1437379"/>
              <a:gd name="connsiteX37" fmla="*/ 519360 w 1322678"/>
              <a:gd name="connsiteY37" fmla="*/ 293067 h 1437379"/>
              <a:gd name="connsiteX38" fmla="*/ 529019 w 1322678"/>
              <a:gd name="connsiteY38" fmla="*/ 311940 h 1437379"/>
              <a:gd name="connsiteX39" fmla="*/ 359304 w 1322678"/>
              <a:gd name="connsiteY39" fmla="*/ 546746 h 1437379"/>
              <a:gd name="connsiteX40" fmla="*/ 340134 w 1322678"/>
              <a:gd name="connsiteY40" fmla="*/ 546746 h 1437379"/>
              <a:gd name="connsiteX41" fmla="*/ 230458 w 1322678"/>
              <a:gd name="connsiteY41" fmla="*/ 395014 h 1437379"/>
              <a:gd name="connsiteX42" fmla="*/ 240117 w 1322678"/>
              <a:gd name="connsiteY42" fmla="*/ 376141 h 1437379"/>
              <a:gd name="connsiteX43" fmla="*/ 305804 w 1322678"/>
              <a:gd name="connsiteY43" fmla="*/ 376141 h 1437379"/>
              <a:gd name="connsiteX44" fmla="*/ 315463 w 1322678"/>
              <a:gd name="connsiteY44" fmla="*/ 381045 h 1437379"/>
              <a:gd name="connsiteX45" fmla="*/ 349499 w 1322678"/>
              <a:gd name="connsiteY45" fmla="*/ 428452 h 1437379"/>
              <a:gd name="connsiteX46" fmla="*/ 443867 w 1322678"/>
              <a:gd name="connsiteY46" fmla="*/ 297971 h 1437379"/>
              <a:gd name="connsiteX47" fmla="*/ 453526 w 1322678"/>
              <a:gd name="connsiteY47" fmla="*/ 293067 h 1437379"/>
              <a:gd name="connsiteX48" fmla="*/ 164003 w 1322678"/>
              <a:gd name="connsiteY48" fmla="*/ 0 h 1437379"/>
              <a:gd name="connsiteX49" fmla="*/ 1058246 w 1322678"/>
              <a:gd name="connsiteY49" fmla="*/ 0 h 1437379"/>
              <a:gd name="connsiteX50" fmla="*/ 1222249 w 1322678"/>
              <a:gd name="connsiteY50" fmla="*/ 164003 h 1437379"/>
              <a:gd name="connsiteX51" fmla="*/ 1222249 w 1322678"/>
              <a:gd name="connsiteY51" fmla="*/ 587871 h 1437379"/>
              <a:gd name="connsiteX52" fmla="*/ 1177601 w 1322678"/>
              <a:gd name="connsiteY52" fmla="*/ 632520 h 1437379"/>
              <a:gd name="connsiteX53" fmla="*/ 1132952 w 1322678"/>
              <a:gd name="connsiteY53" fmla="*/ 587871 h 1437379"/>
              <a:gd name="connsiteX54" fmla="*/ 1132952 w 1322678"/>
              <a:gd name="connsiteY54" fmla="*/ 164003 h 1437379"/>
              <a:gd name="connsiteX55" fmla="*/ 1058246 w 1322678"/>
              <a:gd name="connsiteY55" fmla="*/ 89297 h 1437379"/>
              <a:gd name="connsiteX56" fmla="*/ 164003 w 1322678"/>
              <a:gd name="connsiteY56" fmla="*/ 89297 h 1437379"/>
              <a:gd name="connsiteX57" fmla="*/ 89297 w 1322678"/>
              <a:gd name="connsiteY57" fmla="*/ 164003 h 1437379"/>
              <a:gd name="connsiteX58" fmla="*/ 89297 w 1322678"/>
              <a:gd name="connsiteY58" fmla="*/ 1234980 h 1437379"/>
              <a:gd name="connsiteX59" fmla="*/ 164003 w 1322678"/>
              <a:gd name="connsiteY59" fmla="*/ 1309686 h 1437379"/>
              <a:gd name="connsiteX60" fmla="*/ 520898 w 1322678"/>
              <a:gd name="connsiteY60" fmla="*/ 1309686 h 1437379"/>
              <a:gd name="connsiteX61" fmla="*/ 565547 w 1322678"/>
              <a:gd name="connsiteY61" fmla="*/ 1354334 h 1437379"/>
              <a:gd name="connsiteX62" fmla="*/ 520898 w 1322678"/>
              <a:gd name="connsiteY62" fmla="*/ 1398983 h 1437379"/>
              <a:gd name="connsiteX63" fmla="*/ 164003 w 1322678"/>
              <a:gd name="connsiteY63" fmla="*/ 1398983 h 1437379"/>
              <a:gd name="connsiteX64" fmla="*/ 0 w 1322678"/>
              <a:gd name="connsiteY64" fmla="*/ 1234980 h 1437379"/>
              <a:gd name="connsiteX65" fmla="*/ 0 w 1322678"/>
              <a:gd name="connsiteY65" fmla="*/ 164003 h 1437379"/>
              <a:gd name="connsiteX66" fmla="*/ 164003 w 1322678"/>
              <a:gd name="connsiteY66" fmla="*/ 0 h 1437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322678" h="1437379">
                <a:moveTo>
                  <a:pt x="953606" y="983697"/>
                </a:moveTo>
                <a:cubicBezTo>
                  <a:pt x="973492" y="983697"/>
                  <a:pt x="989612" y="999817"/>
                  <a:pt x="989612" y="1019702"/>
                </a:cubicBezTo>
                <a:lnTo>
                  <a:pt x="989612" y="1158330"/>
                </a:lnTo>
                <a:lnTo>
                  <a:pt x="1092234" y="1158330"/>
                </a:lnTo>
                <a:cubicBezTo>
                  <a:pt x="1112119" y="1158330"/>
                  <a:pt x="1128239" y="1174450"/>
                  <a:pt x="1128239" y="1194335"/>
                </a:cubicBezTo>
                <a:cubicBezTo>
                  <a:pt x="1128239" y="1214221"/>
                  <a:pt x="1112119" y="1230341"/>
                  <a:pt x="1092234" y="1230341"/>
                </a:cubicBezTo>
                <a:lnTo>
                  <a:pt x="953606" y="1230341"/>
                </a:lnTo>
                <a:cubicBezTo>
                  <a:pt x="933721" y="1230341"/>
                  <a:pt x="917601" y="1214221"/>
                  <a:pt x="917601" y="1194335"/>
                </a:cubicBezTo>
                <a:lnTo>
                  <a:pt x="917601" y="1019702"/>
                </a:lnTo>
                <a:cubicBezTo>
                  <a:pt x="917601" y="999817"/>
                  <a:pt x="933721" y="983697"/>
                  <a:pt x="953606" y="983697"/>
                </a:cubicBezTo>
                <a:close/>
                <a:moveTo>
                  <a:pt x="1004019" y="879273"/>
                </a:moveTo>
                <a:cubicBezTo>
                  <a:pt x="871988" y="879273"/>
                  <a:pt x="764573" y="986688"/>
                  <a:pt x="764573" y="1118719"/>
                </a:cubicBezTo>
                <a:cubicBezTo>
                  <a:pt x="764573" y="1250750"/>
                  <a:pt x="871988" y="1358165"/>
                  <a:pt x="1004019" y="1358165"/>
                </a:cubicBezTo>
                <a:cubicBezTo>
                  <a:pt x="1136050" y="1358165"/>
                  <a:pt x="1243464" y="1250750"/>
                  <a:pt x="1243464" y="1118719"/>
                </a:cubicBezTo>
                <a:cubicBezTo>
                  <a:pt x="1243464" y="986688"/>
                  <a:pt x="1136048" y="879273"/>
                  <a:pt x="1004019" y="879273"/>
                </a:cubicBezTo>
                <a:close/>
                <a:moveTo>
                  <a:pt x="1004019" y="800059"/>
                </a:moveTo>
                <a:cubicBezTo>
                  <a:pt x="1179729" y="800059"/>
                  <a:pt x="1322678" y="943009"/>
                  <a:pt x="1322678" y="1118719"/>
                </a:cubicBezTo>
                <a:cubicBezTo>
                  <a:pt x="1322678" y="1294429"/>
                  <a:pt x="1179729" y="1437379"/>
                  <a:pt x="1004019" y="1437379"/>
                </a:cubicBezTo>
                <a:cubicBezTo>
                  <a:pt x="828308" y="1437379"/>
                  <a:pt x="685359" y="1294429"/>
                  <a:pt x="685359" y="1118719"/>
                </a:cubicBezTo>
                <a:cubicBezTo>
                  <a:pt x="685359" y="943009"/>
                  <a:pt x="828308" y="800059"/>
                  <a:pt x="1004019" y="800059"/>
                </a:cubicBezTo>
                <a:close/>
                <a:moveTo>
                  <a:pt x="453526" y="694903"/>
                </a:moveTo>
                <a:lnTo>
                  <a:pt x="519360" y="694903"/>
                </a:lnTo>
                <a:cubicBezTo>
                  <a:pt x="529019" y="694903"/>
                  <a:pt x="534667" y="705900"/>
                  <a:pt x="529019" y="713776"/>
                </a:cubicBezTo>
                <a:lnTo>
                  <a:pt x="359304" y="948582"/>
                </a:lnTo>
                <a:cubicBezTo>
                  <a:pt x="354549" y="955121"/>
                  <a:pt x="344889" y="955121"/>
                  <a:pt x="340134" y="948582"/>
                </a:cubicBezTo>
                <a:lnTo>
                  <a:pt x="230458" y="796850"/>
                </a:lnTo>
                <a:cubicBezTo>
                  <a:pt x="224810" y="788973"/>
                  <a:pt x="230458" y="777977"/>
                  <a:pt x="240117" y="777977"/>
                </a:cubicBezTo>
                <a:lnTo>
                  <a:pt x="305804" y="777977"/>
                </a:lnTo>
                <a:cubicBezTo>
                  <a:pt x="309668" y="777977"/>
                  <a:pt x="313235" y="779761"/>
                  <a:pt x="315463" y="782881"/>
                </a:cubicBezTo>
                <a:cubicBezTo>
                  <a:pt x="315463" y="782881"/>
                  <a:pt x="349495" y="830288"/>
                  <a:pt x="349499" y="830288"/>
                </a:cubicBezTo>
                <a:lnTo>
                  <a:pt x="443867" y="699807"/>
                </a:lnTo>
                <a:cubicBezTo>
                  <a:pt x="446095" y="696687"/>
                  <a:pt x="449662" y="694903"/>
                  <a:pt x="453526" y="694903"/>
                </a:cubicBezTo>
                <a:close/>
                <a:moveTo>
                  <a:pt x="663572" y="368997"/>
                </a:moveTo>
                <a:lnTo>
                  <a:pt x="1022620" y="368997"/>
                </a:lnTo>
                <a:lnTo>
                  <a:pt x="1022620" y="458294"/>
                </a:lnTo>
                <a:lnTo>
                  <a:pt x="663572" y="458294"/>
                </a:lnTo>
                <a:close/>
                <a:moveTo>
                  <a:pt x="453526" y="293067"/>
                </a:moveTo>
                <a:lnTo>
                  <a:pt x="519360" y="293067"/>
                </a:lnTo>
                <a:cubicBezTo>
                  <a:pt x="529019" y="293067"/>
                  <a:pt x="534667" y="304064"/>
                  <a:pt x="529019" y="311940"/>
                </a:cubicBezTo>
                <a:lnTo>
                  <a:pt x="359304" y="546746"/>
                </a:lnTo>
                <a:cubicBezTo>
                  <a:pt x="354549" y="553286"/>
                  <a:pt x="344889" y="553286"/>
                  <a:pt x="340134" y="546746"/>
                </a:cubicBezTo>
                <a:lnTo>
                  <a:pt x="230458" y="395014"/>
                </a:lnTo>
                <a:cubicBezTo>
                  <a:pt x="224810" y="387138"/>
                  <a:pt x="230458" y="376141"/>
                  <a:pt x="240117" y="376141"/>
                </a:cubicBezTo>
                <a:lnTo>
                  <a:pt x="305804" y="376141"/>
                </a:lnTo>
                <a:cubicBezTo>
                  <a:pt x="309668" y="376141"/>
                  <a:pt x="313235" y="377923"/>
                  <a:pt x="315463" y="381045"/>
                </a:cubicBezTo>
                <a:cubicBezTo>
                  <a:pt x="315463" y="381045"/>
                  <a:pt x="349495" y="428452"/>
                  <a:pt x="349499" y="428452"/>
                </a:cubicBezTo>
                <a:lnTo>
                  <a:pt x="443867" y="297971"/>
                </a:lnTo>
                <a:cubicBezTo>
                  <a:pt x="446095" y="294851"/>
                  <a:pt x="449662" y="293067"/>
                  <a:pt x="453526" y="293067"/>
                </a:cubicBezTo>
                <a:close/>
                <a:moveTo>
                  <a:pt x="164003" y="0"/>
                </a:moveTo>
                <a:lnTo>
                  <a:pt x="1058246" y="0"/>
                </a:lnTo>
                <a:cubicBezTo>
                  <a:pt x="1148678" y="0"/>
                  <a:pt x="1222249" y="73571"/>
                  <a:pt x="1222249" y="164003"/>
                </a:cubicBezTo>
                <a:lnTo>
                  <a:pt x="1222249" y="587871"/>
                </a:lnTo>
                <a:cubicBezTo>
                  <a:pt x="1222249" y="612530"/>
                  <a:pt x="1202260" y="632520"/>
                  <a:pt x="1177601" y="632520"/>
                </a:cubicBezTo>
                <a:cubicBezTo>
                  <a:pt x="1152942" y="632520"/>
                  <a:pt x="1132952" y="612530"/>
                  <a:pt x="1132952" y="587871"/>
                </a:cubicBezTo>
                <a:lnTo>
                  <a:pt x="1132952" y="164003"/>
                </a:lnTo>
                <a:cubicBezTo>
                  <a:pt x="1132952" y="122809"/>
                  <a:pt x="1099438" y="89297"/>
                  <a:pt x="1058246" y="89297"/>
                </a:cubicBezTo>
                <a:lnTo>
                  <a:pt x="164003" y="89297"/>
                </a:lnTo>
                <a:cubicBezTo>
                  <a:pt x="122809" y="89297"/>
                  <a:pt x="89297" y="122811"/>
                  <a:pt x="89297" y="164003"/>
                </a:cubicBezTo>
                <a:lnTo>
                  <a:pt x="89297" y="1234980"/>
                </a:lnTo>
                <a:cubicBezTo>
                  <a:pt x="89297" y="1276173"/>
                  <a:pt x="122811" y="1309686"/>
                  <a:pt x="164003" y="1309686"/>
                </a:cubicBezTo>
                <a:lnTo>
                  <a:pt x="520898" y="1309686"/>
                </a:lnTo>
                <a:cubicBezTo>
                  <a:pt x="545557" y="1309686"/>
                  <a:pt x="565547" y="1329675"/>
                  <a:pt x="565547" y="1354334"/>
                </a:cubicBezTo>
                <a:cubicBezTo>
                  <a:pt x="565547" y="1378993"/>
                  <a:pt x="545557" y="1398983"/>
                  <a:pt x="520898" y="1398983"/>
                </a:cubicBezTo>
                <a:lnTo>
                  <a:pt x="164003" y="1398983"/>
                </a:lnTo>
                <a:cubicBezTo>
                  <a:pt x="73571" y="1398983"/>
                  <a:pt x="0" y="1325411"/>
                  <a:pt x="0" y="1234980"/>
                </a:cubicBezTo>
                <a:lnTo>
                  <a:pt x="0" y="164003"/>
                </a:lnTo>
                <a:cubicBezTo>
                  <a:pt x="0" y="73571"/>
                  <a:pt x="73571" y="0"/>
                  <a:pt x="16400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p>
            <a:endParaRPr lang="zh-CN" altLang="en-US" sz="1400"/>
          </a:p>
        </p:txBody>
      </p:sp>
      <p:sp>
        <p:nvSpPr>
          <p:cNvPr id="69" name="任意形状 346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9514928" y="2762258"/>
            <a:ext cx="426176" cy="440459"/>
          </a:xfrm>
          <a:custGeom>
            <a:avLst/>
            <a:gdLst>
              <a:gd name="connsiteX0" fmla="*/ 1338726 w 1369548"/>
              <a:gd name="connsiteY0" fmla="*/ 955036 h 1415447"/>
              <a:gd name="connsiteX1" fmla="*/ 1340611 w 1369548"/>
              <a:gd name="connsiteY1" fmla="*/ 959194 h 1415447"/>
              <a:gd name="connsiteX2" fmla="*/ 1348655 w 1369548"/>
              <a:gd name="connsiteY2" fmla="*/ 1206239 h 1415447"/>
              <a:gd name="connsiteX3" fmla="*/ 1179655 w 1369548"/>
              <a:gd name="connsiteY3" fmla="*/ 1386615 h 1415447"/>
              <a:gd name="connsiteX4" fmla="*/ 1046422 w 1369548"/>
              <a:gd name="connsiteY4" fmla="*/ 1415447 h 1415447"/>
              <a:gd name="connsiteX5" fmla="*/ 1046400 w 1369548"/>
              <a:gd name="connsiteY5" fmla="*/ 1415447 h 1415447"/>
              <a:gd name="connsiteX6" fmla="*/ 794173 w 1369548"/>
              <a:gd name="connsiteY6" fmla="*/ 1294096 h 1415447"/>
              <a:gd name="connsiteX7" fmla="*/ 789474 w 1369548"/>
              <a:gd name="connsiteY7" fmla="*/ 1288216 h 1415447"/>
              <a:gd name="connsiteX8" fmla="*/ 846516 w 1369548"/>
              <a:gd name="connsiteY8" fmla="*/ 1231743 h 1415447"/>
              <a:gd name="connsiteX9" fmla="*/ 858835 w 1369548"/>
              <a:gd name="connsiteY9" fmla="*/ 1247374 h 1415447"/>
              <a:gd name="connsiteX10" fmla="*/ 1023328 w 1369548"/>
              <a:gd name="connsiteY10" fmla="*/ 1334239 h 1415447"/>
              <a:gd name="connsiteX11" fmla="*/ 1201268 w 1369548"/>
              <a:gd name="connsiteY11" fmla="*/ 1279370 h 1415447"/>
              <a:gd name="connsiteX12" fmla="*/ 1272924 w 1369548"/>
              <a:gd name="connsiteY12" fmla="*/ 1179913 h 1415447"/>
              <a:gd name="connsiteX13" fmla="*/ 1288409 w 1369548"/>
              <a:gd name="connsiteY13" fmla="*/ 1070582 h 1415447"/>
              <a:gd name="connsiteX14" fmla="*/ 1252002 w 1369548"/>
              <a:gd name="connsiteY14" fmla="*/ 1091511 h 1415447"/>
              <a:gd name="connsiteX15" fmla="*/ 1241926 w 1369548"/>
              <a:gd name="connsiteY15" fmla="*/ 1037414 h 1415447"/>
              <a:gd name="connsiteX16" fmla="*/ 1248607 w 1369548"/>
              <a:gd name="connsiteY16" fmla="*/ 1037414 h 1415447"/>
              <a:gd name="connsiteX17" fmla="*/ 1331305 w 1369548"/>
              <a:gd name="connsiteY17" fmla="*/ 955626 h 1415447"/>
              <a:gd name="connsiteX18" fmla="*/ 1333112 w 1369548"/>
              <a:gd name="connsiteY18" fmla="*/ 957453 h 1415447"/>
              <a:gd name="connsiteX19" fmla="*/ 1020313 w 1369548"/>
              <a:gd name="connsiteY19" fmla="*/ 948748 h 1415447"/>
              <a:gd name="connsiteX20" fmla="*/ 1134012 w 1369548"/>
              <a:gd name="connsiteY20" fmla="*/ 948748 h 1415447"/>
              <a:gd name="connsiteX21" fmla="*/ 1093433 w 1369548"/>
              <a:gd name="connsiteY21" fmla="*/ 1043483 h 1415447"/>
              <a:gd name="connsiteX22" fmla="*/ 1171132 w 1369548"/>
              <a:gd name="connsiteY22" fmla="*/ 1043483 h 1415447"/>
              <a:gd name="connsiteX23" fmla="*/ 1040148 w 1369548"/>
              <a:gd name="connsiteY23" fmla="*/ 1251446 h 1415447"/>
              <a:gd name="connsiteX24" fmla="*/ 982885 w 1369548"/>
              <a:gd name="connsiteY24" fmla="*/ 1251446 h 1415447"/>
              <a:gd name="connsiteX25" fmla="*/ 1028545 w 1369548"/>
              <a:gd name="connsiteY25" fmla="*/ 1130421 h 1415447"/>
              <a:gd name="connsiteX26" fmla="*/ 943585 w 1369548"/>
              <a:gd name="connsiteY26" fmla="*/ 1130421 h 1415447"/>
              <a:gd name="connsiteX27" fmla="*/ 318158 w 1369548"/>
              <a:gd name="connsiteY27" fmla="*/ 907087 h 1415447"/>
              <a:gd name="connsiteX28" fmla="*/ 275234 w 1369548"/>
              <a:gd name="connsiteY28" fmla="*/ 950011 h 1415447"/>
              <a:gd name="connsiteX29" fmla="*/ 318158 w 1369548"/>
              <a:gd name="connsiteY29" fmla="*/ 992935 h 1415447"/>
              <a:gd name="connsiteX30" fmla="*/ 361082 w 1369548"/>
              <a:gd name="connsiteY30" fmla="*/ 950011 h 1415447"/>
              <a:gd name="connsiteX31" fmla="*/ 318158 w 1369548"/>
              <a:gd name="connsiteY31" fmla="*/ 907087 h 1415447"/>
              <a:gd name="connsiteX32" fmla="*/ 1045968 w 1369548"/>
              <a:gd name="connsiteY32" fmla="*/ 768990 h 1415447"/>
              <a:gd name="connsiteX33" fmla="*/ 1046223 w 1369548"/>
              <a:gd name="connsiteY33" fmla="*/ 768990 h 1415447"/>
              <a:gd name="connsiteX34" fmla="*/ 1297074 w 1369548"/>
              <a:gd name="connsiteY34" fmla="*/ 888719 h 1415447"/>
              <a:gd name="connsiteX35" fmla="*/ 1301833 w 1369548"/>
              <a:gd name="connsiteY35" fmla="*/ 894608 h 1415447"/>
              <a:gd name="connsiteX36" fmla="*/ 1244756 w 1369548"/>
              <a:gd name="connsiteY36" fmla="*/ 951059 h 1415447"/>
              <a:gd name="connsiteX37" fmla="*/ 1233294 w 1369548"/>
              <a:gd name="connsiteY37" fmla="*/ 936505 h 1415447"/>
              <a:gd name="connsiteX38" fmla="*/ 1068809 w 1369548"/>
              <a:gd name="connsiteY38" fmla="*/ 849625 h 1415447"/>
              <a:gd name="connsiteX39" fmla="*/ 890866 w 1369548"/>
              <a:gd name="connsiteY39" fmla="*/ 904476 h 1415447"/>
              <a:gd name="connsiteX40" fmla="*/ 819178 w 1369548"/>
              <a:gd name="connsiteY40" fmla="*/ 1003986 h 1415447"/>
              <a:gd name="connsiteX41" fmla="*/ 803715 w 1369548"/>
              <a:gd name="connsiteY41" fmla="*/ 1113378 h 1415447"/>
              <a:gd name="connsiteX42" fmla="*/ 840129 w 1369548"/>
              <a:gd name="connsiteY42" fmla="*/ 1092401 h 1415447"/>
              <a:gd name="connsiteX43" fmla="*/ 848854 w 1369548"/>
              <a:gd name="connsiteY43" fmla="*/ 1139306 h 1415447"/>
              <a:gd name="connsiteX44" fmla="*/ 754819 w 1369548"/>
              <a:gd name="connsiteY44" fmla="*/ 1232363 h 1415447"/>
              <a:gd name="connsiteX45" fmla="*/ 745865 w 1369548"/>
              <a:gd name="connsiteY45" fmla="*/ 1211244 h 1415447"/>
              <a:gd name="connsiteX46" fmla="*/ 749621 w 1369548"/>
              <a:gd name="connsiteY46" fmla="*/ 963985 h 1415447"/>
              <a:gd name="connsiteX47" fmla="*/ 926849 w 1369548"/>
              <a:gd name="connsiteY47" fmla="*/ 791763 h 1415447"/>
              <a:gd name="connsiteX48" fmla="*/ 1045968 w 1369548"/>
              <a:gd name="connsiteY48" fmla="*/ 768990 h 1415447"/>
              <a:gd name="connsiteX49" fmla="*/ 904098 w 1369548"/>
              <a:gd name="connsiteY49" fmla="*/ 313187 h 1415447"/>
              <a:gd name="connsiteX50" fmla="*/ 861174 w 1369548"/>
              <a:gd name="connsiteY50" fmla="*/ 356111 h 1415447"/>
              <a:gd name="connsiteX51" fmla="*/ 904098 w 1369548"/>
              <a:gd name="connsiteY51" fmla="*/ 399035 h 1415447"/>
              <a:gd name="connsiteX52" fmla="*/ 947020 w 1369548"/>
              <a:gd name="connsiteY52" fmla="*/ 356111 h 1415447"/>
              <a:gd name="connsiteX53" fmla="*/ 904098 w 1369548"/>
              <a:gd name="connsiteY53" fmla="*/ 313187 h 1415447"/>
              <a:gd name="connsiteX54" fmla="*/ 904098 w 1369548"/>
              <a:gd name="connsiteY54" fmla="*/ 223890 h 1415447"/>
              <a:gd name="connsiteX55" fmla="*/ 1036317 w 1369548"/>
              <a:gd name="connsiteY55" fmla="*/ 356111 h 1415447"/>
              <a:gd name="connsiteX56" fmla="*/ 904098 w 1369548"/>
              <a:gd name="connsiteY56" fmla="*/ 488332 h 1415447"/>
              <a:gd name="connsiteX57" fmla="*/ 810648 w 1369548"/>
              <a:gd name="connsiteY57" fmla="*/ 449562 h 1415447"/>
              <a:gd name="connsiteX58" fmla="*/ 787334 w 1369548"/>
              <a:gd name="connsiteY58" fmla="*/ 415011 h 1415447"/>
              <a:gd name="connsiteX59" fmla="*/ 753167 w 1369548"/>
              <a:gd name="connsiteY59" fmla="*/ 430216 h 1415447"/>
              <a:gd name="connsiteX60" fmla="*/ 643395 w 1369548"/>
              <a:gd name="connsiteY60" fmla="*/ 625482 h 1415447"/>
              <a:gd name="connsiteX61" fmla="*/ 514324 w 1369548"/>
              <a:gd name="connsiteY61" fmla="*/ 909839 h 1415447"/>
              <a:gd name="connsiteX62" fmla="*/ 472553 w 1369548"/>
              <a:gd name="connsiteY62" fmla="*/ 940827 h 1415447"/>
              <a:gd name="connsiteX63" fmla="*/ 449762 w 1369548"/>
              <a:gd name="connsiteY63" fmla="*/ 953060 h 1415447"/>
              <a:gd name="connsiteX64" fmla="*/ 439972 w 1369548"/>
              <a:gd name="connsiteY64" fmla="*/ 1001430 h 1415447"/>
              <a:gd name="connsiteX65" fmla="*/ 318158 w 1369548"/>
              <a:gd name="connsiteY65" fmla="*/ 1082234 h 1415447"/>
              <a:gd name="connsiteX66" fmla="*/ 185937 w 1369548"/>
              <a:gd name="connsiteY66" fmla="*/ 950013 h 1415447"/>
              <a:gd name="connsiteX67" fmla="*/ 318158 w 1369548"/>
              <a:gd name="connsiteY67" fmla="*/ 817792 h 1415447"/>
              <a:gd name="connsiteX68" fmla="*/ 411608 w 1369548"/>
              <a:gd name="connsiteY68" fmla="*/ 856563 h 1415447"/>
              <a:gd name="connsiteX69" fmla="*/ 419459 w 1369548"/>
              <a:gd name="connsiteY69" fmla="*/ 868198 h 1415447"/>
              <a:gd name="connsiteX70" fmla="*/ 430966 w 1369548"/>
              <a:gd name="connsiteY70" fmla="*/ 861620 h 1415447"/>
              <a:gd name="connsiteX71" fmla="*/ 554366 w 1369548"/>
              <a:gd name="connsiteY71" fmla="*/ 618549 h 1415447"/>
              <a:gd name="connsiteX72" fmla="*/ 713586 w 1369548"/>
              <a:gd name="connsiteY72" fmla="*/ 350072 h 1415447"/>
              <a:gd name="connsiteX73" fmla="*/ 765109 w 1369548"/>
              <a:gd name="connsiteY73" fmla="*/ 327937 h 1415447"/>
              <a:gd name="connsiteX74" fmla="*/ 778263 w 1369548"/>
              <a:gd name="connsiteY74" fmla="*/ 324559 h 1415447"/>
              <a:gd name="connsiteX75" fmla="*/ 782284 w 1369548"/>
              <a:gd name="connsiteY75" fmla="*/ 304694 h 1415447"/>
              <a:gd name="connsiteX76" fmla="*/ 904098 w 1369548"/>
              <a:gd name="connsiteY76" fmla="*/ 223890 h 1415447"/>
              <a:gd name="connsiteX77" fmla="*/ 164005 w 1369548"/>
              <a:gd name="connsiteY77" fmla="*/ 0 h 1415447"/>
              <a:gd name="connsiteX78" fmla="*/ 1058248 w 1369548"/>
              <a:gd name="connsiteY78" fmla="*/ 0 h 1415447"/>
              <a:gd name="connsiteX79" fmla="*/ 1222251 w 1369548"/>
              <a:gd name="connsiteY79" fmla="*/ 164003 h 1415447"/>
              <a:gd name="connsiteX80" fmla="*/ 1222251 w 1369548"/>
              <a:gd name="connsiteY80" fmla="*/ 587871 h 1415447"/>
              <a:gd name="connsiteX81" fmla="*/ 1177603 w 1369548"/>
              <a:gd name="connsiteY81" fmla="*/ 632520 h 1415447"/>
              <a:gd name="connsiteX82" fmla="*/ 1132954 w 1369548"/>
              <a:gd name="connsiteY82" fmla="*/ 587871 h 1415447"/>
              <a:gd name="connsiteX83" fmla="*/ 1132954 w 1369548"/>
              <a:gd name="connsiteY83" fmla="*/ 164003 h 1415447"/>
              <a:gd name="connsiteX84" fmla="*/ 1058248 w 1369548"/>
              <a:gd name="connsiteY84" fmla="*/ 89297 h 1415447"/>
              <a:gd name="connsiteX85" fmla="*/ 164005 w 1369548"/>
              <a:gd name="connsiteY85" fmla="*/ 89297 h 1415447"/>
              <a:gd name="connsiteX86" fmla="*/ 89297 w 1369548"/>
              <a:gd name="connsiteY86" fmla="*/ 164003 h 1415447"/>
              <a:gd name="connsiteX87" fmla="*/ 89297 w 1369548"/>
              <a:gd name="connsiteY87" fmla="*/ 1234980 h 1415447"/>
              <a:gd name="connsiteX88" fmla="*/ 164005 w 1369548"/>
              <a:gd name="connsiteY88" fmla="*/ 1309686 h 1415447"/>
              <a:gd name="connsiteX89" fmla="*/ 520898 w 1369548"/>
              <a:gd name="connsiteY89" fmla="*/ 1309686 h 1415447"/>
              <a:gd name="connsiteX90" fmla="*/ 565547 w 1369548"/>
              <a:gd name="connsiteY90" fmla="*/ 1354334 h 1415447"/>
              <a:gd name="connsiteX91" fmla="*/ 520900 w 1369548"/>
              <a:gd name="connsiteY91" fmla="*/ 1398983 h 1415447"/>
              <a:gd name="connsiteX92" fmla="*/ 164005 w 1369548"/>
              <a:gd name="connsiteY92" fmla="*/ 1398983 h 1415447"/>
              <a:gd name="connsiteX93" fmla="*/ 0 w 1369548"/>
              <a:gd name="connsiteY93" fmla="*/ 1234980 h 1415447"/>
              <a:gd name="connsiteX94" fmla="*/ 0 w 1369548"/>
              <a:gd name="connsiteY94" fmla="*/ 164003 h 1415447"/>
              <a:gd name="connsiteX95" fmla="*/ 164005 w 1369548"/>
              <a:gd name="connsiteY95" fmla="*/ 0 h 1415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1369548" h="1415447">
                <a:moveTo>
                  <a:pt x="1338726" y="955036"/>
                </a:moveTo>
                <a:lnTo>
                  <a:pt x="1340611" y="959194"/>
                </a:lnTo>
                <a:cubicBezTo>
                  <a:pt x="1376199" y="1037775"/>
                  <a:pt x="1379057" y="1125509"/>
                  <a:pt x="1348655" y="1206239"/>
                </a:cubicBezTo>
                <a:cubicBezTo>
                  <a:pt x="1318255" y="1286969"/>
                  <a:pt x="1258236" y="1351027"/>
                  <a:pt x="1179655" y="1386615"/>
                </a:cubicBezTo>
                <a:cubicBezTo>
                  <a:pt x="1137421" y="1405743"/>
                  <a:pt x="1092594" y="1415445"/>
                  <a:pt x="1046422" y="1415447"/>
                </a:cubicBezTo>
                <a:lnTo>
                  <a:pt x="1046400" y="1415447"/>
                </a:lnTo>
                <a:cubicBezTo>
                  <a:pt x="947764" y="1415447"/>
                  <a:pt x="855835" y="1371219"/>
                  <a:pt x="794173" y="1294096"/>
                </a:cubicBezTo>
                <a:lnTo>
                  <a:pt x="789474" y="1288216"/>
                </a:lnTo>
                <a:lnTo>
                  <a:pt x="846516" y="1231743"/>
                </a:lnTo>
                <a:lnTo>
                  <a:pt x="858835" y="1247374"/>
                </a:lnTo>
                <a:cubicBezTo>
                  <a:pt x="900185" y="1297287"/>
                  <a:pt x="958628" y="1328167"/>
                  <a:pt x="1023328" y="1334239"/>
                </a:cubicBezTo>
                <a:cubicBezTo>
                  <a:pt x="1088023" y="1340313"/>
                  <a:pt x="1151221" y="1320828"/>
                  <a:pt x="1201268" y="1279370"/>
                </a:cubicBezTo>
                <a:cubicBezTo>
                  <a:pt x="1233233" y="1252861"/>
                  <a:pt x="1257898" y="1218627"/>
                  <a:pt x="1272924" y="1179913"/>
                </a:cubicBezTo>
                <a:cubicBezTo>
                  <a:pt x="1286350" y="1145261"/>
                  <a:pt x="1291665" y="1107613"/>
                  <a:pt x="1288409" y="1070582"/>
                </a:cubicBezTo>
                <a:lnTo>
                  <a:pt x="1252002" y="1091511"/>
                </a:lnTo>
                <a:lnTo>
                  <a:pt x="1241926" y="1037414"/>
                </a:lnTo>
                <a:lnTo>
                  <a:pt x="1248607" y="1037414"/>
                </a:lnTo>
                <a:lnTo>
                  <a:pt x="1331305" y="955626"/>
                </a:lnTo>
                <a:lnTo>
                  <a:pt x="1333112" y="957453"/>
                </a:lnTo>
                <a:close/>
                <a:moveTo>
                  <a:pt x="1020313" y="948748"/>
                </a:moveTo>
                <a:lnTo>
                  <a:pt x="1134012" y="948748"/>
                </a:lnTo>
                <a:lnTo>
                  <a:pt x="1093433" y="1043483"/>
                </a:lnTo>
                <a:lnTo>
                  <a:pt x="1171132" y="1043483"/>
                </a:lnTo>
                <a:lnTo>
                  <a:pt x="1040148" y="1251446"/>
                </a:lnTo>
                <a:lnTo>
                  <a:pt x="982885" y="1251446"/>
                </a:lnTo>
                <a:lnTo>
                  <a:pt x="1028545" y="1130421"/>
                </a:lnTo>
                <a:lnTo>
                  <a:pt x="943585" y="1130421"/>
                </a:lnTo>
                <a:close/>
                <a:moveTo>
                  <a:pt x="318158" y="907087"/>
                </a:moveTo>
                <a:cubicBezTo>
                  <a:pt x="294489" y="907087"/>
                  <a:pt x="275234" y="926344"/>
                  <a:pt x="275234" y="950011"/>
                </a:cubicBezTo>
                <a:cubicBezTo>
                  <a:pt x="275234" y="973679"/>
                  <a:pt x="294490" y="992935"/>
                  <a:pt x="318158" y="992935"/>
                </a:cubicBezTo>
                <a:cubicBezTo>
                  <a:pt x="341825" y="992935"/>
                  <a:pt x="361082" y="973679"/>
                  <a:pt x="361082" y="950011"/>
                </a:cubicBezTo>
                <a:cubicBezTo>
                  <a:pt x="361082" y="926344"/>
                  <a:pt x="341825" y="907087"/>
                  <a:pt x="318158" y="907087"/>
                </a:cubicBezTo>
                <a:close/>
                <a:moveTo>
                  <a:pt x="1045968" y="768990"/>
                </a:moveTo>
                <a:lnTo>
                  <a:pt x="1046223" y="768990"/>
                </a:lnTo>
                <a:cubicBezTo>
                  <a:pt x="1144194" y="768990"/>
                  <a:pt x="1235575" y="812628"/>
                  <a:pt x="1297074" y="888719"/>
                </a:cubicBezTo>
                <a:lnTo>
                  <a:pt x="1301833" y="894608"/>
                </a:lnTo>
                <a:lnTo>
                  <a:pt x="1244756" y="951059"/>
                </a:lnTo>
                <a:lnTo>
                  <a:pt x="1233294" y="936505"/>
                </a:lnTo>
                <a:cubicBezTo>
                  <a:pt x="1191949" y="886590"/>
                  <a:pt x="1133510" y="855705"/>
                  <a:pt x="1068809" y="849625"/>
                </a:cubicBezTo>
                <a:cubicBezTo>
                  <a:pt x="1004110" y="843544"/>
                  <a:pt x="940912" y="863025"/>
                  <a:pt x="890866" y="904476"/>
                </a:cubicBezTo>
                <a:cubicBezTo>
                  <a:pt x="858883" y="930996"/>
                  <a:pt x="834206" y="965250"/>
                  <a:pt x="819178" y="1003986"/>
                </a:cubicBezTo>
                <a:cubicBezTo>
                  <a:pt x="805750" y="1038661"/>
                  <a:pt x="800442" y="1076329"/>
                  <a:pt x="803715" y="1113378"/>
                </a:cubicBezTo>
                <a:lnTo>
                  <a:pt x="840129" y="1092401"/>
                </a:lnTo>
                <a:lnTo>
                  <a:pt x="848854" y="1139306"/>
                </a:lnTo>
                <a:lnTo>
                  <a:pt x="754819" y="1232363"/>
                </a:lnTo>
                <a:lnTo>
                  <a:pt x="745865" y="1211244"/>
                </a:lnTo>
                <a:cubicBezTo>
                  <a:pt x="714042" y="1131055"/>
                  <a:pt x="715391" y="1043278"/>
                  <a:pt x="749621" y="963985"/>
                </a:cubicBezTo>
                <a:cubicBezTo>
                  <a:pt x="783850" y="884697"/>
                  <a:pt x="846791" y="823534"/>
                  <a:pt x="926849" y="791763"/>
                </a:cubicBezTo>
                <a:cubicBezTo>
                  <a:pt x="964925" y="776653"/>
                  <a:pt x="1005001" y="768990"/>
                  <a:pt x="1045968" y="768990"/>
                </a:cubicBezTo>
                <a:close/>
                <a:moveTo>
                  <a:pt x="904098" y="313187"/>
                </a:moveTo>
                <a:cubicBezTo>
                  <a:pt x="880429" y="313187"/>
                  <a:pt x="861174" y="332443"/>
                  <a:pt x="861174" y="356111"/>
                </a:cubicBezTo>
                <a:cubicBezTo>
                  <a:pt x="861174" y="379778"/>
                  <a:pt x="880431" y="399035"/>
                  <a:pt x="904098" y="399035"/>
                </a:cubicBezTo>
                <a:cubicBezTo>
                  <a:pt x="927765" y="399035"/>
                  <a:pt x="947020" y="379778"/>
                  <a:pt x="947020" y="356111"/>
                </a:cubicBezTo>
                <a:cubicBezTo>
                  <a:pt x="947020" y="332443"/>
                  <a:pt x="927765" y="313187"/>
                  <a:pt x="904098" y="313187"/>
                </a:cubicBezTo>
                <a:close/>
                <a:moveTo>
                  <a:pt x="904098" y="223890"/>
                </a:moveTo>
                <a:cubicBezTo>
                  <a:pt x="977003" y="223890"/>
                  <a:pt x="1036317" y="283204"/>
                  <a:pt x="1036317" y="356111"/>
                </a:cubicBezTo>
                <a:cubicBezTo>
                  <a:pt x="1036317" y="429018"/>
                  <a:pt x="977005" y="488332"/>
                  <a:pt x="904098" y="488332"/>
                </a:cubicBezTo>
                <a:cubicBezTo>
                  <a:pt x="867645" y="488332"/>
                  <a:pt x="834590" y="473504"/>
                  <a:pt x="810648" y="449562"/>
                </a:cubicBezTo>
                <a:lnTo>
                  <a:pt x="787334" y="415011"/>
                </a:lnTo>
                <a:lnTo>
                  <a:pt x="753167" y="430216"/>
                </a:lnTo>
                <a:cubicBezTo>
                  <a:pt x="687550" y="466978"/>
                  <a:pt x="650619" y="532675"/>
                  <a:pt x="643395" y="625482"/>
                </a:cubicBezTo>
                <a:cubicBezTo>
                  <a:pt x="631531" y="777882"/>
                  <a:pt x="566657" y="864234"/>
                  <a:pt x="514324" y="909839"/>
                </a:cubicBezTo>
                <a:cubicBezTo>
                  <a:pt x="499987" y="922331"/>
                  <a:pt x="485825" y="932531"/>
                  <a:pt x="472553" y="940827"/>
                </a:cubicBezTo>
                <a:lnTo>
                  <a:pt x="449762" y="953060"/>
                </a:lnTo>
                <a:lnTo>
                  <a:pt x="439972" y="1001430"/>
                </a:lnTo>
                <a:cubicBezTo>
                  <a:pt x="419872" y="1048869"/>
                  <a:pt x="372838" y="1082234"/>
                  <a:pt x="318158" y="1082234"/>
                </a:cubicBezTo>
                <a:cubicBezTo>
                  <a:pt x="245251" y="1082234"/>
                  <a:pt x="185937" y="1022918"/>
                  <a:pt x="185937" y="950013"/>
                </a:cubicBezTo>
                <a:cubicBezTo>
                  <a:pt x="185937" y="877108"/>
                  <a:pt x="245251" y="817792"/>
                  <a:pt x="318158" y="817792"/>
                </a:cubicBezTo>
                <a:cubicBezTo>
                  <a:pt x="354611" y="817792"/>
                  <a:pt x="387666" y="832621"/>
                  <a:pt x="411608" y="856563"/>
                </a:cubicBezTo>
                <a:lnTo>
                  <a:pt x="419459" y="868198"/>
                </a:lnTo>
                <a:lnTo>
                  <a:pt x="430966" y="861620"/>
                </a:lnTo>
                <a:cubicBezTo>
                  <a:pt x="479131" y="829565"/>
                  <a:pt x="543300" y="760690"/>
                  <a:pt x="554366" y="618549"/>
                </a:cubicBezTo>
                <a:cubicBezTo>
                  <a:pt x="566618" y="461150"/>
                  <a:pt x="647715" y="385674"/>
                  <a:pt x="713586" y="350072"/>
                </a:cubicBezTo>
                <a:cubicBezTo>
                  <a:pt x="731242" y="340530"/>
                  <a:pt x="748743" y="333346"/>
                  <a:pt x="765109" y="327937"/>
                </a:cubicBezTo>
                <a:lnTo>
                  <a:pt x="778263" y="324559"/>
                </a:lnTo>
                <a:lnTo>
                  <a:pt x="782284" y="304694"/>
                </a:lnTo>
                <a:cubicBezTo>
                  <a:pt x="802384" y="257254"/>
                  <a:pt x="849419" y="223890"/>
                  <a:pt x="904098" y="223890"/>
                </a:cubicBezTo>
                <a:close/>
                <a:moveTo>
                  <a:pt x="164005" y="0"/>
                </a:moveTo>
                <a:lnTo>
                  <a:pt x="1058248" y="0"/>
                </a:lnTo>
                <a:cubicBezTo>
                  <a:pt x="1148680" y="0"/>
                  <a:pt x="1222251" y="73571"/>
                  <a:pt x="1222251" y="164003"/>
                </a:cubicBezTo>
                <a:lnTo>
                  <a:pt x="1222251" y="587871"/>
                </a:lnTo>
                <a:cubicBezTo>
                  <a:pt x="1222251" y="612530"/>
                  <a:pt x="1202262" y="632520"/>
                  <a:pt x="1177603" y="632520"/>
                </a:cubicBezTo>
                <a:cubicBezTo>
                  <a:pt x="1152944" y="632520"/>
                  <a:pt x="1132954" y="612530"/>
                  <a:pt x="1132954" y="587871"/>
                </a:cubicBezTo>
                <a:lnTo>
                  <a:pt x="1132954" y="164003"/>
                </a:lnTo>
                <a:cubicBezTo>
                  <a:pt x="1132954" y="122809"/>
                  <a:pt x="1099440" y="89297"/>
                  <a:pt x="1058248" y="89297"/>
                </a:cubicBezTo>
                <a:lnTo>
                  <a:pt x="164005" y="89297"/>
                </a:lnTo>
                <a:cubicBezTo>
                  <a:pt x="122811" y="89297"/>
                  <a:pt x="89297" y="122811"/>
                  <a:pt x="89297" y="164003"/>
                </a:cubicBezTo>
                <a:lnTo>
                  <a:pt x="89297" y="1234980"/>
                </a:lnTo>
                <a:cubicBezTo>
                  <a:pt x="89297" y="1276173"/>
                  <a:pt x="122811" y="1309686"/>
                  <a:pt x="164005" y="1309686"/>
                </a:cubicBezTo>
                <a:lnTo>
                  <a:pt x="520898" y="1309686"/>
                </a:lnTo>
                <a:cubicBezTo>
                  <a:pt x="545557" y="1309686"/>
                  <a:pt x="565547" y="1329675"/>
                  <a:pt x="565547" y="1354334"/>
                </a:cubicBezTo>
                <a:cubicBezTo>
                  <a:pt x="565547" y="1378993"/>
                  <a:pt x="545559" y="1398983"/>
                  <a:pt x="520900" y="1398983"/>
                </a:cubicBezTo>
                <a:lnTo>
                  <a:pt x="164005" y="1398983"/>
                </a:lnTo>
                <a:cubicBezTo>
                  <a:pt x="73573" y="1398983"/>
                  <a:pt x="0" y="1325411"/>
                  <a:pt x="0" y="1234980"/>
                </a:cubicBezTo>
                <a:lnTo>
                  <a:pt x="0" y="164003"/>
                </a:lnTo>
                <a:cubicBezTo>
                  <a:pt x="0" y="73571"/>
                  <a:pt x="73571" y="0"/>
                  <a:pt x="164005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p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088893" y="447040"/>
            <a:ext cx="20142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1" sz="4800" b="1">
                <a:gradFill>
                  <a:gsLst>
                    <a:gs pos="6000">
                      <a:srgbClr val="61E9FF"/>
                    </a:gs>
                    <a:gs pos="40000">
                      <a:srgbClr val="2A83FF"/>
                    </a:gs>
                    <a:gs pos="81000">
                      <a:schemeClr val="tx2"/>
                    </a:gs>
                  </a:gsLst>
                  <a:lin ang="4800000" scaled="0"/>
                </a:gra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zh-CN" altLang="en-US" sz="3600" dirty="0">
                <a:solidFill>
                  <a:schemeClr val="bg1"/>
                </a:solidFill>
              </a:rPr>
              <a:t>落地</a:t>
            </a:r>
            <a:r>
              <a:rPr lang="zh-CN" altLang="en-US" sz="3600" dirty="0">
                <a:solidFill>
                  <a:schemeClr val="bg1"/>
                </a:solidFill>
              </a:rPr>
              <a:t>场景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09040" y="4465955"/>
            <a:ext cx="10264140" cy="17811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公司内部目前的业务有小拉出行、货拉拉、LaLaMove、跑腿等多业务线，</a:t>
            </a:r>
            <a:endParaRPr kumimoji="1" lang="zh-CN" altLang="en-US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同时还区分国内和海外多DC环境，整体业务数据量达到 TB～PB 级别，</a:t>
            </a:r>
            <a:endParaRPr kumimoji="1" lang="zh-CN" altLang="en-US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目前已经接入的已经有实时看板、云台、 kepler、 BI 报表、Monitor 、交易</a:t>
            </a:r>
            <a:r>
              <a:rPr kumimoji="1" lang="en-US" altLang="zh-CN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2.0</a:t>
            </a:r>
            <a:r>
              <a:rPr kumimoji="1" lang="zh-CN" altLang="en-US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等业务，</a:t>
            </a:r>
            <a:endParaRPr kumimoji="1" lang="zh-CN" altLang="en-US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实现数据订阅链路的“</a:t>
            </a:r>
            <a:r>
              <a:rPr kumimoji="1" lang="zh-CN" altLang="en-US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以旧焕新</a:t>
            </a:r>
            <a:r>
              <a:rPr kumimoji="1" lang="zh-CN" altLang="en-US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”</a:t>
            </a:r>
            <a:r>
              <a:rPr kumimoji="1" lang="en-US" altLang="zh-CN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，</a:t>
            </a:r>
            <a:r>
              <a:rPr kumimoji="1" lang="zh-CN" altLang="en-US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后续将持续推进老链路替换工作</a:t>
            </a:r>
            <a:r>
              <a:rPr kumimoji="1" lang="en-US" altLang="zh-CN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，</a:t>
            </a:r>
            <a:r>
              <a:rPr kumimoji="1" lang="zh-CN" altLang="en-US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完成最终平台化工程</a:t>
            </a:r>
            <a:r>
              <a:rPr kumimoji="1" lang="zh-CN" altLang="en-US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建设</a:t>
            </a:r>
            <a:endParaRPr kumimoji="1" lang="zh-CN" altLang="en-US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pic>
        <p:nvPicPr>
          <p:cNvPr id="6" name="图片 5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09040" y="1365250"/>
            <a:ext cx="9097645" cy="30137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4955225" y="893445"/>
            <a:ext cx="247205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1" sz="4800" b="1">
                <a:gradFill>
                  <a:gsLst>
                    <a:gs pos="6000">
                      <a:srgbClr val="61E9FF"/>
                    </a:gs>
                    <a:gs pos="40000">
                      <a:srgbClr val="2A83FF"/>
                    </a:gs>
                    <a:gs pos="81000">
                      <a:schemeClr val="tx2"/>
                    </a:gs>
                  </a:gsLst>
                  <a:lin ang="4800000" scaled="0"/>
                </a:gra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zh-CN" altLang="en-US" sz="3600" dirty="0">
                <a:solidFill>
                  <a:schemeClr val="bg1"/>
                </a:solidFill>
              </a:rPr>
              <a:t>稳定性</a:t>
            </a:r>
            <a:r>
              <a:rPr lang="zh-CN" altLang="en-US" sz="3600" dirty="0">
                <a:solidFill>
                  <a:schemeClr val="bg1"/>
                </a:solidFill>
              </a:rPr>
              <a:t>建设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3465" y="1748155"/>
            <a:ext cx="7051040" cy="383857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8186420" y="1657350"/>
            <a:ext cx="2814320" cy="4021455"/>
          </a:xfrm>
          <a:prstGeom prst="rect">
            <a:avLst/>
          </a:prstGeom>
          <a:noFill/>
        </p:spPr>
        <p:txBody>
          <a:bodyPr wrap="square" rtlCol="0">
            <a:normAutofit fontScale="50000"/>
          </a:bodyPr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endParaRPr kumimoji="1" lang="en-US" altLang="zh-CN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应用层直接提供给飞流任务和多方业务使用</a:t>
            </a:r>
            <a:endParaRPr kumimoji="1" lang="en-US" altLang="zh-CN" sz="35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平台适配能力上面我们对配置化、感知、协议、SDK等做了适配</a:t>
            </a:r>
            <a:endParaRPr kumimoji="1" lang="en-US" altLang="zh-CN" sz="35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稳定性方面做了限流、HA、血缘、性能验证等多方面测试和改进</a:t>
            </a:r>
            <a:endParaRPr kumimoji="1" lang="en-US" altLang="zh-CN" sz="35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4173223" y="447040"/>
            <a:ext cx="38455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1" sz="4800" b="1">
                <a:gradFill>
                  <a:gsLst>
                    <a:gs pos="6000">
                      <a:srgbClr val="61E9FF"/>
                    </a:gs>
                    <a:gs pos="40000">
                      <a:srgbClr val="2A83FF"/>
                    </a:gs>
                    <a:gs pos="81000">
                      <a:schemeClr val="tx2"/>
                    </a:gs>
                  </a:gsLst>
                  <a:lin ang="4800000" scaled="0"/>
                </a:gra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zh-CN" altLang="en-US" sz="3600" dirty="0">
                <a:solidFill>
                  <a:schemeClr val="bg1"/>
                </a:solidFill>
              </a:rPr>
              <a:t>数据采集入湖</a:t>
            </a:r>
            <a:r>
              <a:rPr lang="zh-CN" altLang="en-US" sz="3600" dirty="0">
                <a:solidFill>
                  <a:schemeClr val="bg1"/>
                </a:solidFill>
              </a:rPr>
              <a:t>场景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535430" y="3989070"/>
          <a:ext cx="9055100" cy="23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775"/>
                <a:gridCol w="2150745"/>
                <a:gridCol w="2376805"/>
                <a:gridCol w="2263775"/>
              </a:tblGrid>
              <a:tr h="41656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highlight>
                          <a:srgbClr val="000080"/>
                        </a:highlight>
                      </a:endParaRPr>
                    </a:p>
                  </a:txBody>
                  <a:tcPr>
                    <a:gradFill>
                      <a:gsLst>
                        <a:gs pos="0">
                          <a:srgbClr val="53639F"/>
                        </a:gs>
                        <a:gs pos="87000">
                          <a:srgbClr val="243563">
                            <a:alpha val="100000"/>
                          </a:srgbClr>
                        </a:gs>
                        <a:gs pos="75000">
                          <a:srgbClr val="2B3C6C">
                            <a:alpha val="100000"/>
                          </a:srgbClr>
                        </a:gs>
                        <a:gs pos="50000">
                          <a:srgbClr val="38497D">
                            <a:alpha val="100000"/>
                          </a:srgbClr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离线计算</a:t>
                      </a: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rgbClr val="53639F"/>
                        </a:gs>
                        <a:gs pos="87000">
                          <a:srgbClr val="243563">
                            <a:alpha val="100000"/>
                          </a:srgbClr>
                        </a:gs>
                        <a:gs pos="75000">
                          <a:srgbClr val="2B3C6C">
                            <a:alpha val="100000"/>
                          </a:srgbClr>
                        </a:gs>
                        <a:gs pos="50000">
                          <a:srgbClr val="38497D">
                            <a:alpha val="100000"/>
                          </a:srgbClr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增量计算</a:t>
                      </a: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rgbClr val="53639F"/>
                        </a:gs>
                        <a:gs pos="87000">
                          <a:srgbClr val="243563">
                            <a:alpha val="100000"/>
                          </a:srgbClr>
                        </a:gs>
                        <a:gs pos="75000">
                          <a:srgbClr val="2B3C6C">
                            <a:alpha val="100000"/>
                          </a:srgbClr>
                        </a:gs>
                        <a:gs pos="50000">
                          <a:srgbClr val="38497D">
                            <a:alpha val="100000"/>
                          </a:srgbClr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流计算</a:t>
                      </a: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rgbClr val="53639F"/>
                        </a:gs>
                        <a:gs pos="87000">
                          <a:srgbClr val="243563">
                            <a:alpha val="100000"/>
                          </a:srgbClr>
                        </a:gs>
                        <a:gs pos="75000">
                          <a:srgbClr val="2B3C6C">
                            <a:alpha val="100000"/>
                          </a:srgbClr>
                        </a:gs>
                        <a:gs pos="50000">
                          <a:srgbClr val="38497D">
                            <a:alpha val="100000"/>
                          </a:srgbClr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</a:tr>
              <a:tr h="7004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访问要求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高吞吐</a:t>
                      </a:r>
                      <a:r>
                        <a:rPr lang="en-US" altLang="zh-CN"/>
                        <a:t>，</a:t>
                      </a:r>
                      <a:r>
                        <a:rPr lang="zh-CN" altLang="en-US"/>
                        <a:t>低</a:t>
                      </a:r>
                      <a:r>
                        <a:rPr lang="zh-CN" altLang="en-US"/>
                        <a:t>响应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在延迟和吞吐获取</a:t>
                      </a:r>
                      <a:r>
                        <a:rPr lang="zh-CN" altLang="en-US"/>
                        <a:t>平衡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低延迟</a:t>
                      </a:r>
                      <a:r>
                        <a:rPr lang="en-US" altLang="zh-CN"/>
                        <a:t>，</a:t>
                      </a:r>
                      <a:r>
                        <a:rPr lang="zh-CN" altLang="en-US"/>
                        <a:t>高响应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</a:tr>
              <a:tr h="4165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访问</a:t>
                      </a:r>
                      <a:r>
                        <a:rPr lang="zh-CN" altLang="en-US"/>
                        <a:t>方式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文件</a:t>
                      </a:r>
                      <a:r>
                        <a:rPr lang="en-US" altLang="zh-CN"/>
                        <a:t>（</a:t>
                      </a:r>
                      <a:r>
                        <a:rPr lang="zh-CN" altLang="en-US"/>
                        <a:t>行列</a:t>
                      </a:r>
                      <a:r>
                        <a:rPr lang="en-US" altLang="zh-CN"/>
                        <a:t>）</a:t>
                      </a:r>
                      <a:r>
                        <a:rPr lang="zh-CN" altLang="en-US"/>
                        <a:t>读写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行列随机读写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记录级别</a:t>
                      </a:r>
                      <a:r>
                        <a:rPr lang="zh-CN" altLang="en-US"/>
                        <a:t>读写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</a:tr>
              <a:tr h="4171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存储</a:t>
                      </a:r>
                      <a:r>
                        <a:rPr lang="zh-CN" altLang="en-US"/>
                        <a:t>周期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长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r>
                        <a:rPr lang="zh-CN" altLang="en-US"/>
                        <a:t>长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短</a:t>
                      </a:r>
                      <a:r>
                        <a:rPr lang="en-US" altLang="zh-CN"/>
                        <a:t>（</a:t>
                      </a:r>
                      <a:r>
                        <a:rPr lang="zh-CN" altLang="en-US"/>
                        <a:t>一般</a:t>
                      </a:r>
                      <a:r>
                        <a:rPr lang="en-US" altLang="zh-CN"/>
                        <a:t>7</a:t>
                      </a:r>
                      <a:r>
                        <a:rPr lang="zh-CN" altLang="en-US"/>
                        <a:t>天</a:t>
                      </a:r>
                      <a:r>
                        <a:rPr lang="en-US" altLang="zh-CN"/>
                        <a:t>）</a:t>
                      </a:r>
                      <a:endParaRPr lang="en-US" altLang="zh-CN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</a:tr>
              <a:tr h="4165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</a:t>
                      </a:r>
                      <a:r>
                        <a:rPr lang="zh-CN" altLang="en-US"/>
                        <a:t>新鲜度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低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  <a:alpha val="88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535430" y="1657350"/>
            <a:ext cx="9055100" cy="1885950"/>
          </a:xfrm>
          <a:prstGeom prst="rect">
            <a:avLst/>
          </a:prstGeom>
          <a:noFill/>
        </p:spPr>
        <p:txBody>
          <a:bodyPr wrap="square" rtlCol="0">
            <a:normAutofit fontScale="60000"/>
          </a:bodyPr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endParaRPr kumimoji="1" lang="en-US" altLang="zh-CN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埋点数据上报</a:t>
            </a: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数据具备时效性要求低</a:t>
            </a: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非结构化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</a:t>
            </a:r>
            <a:endParaRPr kumimoji="1" lang="zh-CN" altLang="en-US" sz="35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CDC 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数据入湖分析</a:t>
            </a: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数据时效性要求高</a:t>
            </a: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结构化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</a:t>
            </a:r>
            <a:endParaRPr kumimoji="1" lang="zh-CN" altLang="en-US" sz="35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日志数据入湖存储</a:t>
            </a: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需要间接性统计和分析</a:t>
            </a:r>
            <a:r>
              <a:rPr kumimoji="1" lang="en-US" altLang="zh-CN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非结构化</a:t>
            </a:r>
            <a:r>
              <a:rPr kumimoji="1" lang="zh-CN" altLang="en-US" sz="35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</a:t>
            </a:r>
            <a:endParaRPr kumimoji="1" lang="zh-CN" altLang="en-US" sz="35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3813811" y="2961970"/>
            <a:ext cx="45643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CDC</a:t>
            </a:r>
            <a:r>
              <a:rPr kumimoji="1" lang="zh-CN" altLang="en-US" sz="48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入湖新</a:t>
            </a:r>
            <a:r>
              <a:rPr kumimoji="1" lang="zh-CN" altLang="en-US" sz="48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体验</a:t>
            </a:r>
            <a:endParaRPr kumimoji="1" lang="zh-CN" altLang="en-US" sz="4800" b="1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099559" y="4042952"/>
            <a:ext cx="399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新特性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、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碎片文件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、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数据文件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优化</a:t>
            </a:r>
            <a:endParaRPr kumimoji="1" lang="zh-CN" altLang="en-US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40744" y="3825111"/>
            <a:ext cx="510511" cy="446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494655" y="1872652"/>
            <a:ext cx="128270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1" sz="11500" b="1">
                <a:gradFill flip="none" rotWithShape="1">
                  <a:gsLst>
                    <a:gs pos="15000">
                      <a:schemeClr val="bg1">
                        <a:alpha val="35000"/>
                      </a:schemeClr>
                    </a:gs>
                    <a:gs pos="75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altLang="zh-CN" sz="7200" dirty="0">
                <a:gradFill flip="none" rotWithShape="1">
                  <a:gsLst>
                    <a:gs pos="15000">
                      <a:schemeClr val="bg2"/>
                    </a:gs>
                    <a:gs pos="75000">
                      <a:schemeClr val="bg2">
                        <a:alpha val="0"/>
                      </a:schemeClr>
                    </a:gs>
                  </a:gsLst>
                  <a:lin ang="5400000" scaled="0"/>
                  <a:tileRect/>
                </a:gradFill>
              </a:rPr>
              <a:t>02</a:t>
            </a:r>
            <a:endParaRPr lang="zh-CN" altLang="en-US" sz="7200" dirty="0">
              <a:gradFill flip="none" rotWithShape="1">
                <a:gsLst>
                  <a:gs pos="15000">
                    <a:schemeClr val="bg2"/>
                  </a:gs>
                  <a:gs pos="75000">
                    <a:schemeClr val="bg2">
                      <a:alpha val="0"/>
                    </a:schemeClr>
                  </a:gs>
                </a:gsLst>
                <a:lin ang="5400000" scaled="0"/>
                <a:tileRect/>
              </a:gra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555437" y="792480"/>
            <a:ext cx="638111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CDC 3.0 YAML With </a:t>
            </a:r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Paimon</a:t>
            </a:r>
            <a:endParaRPr lang="en-US" altLang="zh-CN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1556067" y="5598067"/>
            <a:ext cx="82835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Tips：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目前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 iceberg 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正在开展中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使用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 iceberg flink connector v2 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开发</a:t>
            </a:r>
            <a:endParaRPr kumimoji="1" lang="zh-CN" altLang="en-US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55750" y="1610995"/>
            <a:ext cx="5359400" cy="381381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7107555" y="1693545"/>
            <a:ext cx="3734435" cy="364172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en-US" altLang="zh-CN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Route</a:t>
            </a:r>
            <a:endParaRPr kumimoji="1" lang="en-US" altLang="zh-CN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en-US" altLang="zh-CN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Source / Sink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Transform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Pipeline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Schema Evolution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293817" y="838835"/>
            <a:ext cx="687006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数据入湖困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痛点</a:t>
            </a:r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-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文件碎片化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严重</a:t>
            </a:r>
            <a:endParaRPr lang="zh-CN" altLang="en-US" dirty="0"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3" name="图片 2" descr="file-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130" y="1638935"/>
            <a:ext cx="9014460" cy="331851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276349" y="5102767"/>
            <a:ext cx="903224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Tips：Flink </a:t>
            </a: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每次进行</a:t>
            </a: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Checkpoint</a:t>
            </a: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时候</a:t>
            </a: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二阶段提交把元数据和数据本身写入到文件系统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Paimon </a:t>
            </a: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会通过自动优化机制定期进行小文件自动合并</a:t>
            </a: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合并是黑盒</a:t>
            </a: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操作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523052" y="838835"/>
            <a:ext cx="601154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pPr algn="ctr"/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数据入湖</a:t>
            </a:r>
            <a:r>
              <a:rPr lang="zh-CN" altLang="en-US" dirty="0">
                <a:latin typeface="Space Grotesk" pitchFamily="2" charset="0"/>
                <a:cs typeface="Space Grotesk" pitchFamily="2" charset="0"/>
                <a:sym typeface="+mn-ea"/>
              </a:rPr>
              <a:t>痛点</a:t>
            </a:r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-Schema 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演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进</a:t>
            </a:r>
            <a:endParaRPr lang="zh-CN" altLang="en-US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2"/>
            </p:custDataLst>
          </p:nvPr>
        </p:nvSpPr>
        <p:spPr>
          <a:xfrm>
            <a:off x="1294130" y="2322830"/>
            <a:ext cx="4136390" cy="241427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添加的列不会去读现有列上的数据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删除一个列不会影响其他列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更新一个列不会影响其他列的值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更新列顺序不会影响对应列的值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grpSp>
        <p:nvGrpSpPr>
          <p:cNvPr id="144" name="群組 81"/>
          <p:cNvGrpSpPr/>
          <p:nvPr/>
        </p:nvGrpSpPr>
        <p:grpSpPr>
          <a:xfrm>
            <a:off x="6096000" y="1714500"/>
            <a:ext cx="4847590" cy="4218940"/>
            <a:chOff x="1583311" y="3168903"/>
            <a:chExt cx="10485729" cy="7791903"/>
          </a:xfrm>
        </p:grpSpPr>
        <p:sp>
          <p:nvSpPr>
            <p:cNvPr id="145" name="Data Source"/>
            <p:cNvSpPr/>
            <p:nvPr>
              <p:custDataLst>
                <p:tags r:id="rId3"/>
              </p:custDataLst>
            </p:nvPr>
          </p:nvSpPr>
          <p:spPr>
            <a:xfrm>
              <a:off x="1583311" y="10224205"/>
              <a:ext cx="2425127" cy="736601"/>
            </a:xfrm>
            <a:prstGeom prst="roundRect">
              <a:avLst>
                <a:gd name="adj" fmla="val 23998"/>
              </a:avLst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algn="ctr" defTabSz="457200">
                <a:spcBef>
                  <a:spcPts val="0"/>
                </a:spcBef>
                <a:defRPr sz="2700">
                  <a:solidFill>
                    <a:schemeClr val="accent5">
                      <a:hueOff val="128995"/>
                      <a:satOff val="10158"/>
                      <a:lumOff val="-13817"/>
                    </a:schemeClr>
                  </a:solidFill>
                  <a:latin typeface="Avenir Next Medium" panose="020B0803020202020204"/>
                  <a:ea typeface="Avenir Next Medium" panose="020B0803020202020204"/>
                  <a:cs typeface="Avenir Next Medium" panose="020B0803020202020204"/>
                  <a:sym typeface="Avenir Next Medium" panose="020B0803020202020204"/>
                </a:defRPr>
              </a:lvl1pPr>
            </a:lstStyle>
            <a:p>
              <a:pPr defTabSz="1828800" hangingPunct="1"/>
              <a:r>
                <a:rPr sz="1200" kern="1200" dirty="0">
                  <a:solidFill>
                    <a:prstClr val="white"/>
                  </a:solidFill>
                  <a:latin typeface="Alibaba PuHuiTi H" pitchFamily="18" charset="-122"/>
                  <a:ea typeface="Alibaba PuHuiTi H" pitchFamily="18" charset="-122"/>
                  <a:cs typeface="Alibaba PuHuiTi H" pitchFamily="18" charset="-122"/>
                </a:rPr>
                <a:t>Data Source</a:t>
              </a:r>
              <a:endParaRPr sz="1200" kern="1200" dirty="0">
                <a:solidFill>
                  <a:prstClr val="white"/>
                </a:solidFill>
                <a:latin typeface="Alibaba PuHuiTi H" pitchFamily="18" charset="-122"/>
                <a:ea typeface="Alibaba PuHuiTi H" pitchFamily="18" charset="-122"/>
                <a:cs typeface="Alibaba PuHuiTi H" pitchFamily="18" charset="-122"/>
              </a:endParaRPr>
            </a:p>
          </p:txBody>
        </p:sp>
        <p:sp>
          <p:nvSpPr>
            <p:cNvPr id="146" name="Schema Operator"/>
            <p:cNvSpPr/>
            <p:nvPr>
              <p:custDataLst>
                <p:tags r:id="rId4"/>
              </p:custDataLst>
            </p:nvPr>
          </p:nvSpPr>
          <p:spPr>
            <a:xfrm>
              <a:off x="5155611" y="10224205"/>
              <a:ext cx="3576265" cy="736601"/>
            </a:xfrm>
            <a:prstGeom prst="roundRect">
              <a:avLst>
                <a:gd name="adj" fmla="val 23998"/>
              </a:avLst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algn="ctr" defTabSz="457200">
                <a:spcBef>
                  <a:spcPts val="0"/>
                </a:spcBef>
                <a:defRPr sz="2700">
                  <a:solidFill>
                    <a:schemeClr val="accent5">
                      <a:hueOff val="128995"/>
                      <a:satOff val="10158"/>
                      <a:lumOff val="-13817"/>
                    </a:schemeClr>
                  </a:solidFill>
                  <a:latin typeface="Avenir Next Medium" panose="020B0803020202020204"/>
                  <a:ea typeface="Avenir Next Medium" panose="020B0803020202020204"/>
                  <a:cs typeface="Avenir Next Medium" panose="020B0803020202020204"/>
                  <a:sym typeface="Avenir Next Medium" panose="020B0803020202020204"/>
                </a:defRPr>
              </a:lvl1pPr>
            </a:lstStyle>
            <a:p>
              <a:pPr defTabSz="1828800" hangingPunct="1"/>
              <a:r>
                <a:rPr sz="1200" kern="1200" dirty="0">
                  <a:solidFill>
                    <a:prstClr val="white"/>
                  </a:solidFill>
                  <a:latin typeface="Alibaba PuHuiTi H" pitchFamily="18" charset="-122"/>
                  <a:ea typeface="Alibaba PuHuiTi H" pitchFamily="18" charset="-122"/>
                  <a:cs typeface="Alibaba PuHuiTi H" pitchFamily="18" charset="-122"/>
                </a:rPr>
                <a:t>Schema Operator</a:t>
              </a:r>
              <a:endParaRPr sz="1200" kern="1200" dirty="0">
                <a:solidFill>
                  <a:prstClr val="white"/>
                </a:solidFill>
                <a:latin typeface="Alibaba PuHuiTi H" pitchFamily="18" charset="-122"/>
                <a:ea typeface="Alibaba PuHuiTi H" pitchFamily="18" charset="-122"/>
                <a:cs typeface="Alibaba PuHuiTi H" pitchFamily="18" charset="-122"/>
              </a:endParaRPr>
            </a:p>
          </p:txBody>
        </p:sp>
        <p:sp>
          <p:nvSpPr>
            <p:cNvPr id="147" name="Data Sink"/>
            <p:cNvSpPr/>
            <p:nvPr>
              <p:custDataLst>
                <p:tags r:id="rId5"/>
              </p:custDataLst>
            </p:nvPr>
          </p:nvSpPr>
          <p:spPr>
            <a:xfrm>
              <a:off x="9643914" y="10224205"/>
              <a:ext cx="2425126" cy="736601"/>
            </a:xfrm>
            <a:prstGeom prst="roundRect">
              <a:avLst>
                <a:gd name="adj" fmla="val 23998"/>
              </a:avLst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algn="ctr" defTabSz="457200">
                <a:spcBef>
                  <a:spcPts val="0"/>
                </a:spcBef>
                <a:defRPr sz="2700">
                  <a:solidFill>
                    <a:schemeClr val="accent5">
                      <a:hueOff val="128995"/>
                      <a:satOff val="10158"/>
                      <a:lumOff val="-13817"/>
                    </a:schemeClr>
                  </a:solidFill>
                  <a:latin typeface="Avenir Next Medium" panose="020B0803020202020204"/>
                  <a:ea typeface="Avenir Next Medium" panose="020B0803020202020204"/>
                  <a:cs typeface="Avenir Next Medium" panose="020B0803020202020204"/>
                  <a:sym typeface="Avenir Next Medium" panose="020B0803020202020204"/>
                </a:defRPr>
              </a:lvl1pPr>
            </a:lstStyle>
            <a:p>
              <a:pPr defTabSz="1828800" hangingPunct="1"/>
              <a:r>
                <a:rPr sz="1200" kern="1200" dirty="0">
                  <a:solidFill>
                    <a:prstClr val="white"/>
                  </a:solidFill>
                  <a:latin typeface="Alibaba PuHuiTi H" pitchFamily="18" charset="-122"/>
                  <a:ea typeface="Alibaba PuHuiTi H" pitchFamily="18" charset="-122"/>
                  <a:cs typeface="Alibaba PuHuiTi H" pitchFamily="18" charset="-122"/>
                </a:rPr>
                <a:t>Data Sink</a:t>
              </a:r>
              <a:endParaRPr sz="1200" kern="1200" dirty="0">
                <a:solidFill>
                  <a:prstClr val="white"/>
                </a:solidFill>
                <a:latin typeface="Alibaba PuHuiTi H" pitchFamily="18" charset="-122"/>
                <a:ea typeface="Alibaba PuHuiTi H" pitchFamily="18" charset="-122"/>
                <a:cs typeface="Alibaba PuHuiTi H" pitchFamily="18" charset="-122"/>
              </a:endParaRPr>
            </a:p>
          </p:txBody>
        </p:sp>
        <p:sp>
          <p:nvSpPr>
            <p:cNvPr id="148" name="圓形"/>
            <p:cNvSpPr/>
            <p:nvPr>
              <p:custDataLst>
                <p:tags r:id="rId6"/>
              </p:custDataLst>
            </p:nvPr>
          </p:nvSpPr>
          <p:spPr>
            <a:xfrm>
              <a:off x="2476687" y="8580401"/>
              <a:ext cx="638375" cy="638375"/>
            </a:xfrm>
            <a:prstGeom prst="ellipse">
              <a:avLst/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457200">
                <a:spcBef>
                  <a:spcPts val="0"/>
                </a:spcBef>
                <a:defRPr sz="3200">
                  <a:latin typeface="Avenir Next Medium" panose="020B0803020202020204"/>
                  <a:ea typeface="Avenir Next Medium" panose="020B0803020202020204"/>
                  <a:cs typeface="Avenir Next Medium" panose="020B0803020202020204"/>
                  <a:sym typeface="Avenir Next Medium" panose="020B0803020202020204"/>
                </a:defRPr>
              </a:pPr>
            </a:p>
          </p:txBody>
        </p:sp>
        <p:sp>
          <p:nvSpPr>
            <p:cNvPr id="149" name="圓形"/>
            <p:cNvSpPr/>
            <p:nvPr>
              <p:custDataLst>
                <p:tags r:id="rId7"/>
              </p:custDataLst>
            </p:nvPr>
          </p:nvSpPr>
          <p:spPr>
            <a:xfrm>
              <a:off x="6506988" y="8580401"/>
              <a:ext cx="638376" cy="638375"/>
            </a:xfrm>
            <a:prstGeom prst="ellipse">
              <a:avLst/>
            </a:prstGeom>
            <a:solidFill>
              <a:schemeClr val="accent2">
                <a:hueOff val="63096"/>
                <a:satOff val="2685"/>
                <a:lumOff val="-9337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457200">
                <a:spcBef>
                  <a:spcPts val="0"/>
                </a:spcBef>
                <a:defRPr sz="3200">
                  <a:latin typeface="Avenir Next Medium" panose="020B0803020202020204"/>
                  <a:ea typeface="Avenir Next Medium" panose="020B0803020202020204"/>
                  <a:cs typeface="Avenir Next Medium" panose="020B0803020202020204"/>
                  <a:sym typeface="Avenir Next Medium" panose="020B0803020202020204"/>
                </a:defRPr>
              </a:pPr>
            </a:p>
          </p:txBody>
        </p:sp>
        <p:cxnSp>
          <p:nvCxnSpPr>
            <p:cNvPr id="150" name="連接線"/>
            <p:cNvCxnSpPr>
              <a:stCxn id="148" idx="6"/>
              <a:endCxn id="149" idx="2"/>
            </p:cNvCxnSpPr>
            <p:nvPr>
              <p:custDataLst>
                <p:tags r:id="rId8"/>
              </p:custDataLst>
            </p:nvPr>
          </p:nvCxnSpPr>
          <p:spPr>
            <a:xfrm>
              <a:off x="3115062" y="8899589"/>
              <a:ext cx="3391926" cy="0"/>
            </a:xfrm>
            <a:prstGeom prst="straightConnector1">
              <a:avLst/>
            </a:prstGeom>
            <a:ln w="50800">
              <a:solidFill>
                <a:schemeClr val="bg1"/>
              </a:solidFill>
              <a:miter lim="400000"/>
              <a:tailEnd type="stealth"/>
            </a:ln>
          </p:spPr>
        </p:cxnSp>
        <p:grpSp>
          <p:nvGrpSpPr>
            <p:cNvPr id="151" name="群組"/>
            <p:cNvGrpSpPr/>
            <p:nvPr/>
          </p:nvGrpSpPr>
          <p:grpSpPr>
            <a:xfrm>
              <a:off x="3778691" y="8750904"/>
              <a:ext cx="2064669" cy="297369"/>
              <a:chOff x="0" y="0"/>
              <a:chExt cx="2064668" cy="297368"/>
            </a:xfrm>
          </p:grpSpPr>
          <p:sp>
            <p:nvSpPr>
              <p:cNvPr id="152" name="矩形 18"/>
              <p:cNvSpPr/>
              <p:nvPr>
                <p:custDataLst>
                  <p:tags r:id="rId9"/>
                </p:custDataLst>
              </p:nvPr>
            </p:nvSpPr>
            <p:spPr>
              <a:xfrm>
                <a:off x="1970708" y="0"/>
                <a:ext cx="93961" cy="297369"/>
              </a:xfrm>
              <a:prstGeom prst="rect">
                <a:avLst/>
              </a:prstGeom>
              <a:solidFill>
                <a:srgbClr val="16E7CF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2438400">
                  <a:lnSpc>
                    <a:spcPct val="90000"/>
                  </a:lnSpc>
                  <a:spcBef>
                    <a:spcPts val="4500"/>
                  </a:spcBef>
                  <a:defRPr sz="400">
                    <a:solidFill>
                      <a:srgbClr val="FFFFFF"/>
                    </a:solidFill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defRPr>
                </a:pPr>
              </a:p>
            </p:txBody>
          </p:sp>
          <p:sp>
            <p:nvSpPr>
              <p:cNvPr id="153" name="矩形 20"/>
              <p:cNvSpPr/>
              <p:nvPr>
                <p:custDataLst>
                  <p:tags r:id="rId10"/>
                </p:custDataLst>
              </p:nvPr>
            </p:nvSpPr>
            <p:spPr>
              <a:xfrm>
                <a:off x="1313805" y="0"/>
                <a:ext cx="93959" cy="297369"/>
              </a:xfrm>
              <a:prstGeom prst="rect">
                <a:avLst/>
              </a:prstGeom>
              <a:solidFill>
                <a:srgbClr val="FF42A1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2438400">
                  <a:lnSpc>
                    <a:spcPct val="90000"/>
                  </a:lnSpc>
                  <a:spcBef>
                    <a:spcPts val="4500"/>
                  </a:spcBef>
                  <a:defRPr sz="400">
                    <a:solidFill>
                      <a:srgbClr val="FFFFFF"/>
                    </a:solidFill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defRPr>
                </a:pPr>
              </a:p>
            </p:txBody>
          </p:sp>
          <p:sp>
            <p:nvSpPr>
              <p:cNvPr id="154" name="矩形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656902" y="0"/>
                <a:ext cx="93960" cy="297369"/>
              </a:xfrm>
              <a:prstGeom prst="rect">
                <a:avLst/>
              </a:prstGeom>
              <a:solidFill>
                <a:srgbClr val="FF42A1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2438400">
                  <a:lnSpc>
                    <a:spcPct val="90000"/>
                  </a:lnSpc>
                  <a:spcBef>
                    <a:spcPts val="4500"/>
                  </a:spcBef>
                  <a:defRPr sz="400">
                    <a:solidFill>
                      <a:srgbClr val="FFFFFF"/>
                    </a:solidFill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defRPr>
                </a:pPr>
              </a:p>
            </p:txBody>
          </p:sp>
          <p:sp>
            <p:nvSpPr>
              <p:cNvPr id="155" name="矩形 20"/>
              <p:cNvSpPr/>
              <p:nvPr>
                <p:custDataLst>
                  <p:tags r:id="rId12"/>
                </p:custDataLst>
              </p:nvPr>
            </p:nvSpPr>
            <p:spPr>
              <a:xfrm>
                <a:off x="0" y="0"/>
                <a:ext cx="93959" cy="297369"/>
              </a:xfrm>
              <a:prstGeom prst="rect">
                <a:avLst/>
              </a:prstGeom>
              <a:solidFill>
                <a:srgbClr val="FF42A1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2438400">
                  <a:lnSpc>
                    <a:spcPct val="90000"/>
                  </a:lnSpc>
                  <a:spcBef>
                    <a:spcPts val="4500"/>
                  </a:spcBef>
                  <a:defRPr sz="400">
                    <a:solidFill>
                      <a:srgbClr val="FFFFFF"/>
                    </a:solidFill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defRPr>
                </a:pPr>
              </a:p>
            </p:txBody>
          </p:sp>
        </p:grpSp>
        <p:sp>
          <p:nvSpPr>
            <p:cNvPr id="156" name="SchemaRegistry"/>
            <p:cNvSpPr/>
            <p:nvPr>
              <p:custDataLst>
                <p:tags r:id="rId13"/>
              </p:custDataLst>
            </p:nvPr>
          </p:nvSpPr>
          <p:spPr>
            <a:xfrm>
              <a:off x="4437561" y="3168903"/>
              <a:ext cx="4777229" cy="4695782"/>
            </a:xfrm>
            <a:prstGeom prst="roundRect">
              <a:avLst>
                <a:gd name="adj" fmla="val 4611"/>
              </a:avLst>
            </a:prstGeom>
            <a:solidFill>
              <a:srgbClr val="25928F">
                <a:alpha val="62000"/>
              </a:srgbClr>
            </a:solidFill>
            <a:ln>
              <a:solidFill>
                <a:srgbClr val="35C9C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0" hangingPunct="1"/>
              <a:endParaRPr sz="1400" kern="1200" dirty="0">
                <a:solidFill>
                  <a:prstClr val="white"/>
                </a:solidFill>
                <a:latin typeface="等线" panose="020F0502020204030204"/>
              </a:endParaRPr>
            </a:p>
            <a:p>
              <a:pPr defTabSz="1828800" hangingPunct="1"/>
              <a:r>
                <a:rPr sz="1400" kern="1200" dirty="0" err="1">
                  <a:solidFill>
                    <a:prstClr val="white"/>
                  </a:solidFill>
                  <a:latin typeface="Alibaba PuHuiTi H" pitchFamily="18" charset="-122"/>
                  <a:ea typeface="Alibaba PuHuiTi H" pitchFamily="18" charset="-122"/>
                  <a:cs typeface="Alibaba PuHuiTi H" pitchFamily="18" charset="-122"/>
                </a:rPr>
                <a:t>SchemaRegistry</a:t>
              </a:r>
              <a:endParaRPr sz="1400" kern="1200" dirty="0">
                <a:solidFill>
                  <a:prstClr val="white"/>
                </a:solidFill>
                <a:latin typeface="Alibaba PuHuiTi H" pitchFamily="18" charset="-122"/>
                <a:ea typeface="Alibaba PuHuiTi H" pitchFamily="18" charset="-122"/>
                <a:cs typeface="Alibaba PuHuiTi H" pitchFamily="18" charset="-122"/>
              </a:endParaRPr>
            </a:p>
          </p:txBody>
        </p:sp>
        <p:pic>
          <p:nvPicPr>
            <p:cNvPr id="157" name="貼上的影片.png" descr="貼上的影片.png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lum bright="70000" contrast="-70000"/>
            </a:blip>
            <a:stretch>
              <a:fillRect/>
            </a:stretch>
          </p:blipFill>
          <p:spPr>
            <a:xfrm>
              <a:off x="10400169" y="4277174"/>
              <a:ext cx="1031541" cy="1496458"/>
            </a:xfrm>
            <a:prstGeom prst="rect">
              <a:avLst/>
            </a:prstGeom>
            <a:ln w="12700">
              <a:noFill/>
              <a:miter lim="400000"/>
              <a:headEnd/>
              <a:tailEnd/>
            </a:ln>
          </p:spPr>
        </p:pic>
        <p:sp>
          <p:nvSpPr>
            <p:cNvPr id="158" name="連接線"/>
            <p:cNvSpPr/>
            <p:nvPr>
              <p:custDataLst>
                <p:tags r:id="rId16"/>
              </p:custDataLst>
            </p:nvPr>
          </p:nvSpPr>
          <p:spPr>
            <a:xfrm>
              <a:off x="9299874" y="5065536"/>
              <a:ext cx="113122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ln w="50800">
              <a:solidFill>
                <a:schemeClr val="bg1"/>
              </a:solidFill>
              <a:miter lim="400000"/>
              <a:tailEnd type="stealth"/>
            </a:ln>
          </p:spPr>
          <p:txBody>
            <a:bodyPr/>
            <a:lstStyle/>
            <a:p/>
          </p:txBody>
        </p:sp>
        <p:cxnSp>
          <p:nvCxnSpPr>
            <p:cNvPr id="159" name="連接線"/>
            <p:cNvCxnSpPr>
              <a:stCxn id="149" idx="0"/>
              <a:endCxn id="156" idx="2"/>
            </p:cNvCxnSpPr>
            <p:nvPr>
              <p:custDataLst>
                <p:tags r:id="rId17"/>
              </p:custDataLst>
            </p:nvPr>
          </p:nvCxnSpPr>
          <p:spPr>
            <a:xfrm flipH="1" flipV="1">
              <a:off x="6826175" y="7865010"/>
              <a:ext cx="1374" cy="715391"/>
            </a:xfrm>
            <a:prstGeom prst="straightConnector1">
              <a:avLst/>
            </a:prstGeom>
            <a:ln w="50800">
              <a:solidFill>
                <a:schemeClr val="bg1"/>
              </a:solidFill>
              <a:miter lim="400000"/>
              <a:headEnd type="stealth"/>
              <a:tailEnd type="stealth"/>
            </a:ln>
          </p:spPr>
        </p:cxnSp>
        <p:grpSp>
          <p:nvGrpSpPr>
            <p:cNvPr id="160" name="群組"/>
            <p:cNvGrpSpPr/>
            <p:nvPr/>
          </p:nvGrpSpPr>
          <p:grpSpPr>
            <a:xfrm>
              <a:off x="4920475" y="4124182"/>
              <a:ext cx="3811401" cy="1196664"/>
              <a:chOff x="0" y="0"/>
              <a:chExt cx="3811399" cy="1196663"/>
            </a:xfrm>
          </p:grpSpPr>
          <p:sp>
            <p:nvSpPr>
              <p:cNvPr id="161" name="Table"/>
              <p:cNvSpPr/>
              <p:nvPr>
                <p:custDataLst>
                  <p:tags r:id="rId18"/>
                </p:custDataLst>
              </p:nvPr>
            </p:nvSpPr>
            <p:spPr>
              <a:xfrm>
                <a:off x="0" y="0"/>
                <a:ext cx="1885272" cy="651148"/>
              </a:xfrm>
              <a:prstGeom prst="rect">
                <a:avLst/>
              </a:prstGeom>
              <a:solidFill>
                <a:schemeClr val="accent1">
                  <a:lumOff val="13575"/>
                </a:schemeClr>
              </a:solidFill>
              <a:ln w="38100" cap="flat">
                <a:solidFill>
                  <a:schemeClr val="accent1">
                    <a:lumOff val="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457200"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Avenir Next Medium" panose="020B0803020202020204"/>
                    <a:ea typeface="Avenir Next Medium" panose="020B0803020202020204"/>
                    <a:cs typeface="Avenir Next Medium" panose="020B0803020202020204"/>
                    <a:sym typeface="Avenir Next Medium" panose="020B0803020202020204"/>
                  </a:defRPr>
                </a:lvl1pPr>
              </a:lstStyle>
              <a:p>
                <a:r>
                  <a:rPr sz="1400"/>
                  <a:t>Table</a:t>
                </a:r>
                <a:endParaRPr sz="1400"/>
              </a:p>
            </p:txBody>
          </p:sp>
          <p:sp>
            <p:nvSpPr>
              <p:cNvPr id="162" name="Upstream…"/>
              <p:cNvSpPr/>
              <p:nvPr>
                <p:custDataLst>
                  <p:tags r:id="rId19"/>
                </p:custDataLst>
              </p:nvPr>
            </p:nvSpPr>
            <p:spPr>
              <a:xfrm>
                <a:off x="1784830" y="0"/>
                <a:ext cx="2026570" cy="651148"/>
              </a:xfrm>
              <a:prstGeom prst="rect">
                <a:avLst/>
              </a:prstGeom>
              <a:solidFill>
                <a:schemeClr val="accent1">
                  <a:lumOff val="13575"/>
                </a:schemeClr>
              </a:solidFill>
              <a:ln w="38100" cap="flat">
                <a:solidFill>
                  <a:schemeClr val="accent1">
                    <a:lumOff val="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57200">
                  <a:lnSpc>
                    <a:spcPct val="80000"/>
                  </a:lnSpc>
                  <a:spcBef>
                    <a:spcPts val="0"/>
                  </a:spcBef>
                  <a:defRPr sz="1700">
                    <a:solidFill>
                      <a:srgbClr val="FFFFFF"/>
                    </a:solidFill>
                    <a:latin typeface="Avenir Next Medium" panose="020B0803020202020204"/>
                    <a:ea typeface="Avenir Next Medium" panose="020B0803020202020204"/>
                    <a:cs typeface="Avenir Next Medium" panose="020B0803020202020204"/>
                    <a:sym typeface="Avenir Next Medium" panose="020B0803020202020204"/>
                  </a:defRPr>
                </a:pPr>
                <a:r>
                  <a:rPr sz="1200"/>
                  <a:t>Upstream</a:t>
                </a:r>
                <a:endParaRPr sz="1200"/>
              </a:p>
              <a:p>
                <a:pPr algn="ctr" defTabSz="457200">
                  <a:lnSpc>
                    <a:spcPct val="80000"/>
                  </a:lnSpc>
                  <a:spcBef>
                    <a:spcPts val="0"/>
                  </a:spcBef>
                  <a:defRPr sz="1700">
                    <a:solidFill>
                      <a:srgbClr val="FFFFFF"/>
                    </a:solidFill>
                    <a:latin typeface="Avenir Next Medium" panose="020B0803020202020204"/>
                    <a:ea typeface="Avenir Next Medium" panose="020B0803020202020204"/>
                    <a:cs typeface="Avenir Next Medium" panose="020B0803020202020204"/>
                    <a:sym typeface="Avenir Next Medium" panose="020B0803020202020204"/>
                  </a:defRPr>
                </a:pPr>
                <a:r>
                  <a:rPr sz="1200"/>
                  <a:t>Schema</a:t>
                </a:r>
                <a:endParaRPr sz="1200"/>
              </a:p>
            </p:txBody>
          </p:sp>
          <p:grpSp>
            <p:nvGrpSpPr>
              <p:cNvPr id="163" name="群組"/>
              <p:cNvGrpSpPr/>
              <p:nvPr/>
            </p:nvGrpSpPr>
            <p:grpSpPr>
              <a:xfrm>
                <a:off x="0" y="678611"/>
                <a:ext cx="3811400" cy="518053"/>
                <a:chOff x="0" y="0"/>
                <a:chExt cx="3811399" cy="518051"/>
              </a:xfrm>
            </p:grpSpPr>
            <p:sp>
              <p:nvSpPr>
                <p:cNvPr id="164" name="db.table1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0" y="0"/>
                  <a:ext cx="1910810" cy="518052"/>
                </a:xfrm>
                <a:prstGeom prst="rect">
                  <a:avLst/>
                </a:prstGeom>
                <a:solidFill>
                  <a:srgbClr val="FFFFFF"/>
                </a:solidFill>
                <a:ln w="38100" cap="flat">
                  <a:solidFill>
                    <a:schemeClr val="accent1">
                      <a:lumOff val="13575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457200">
                    <a:spcBef>
                      <a:spcPts val="0"/>
                    </a:spcBef>
                    <a:defRPr sz="1800">
                      <a:latin typeface="Avenir Next Medium" panose="020B0803020202020204"/>
                      <a:ea typeface="Avenir Next Medium" panose="020B0803020202020204"/>
                      <a:cs typeface="Avenir Next Medium" panose="020B0803020202020204"/>
                      <a:sym typeface="Avenir Next Medium" panose="020B0803020202020204"/>
                    </a:defRPr>
                  </a:lvl1pPr>
                </a:lstStyle>
                <a:p>
                  <a:r>
                    <a:rPr sz="1200"/>
                    <a:t>db.table1</a:t>
                  </a:r>
                  <a:endParaRPr sz="1200"/>
                </a:p>
              </p:txBody>
            </p:sp>
            <p:sp>
              <p:nvSpPr>
                <p:cNvPr id="165" name="{id INT, …}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1900590" y="0"/>
                  <a:ext cx="1910810" cy="518052"/>
                </a:xfrm>
                <a:prstGeom prst="rect">
                  <a:avLst/>
                </a:prstGeom>
                <a:solidFill>
                  <a:srgbClr val="FFFFFF"/>
                </a:solidFill>
                <a:ln w="38100" cap="flat">
                  <a:solidFill>
                    <a:schemeClr val="accent1">
                      <a:lumOff val="13575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457200">
                    <a:spcBef>
                      <a:spcPts val="0"/>
                    </a:spcBef>
                    <a:defRPr sz="1800">
                      <a:latin typeface="Avenir Next Medium" panose="020B0803020202020204"/>
                      <a:ea typeface="Avenir Next Medium" panose="020B0803020202020204"/>
                      <a:cs typeface="Avenir Next Medium" panose="020B0803020202020204"/>
                      <a:sym typeface="Avenir Next Medium" panose="020B0803020202020204"/>
                    </a:defRPr>
                  </a:lvl1pPr>
                </a:lstStyle>
                <a:p>
                  <a:r>
                    <a:rPr sz="1200"/>
                    <a:t>{id INT, …}</a:t>
                  </a:r>
                  <a:endParaRPr sz="1200"/>
                </a:p>
              </p:txBody>
            </p:sp>
          </p:grpSp>
        </p:grpSp>
        <p:grpSp>
          <p:nvGrpSpPr>
            <p:cNvPr id="166" name="群組"/>
            <p:cNvGrpSpPr/>
            <p:nvPr/>
          </p:nvGrpSpPr>
          <p:grpSpPr>
            <a:xfrm>
              <a:off x="4920475" y="5707944"/>
              <a:ext cx="3811401" cy="1196664"/>
              <a:chOff x="0" y="0"/>
              <a:chExt cx="3811399" cy="1196663"/>
            </a:xfrm>
          </p:grpSpPr>
          <p:sp>
            <p:nvSpPr>
              <p:cNvPr id="167" name="Table"/>
              <p:cNvSpPr/>
              <p:nvPr>
                <p:custDataLst>
                  <p:tags r:id="rId22"/>
                </p:custDataLst>
              </p:nvPr>
            </p:nvSpPr>
            <p:spPr>
              <a:xfrm>
                <a:off x="0" y="0"/>
                <a:ext cx="1885272" cy="651148"/>
              </a:xfrm>
              <a:prstGeom prst="rect">
                <a:avLst/>
              </a:prstGeom>
              <a:solidFill>
                <a:schemeClr val="accent3"/>
              </a:solidFill>
              <a:ln w="38100" cap="flat">
                <a:solidFill>
                  <a:schemeClr val="accent4">
                    <a:hueOff val="-613784"/>
                    <a:lumOff val="12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457200"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Avenir Next Medium" panose="020B0803020202020204"/>
                    <a:ea typeface="Avenir Next Medium" panose="020B0803020202020204"/>
                    <a:cs typeface="Avenir Next Medium" panose="020B0803020202020204"/>
                    <a:sym typeface="Avenir Next Medium" panose="020B0803020202020204"/>
                  </a:defRPr>
                </a:lvl1pPr>
              </a:lstStyle>
              <a:p>
                <a:r>
                  <a:rPr sz="1200"/>
                  <a:t>Table</a:t>
                </a:r>
                <a:endParaRPr sz="1200"/>
              </a:p>
            </p:txBody>
          </p:sp>
          <p:sp>
            <p:nvSpPr>
              <p:cNvPr id="168" name="Evolved…"/>
              <p:cNvSpPr/>
              <p:nvPr>
                <p:custDataLst>
                  <p:tags r:id="rId23"/>
                </p:custDataLst>
              </p:nvPr>
            </p:nvSpPr>
            <p:spPr>
              <a:xfrm>
                <a:off x="1784830" y="0"/>
                <a:ext cx="2026570" cy="651148"/>
              </a:xfrm>
              <a:prstGeom prst="rect">
                <a:avLst/>
              </a:prstGeom>
              <a:solidFill>
                <a:schemeClr val="accent3"/>
              </a:solidFill>
              <a:ln w="38100" cap="flat">
                <a:solidFill>
                  <a:schemeClr val="accent4">
                    <a:hueOff val="-613784"/>
                    <a:lumOff val="12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57200">
                  <a:lnSpc>
                    <a:spcPct val="80000"/>
                  </a:lnSpc>
                  <a:spcBef>
                    <a:spcPts val="0"/>
                  </a:spcBef>
                  <a:defRPr sz="1700">
                    <a:solidFill>
                      <a:srgbClr val="FFFFFF"/>
                    </a:solidFill>
                    <a:latin typeface="Avenir Next Medium" panose="020B0803020202020204"/>
                    <a:ea typeface="Avenir Next Medium" panose="020B0803020202020204"/>
                    <a:cs typeface="Avenir Next Medium" panose="020B0803020202020204"/>
                    <a:sym typeface="Avenir Next Medium" panose="020B0803020202020204"/>
                  </a:defRPr>
                </a:pPr>
                <a:r>
                  <a:rPr sz="1000"/>
                  <a:t>Evolved</a:t>
                </a:r>
                <a:endParaRPr sz="1000"/>
              </a:p>
              <a:p>
                <a:pPr algn="ctr" defTabSz="457200">
                  <a:lnSpc>
                    <a:spcPct val="80000"/>
                  </a:lnSpc>
                  <a:spcBef>
                    <a:spcPts val="0"/>
                  </a:spcBef>
                  <a:defRPr sz="1700">
                    <a:solidFill>
                      <a:srgbClr val="FFFFFF"/>
                    </a:solidFill>
                    <a:latin typeface="Avenir Next Medium" panose="020B0803020202020204"/>
                    <a:ea typeface="Avenir Next Medium" panose="020B0803020202020204"/>
                    <a:cs typeface="Avenir Next Medium" panose="020B0803020202020204"/>
                    <a:sym typeface="Avenir Next Medium" panose="020B0803020202020204"/>
                  </a:defRPr>
                </a:pPr>
                <a:r>
                  <a:rPr sz="1000"/>
                  <a:t>Schema</a:t>
                </a:r>
                <a:endParaRPr sz="1000"/>
              </a:p>
            </p:txBody>
          </p:sp>
          <p:grpSp>
            <p:nvGrpSpPr>
              <p:cNvPr id="169" name="群組"/>
              <p:cNvGrpSpPr/>
              <p:nvPr/>
            </p:nvGrpSpPr>
            <p:grpSpPr>
              <a:xfrm>
                <a:off x="0" y="678611"/>
                <a:ext cx="3811400" cy="518053"/>
                <a:chOff x="0" y="0"/>
                <a:chExt cx="3811399" cy="518051"/>
              </a:xfrm>
            </p:grpSpPr>
            <p:sp>
              <p:nvSpPr>
                <p:cNvPr id="170" name="db.table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0" y="0"/>
                  <a:ext cx="1910810" cy="518052"/>
                </a:xfrm>
                <a:prstGeom prst="rect">
                  <a:avLst/>
                </a:prstGeom>
                <a:solidFill>
                  <a:srgbClr val="FFFFFF"/>
                </a:solidFill>
                <a:ln w="38100" cap="flat">
                  <a:solidFill>
                    <a:schemeClr val="accent4">
                      <a:hueOff val="-613784"/>
                      <a:lumOff val="1275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457200">
                    <a:spcBef>
                      <a:spcPts val="0"/>
                    </a:spcBef>
                    <a:defRPr sz="1800">
                      <a:latin typeface="Avenir Next Medium" panose="020B0803020202020204"/>
                      <a:ea typeface="Avenir Next Medium" panose="020B0803020202020204"/>
                      <a:cs typeface="Avenir Next Medium" panose="020B0803020202020204"/>
                      <a:sym typeface="Avenir Next Medium" panose="020B0803020202020204"/>
                    </a:defRPr>
                  </a:lvl1pPr>
                </a:lstStyle>
                <a:p>
                  <a:r>
                    <a:rPr sz="1200"/>
                    <a:t>db.table1</a:t>
                  </a:r>
                  <a:endParaRPr sz="1200"/>
                </a:p>
              </p:txBody>
            </p:sp>
            <p:sp>
              <p:nvSpPr>
                <p:cNvPr id="171" name="{id INT, …}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900590" y="0"/>
                  <a:ext cx="1910810" cy="518052"/>
                </a:xfrm>
                <a:prstGeom prst="rect">
                  <a:avLst/>
                </a:prstGeom>
                <a:solidFill>
                  <a:srgbClr val="FFFFFF"/>
                </a:solidFill>
                <a:ln w="38100" cap="flat">
                  <a:solidFill>
                    <a:schemeClr val="accent4">
                      <a:hueOff val="-613784"/>
                      <a:lumOff val="1275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457200">
                    <a:spcBef>
                      <a:spcPts val="0"/>
                    </a:spcBef>
                    <a:defRPr sz="1800">
                      <a:latin typeface="Avenir Next Medium" panose="020B0803020202020204"/>
                      <a:ea typeface="Avenir Next Medium" panose="020B0803020202020204"/>
                      <a:cs typeface="Avenir Next Medium" panose="020B0803020202020204"/>
                      <a:sym typeface="Avenir Next Medium" panose="020B0803020202020204"/>
                    </a:defRPr>
                  </a:lvl1pPr>
                </a:lstStyle>
                <a:p>
                  <a:r>
                    <a:rPr sz="1200"/>
                    <a:t>{id INT, …}</a:t>
                  </a:r>
                  <a:endParaRPr sz="1200"/>
                </a:p>
              </p:txBody>
            </p:sp>
          </p:grpSp>
        </p:grpSp>
        <p:sp>
          <p:nvSpPr>
            <p:cNvPr id="172" name="圓形"/>
            <p:cNvSpPr/>
            <p:nvPr>
              <p:custDataLst>
                <p:tags r:id="rId26"/>
              </p:custDataLst>
            </p:nvPr>
          </p:nvSpPr>
          <p:spPr>
            <a:xfrm>
              <a:off x="10537290" y="8580401"/>
              <a:ext cx="638375" cy="638375"/>
            </a:xfrm>
            <a:prstGeom prst="ellipse">
              <a:avLst/>
            </a:prstGeom>
            <a:solidFill>
              <a:schemeClr val="accent6">
                <a:hueOff val="-108860"/>
                <a:satOff val="4467"/>
                <a:lumOff val="-12867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457200">
                <a:spcBef>
                  <a:spcPts val="0"/>
                </a:spcBef>
                <a:defRPr sz="3200">
                  <a:latin typeface="Avenir Next Medium" panose="020B0803020202020204"/>
                  <a:ea typeface="Avenir Next Medium" panose="020B0803020202020204"/>
                  <a:cs typeface="Avenir Next Medium" panose="020B0803020202020204"/>
                  <a:sym typeface="Avenir Next Medium" panose="020B0803020202020204"/>
                </a:defRPr>
              </a:pPr>
            </a:p>
          </p:txBody>
        </p:sp>
        <p:cxnSp>
          <p:nvCxnSpPr>
            <p:cNvPr id="173" name="連接線"/>
            <p:cNvCxnSpPr>
              <a:stCxn id="149" idx="6"/>
              <a:endCxn id="172" idx="2"/>
            </p:cNvCxnSpPr>
            <p:nvPr>
              <p:custDataLst>
                <p:tags r:id="rId27"/>
              </p:custDataLst>
            </p:nvPr>
          </p:nvCxnSpPr>
          <p:spPr>
            <a:xfrm>
              <a:off x="7145364" y="8898954"/>
              <a:ext cx="3392170" cy="0"/>
            </a:xfrm>
            <a:prstGeom prst="straightConnector1">
              <a:avLst/>
            </a:prstGeom>
            <a:ln w="50800">
              <a:solidFill>
                <a:schemeClr val="bg1"/>
              </a:solidFill>
              <a:miter lim="400000"/>
              <a:tailEnd type="stealth"/>
            </a:ln>
          </p:spPr>
        </p:cxnSp>
        <p:grpSp>
          <p:nvGrpSpPr>
            <p:cNvPr id="174" name="群組"/>
            <p:cNvGrpSpPr/>
            <p:nvPr/>
          </p:nvGrpSpPr>
          <p:grpSpPr>
            <a:xfrm>
              <a:off x="7808992" y="8750903"/>
              <a:ext cx="2064670" cy="297370"/>
              <a:chOff x="0" y="0"/>
              <a:chExt cx="2064668" cy="297368"/>
            </a:xfrm>
          </p:grpSpPr>
          <p:sp>
            <p:nvSpPr>
              <p:cNvPr id="175" name="矩形 18"/>
              <p:cNvSpPr/>
              <p:nvPr>
                <p:custDataLst>
                  <p:tags r:id="rId28"/>
                </p:custDataLst>
              </p:nvPr>
            </p:nvSpPr>
            <p:spPr>
              <a:xfrm>
                <a:off x="1970708" y="0"/>
                <a:ext cx="93961" cy="297369"/>
              </a:xfrm>
              <a:prstGeom prst="rect">
                <a:avLst/>
              </a:prstGeom>
              <a:solidFill>
                <a:srgbClr val="16E7CF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2438400">
                  <a:lnSpc>
                    <a:spcPct val="90000"/>
                  </a:lnSpc>
                  <a:spcBef>
                    <a:spcPts val="4500"/>
                  </a:spcBef>
                  <a:defRPr sz="400">
                    <a:solidFill>
                      <a:srgbClr val="FFFFFF"/>
                    </a:solidFill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defRPr>
                </a:pPr>
              </a:p>
            </p:txBody>
          </p:sp>
          <p:sp>
            <p:nvSpPr>
              <p:cNvPr id="176" name="矩形 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1313805" y="0"/>
                <a:ext cx="93959" cy="297369"/>
              </a:xfrm>
              <a:prstGeom prst="rect">
                <a:avLst/>
              </a:prstGeom>
              <a:solidFill>
                <a:srgbClr val="FF42A1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2438400">
                  <a:lnSpc>
                    <a:spcPct val="90000"/>
                  </a:lnSpc>
                  <a:spcBef>
                    <a:spcPts val="4500"/>
                  </a:spcBef>
                  <a:defRPr sz="400">
                    <a:solidFill>
                      <a:srgbClr val="FFFFFF"/>
                    </a:solidFill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defRPr>
                </a:pPr>
              </a:p>
            </p:txBody>
          </p:sp>
          <p:sp>
            <p:nvSpPr>
              <p:cNvPr id="177" name="矩形 20"/>
              <p:cNvSpPr/>
              <p:nvPr>
                <p:custDataLst>
                  <p:tags r:id="rId30"/>
                </p:custDataLst>
              </p:nvPr>
            </p:nvSpPr>
            <p:spPr>
              <a:xfrm>
                <a:off x="656902" y="0"/>
                <a:ext cx="93960" cy="297369"/>
              </a:xfrm>
              <a:prstGeom prst="rect">
                <a:avLst/>
              </a:prstGeom>
              <a:solidFill>
                <a:srgbClr val="FF42A1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2438400">
                  <a:lnSpc>
                    <a:spcPct val="90000"/>
                  </a:lnSpc>
                  <a:spcBef>
                    <a:spcPts val="4500"/>
                  </a:spcBef>
                  <a:defRPr sz="400">
                    <a:solidFill>
                      <a:srgbClr val="FFFFFF"/>
                    </a:solidFill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defRPr>
                </a:pPr>
              </a:p>
            </p:txBody>
          </p:sp>
          <p:sp>
            <p:nvSpPr>
              <p:cNvPr id="178" name="矩形 20"/>
              <p:cNvSpPr/>
              <p:nvPr>
                <p:custDataLst>
                  <p:tags r:id="rId31"/>
                </p:custDataLst>
              </p:nvPr>
            </p:nvSpPr>
            <p:spPr>
              <a:xfrm>
                <a:off x="0" y="0"/>
                <a:ext cx="93959" cy="297369"/>
              </a:xfrm>
              <a:prstGeom prst="rect">
                <a:avLst/>
              </a:prstGeom>
              <a:solidFill>
                <a:srgbClr val="FF42A1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2438400">
                  <a:lnSpc>
                    <a:spcPct val="90000"/>
                  </a:lnSpc>
                  <a:spcBef>
                    <a:spcPts val="4500"/>
                  </a:spcBef>
                  <a:defRPr sz="400">
                    <a:solidFill>
                      <a:srgbClr val="FFFFFF"/>
                    </a:solidFill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defRPr>
                </a:pPr>
              </a:p>
            </p:txBody>
          </p:sp>
        </p:grpSp>
        <p:sp>
          <p:nvSpPr>
            <p:cNvPr id="179" name="連接線"/>
            <p:cNvSpPr/>
            <p:nvPr>
              <p:custDataLst>
                <p:tags r:id="rId32"/>
              </p:custDataLst>
            </p:nvPr>
          </p:nvSpPr>
          <p:spPr>
            <a:xfrm>
              <a:off x="6826175" y="5339810"/>
              <a:ext cx="1" cy="349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0" y="14400"/>
                    <a:pt x="21600" y="7200"/>
                    <a:pt x="21600" y="0"/>
                  </a:cubicBezTo>
                </a:path>
              </a:pathLst>
            </a:custGeom>
            <a:ln w="25400">
              <a:solidFill>
                <a:schemeClr val="bg1"/>
              </a:solidFill>
              <a:miter lim="400000"/>
              <a:headEnd type="triangle"/>
              <a:tailEnd type="triangle"/>
            </a:ln>
          </p:spPr>
          <p:txBody>
            <a:bodyPr/>
            <a:lstStyle/>
            <a:p/>
          </p:txBody>
        </p:sp>
      </p:grpSp>
      <p:sp>
        <p:nvSpPr>
          <p:cNvPr id="180" name="文本框 179"/>
          <p:cNvSpPr txBox="1"/>
          <p:nvPr>
            <p:custDataLst>
              <p:tags r:id="rId33"/>
            </p:custDataLst>
          </p:nvPr>
        </p:nvSpPr>
        <p:spPr>
          <a:xfrm>
            <a:off x="1294129" y="5529487"/>
            <a:ext cx="39839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Tips：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湖仓表模式演化的合理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配置</a:t>
            </a:r>
            <a:endParaRPr kumimoji="1" lang="zh-CN" altLang="en-US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457012" y="838835"/>
            <a:ext cx="59543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pPr algn="ctr"/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数据入湖</a:t>
            </a:r>
            <a:r>
              <a:rPr lang="zh-CN" altLang="en-US" dirty="0">
                <a:latin typeface="Space Grotesk" pitchFamily="2" charset="0"/>
                <a:cs typeface="Space Grotesk" pitchFamily="2" charset="0"/>
                <a:sym typeface="+mn-ea"/>
              </a:rPr>
              <a:t>痛点</a:t>
            </a:r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-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数据质量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管理</a:t>
            </a:r>
            <a:endParaRPr lang="zh-CN" altLang="en-US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1103629" y="5380262"/>
            <a:ext cx="42379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Tips：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随机抽样对比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、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整体对数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对比</a:t>
            </a:r>
            <a:endParaRPr kumimoji="1" lang="zh-CN" altLang="en-US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132" name="文本框 131"/>
          <p:cNvSpPr txBox="1"/>
          <p:nvPr>
            <p:custDataLst>
              <p:tags r:id="rId3"/>
            </p:custDataLst>
          </p:nvPr>
        </p:nvSpPr>
        <p:spPr>
          <a:xfrm>
            <a:off x="1016635" y="1638935"/>
            <a:ext cx="4625975" cy="300736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indent="0" algn="l">
              <a:buFont typeface="Arial" panose="020B0604020202090204" pitchFamily="34" charset="0"/>
              <a:buNone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BINLOG</a:t>
            </a: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采集数据正确性转换为</a:t>
            </a: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CDC</a:t>
            </a: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类型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  <a:sym typeface="+mn-ea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  <a:sym typeface="+mn-ea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CDC</a:t>
            </a: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类型转换为湖仓识别类型写入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  <a:sym typeface="+mn-ea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  <a:sym typeface="+mn-ea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特殊类型处理</a:t>
            </a: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（DateTime、</a:t>
            </a: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TimeStamp</a:t>
            </a:r>
            <a:endParaRPr kumimoji="1" lang="en-US" altLang="zh-CN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  <a:sym typeface="+mn-ea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en-US" altLang="zh-CN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GEOMETRYCOLLECTION ...）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  <a:sym typeface="+mn-ea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  <a:sym typeface="+mn-ea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r>
              <a:rPr kumimoji="1" lang="zh-CN" altLang="en-US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默认值设置</a:t>
            </a: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zh-CN" altLang="en-US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988685" y="1852930"/>
            <a:ext cx="5020945" cy="33699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471935" y="838835"/>
            <a:ext cx="54965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pPr algn="ctr"/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数据入湖</a:t>
            </a:r>
            <a:r>
              <a:rPr lang="zh-CN" altLang="en-US" dirty="0">
                <a:latin typeface="Space Grotesk" pitchFamily="2" charset="0"/>
                <a:cs typeface="Space Grotesk" pitchFamily="2" charset="0"/>
                <a:sym typeface="+mn-ea"/>
              </a:rPr>
              <a:t>痛点</a:t>
            </a:r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-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采集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稳定性</a:t>
            </a:r>
            <a:endParaRPr lang="zh-CN" altLang="en-US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1103629" y="5380262"/>
            <a:ext cx="62103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Tips：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GH-OST / PG-OST 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已经在最新版本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CDC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支持</a:t>
            </a:r>
            <a:endParaRPr kumimoji="1" lang="zh-CN" altLang="en-US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1697306" y="2156101"/>
            <a:ext cx="1581070" cy="1581069"/>
          </a:xfrm>
          <a:prstGeom prst="ellipse">
            <a:avLst/>
          </a:prstGeom>
          <a:gradFill flip="none" rotWithShape="1">
            <a:gsLst>
              <a:gs pos="90000">
                <a:schemeClr val="tx2">
                  <a:alpha val="0"/>
                </a:schemeClr>
              </a:gs>
              <a:gs pos="100000">
                <a:schemeClr val="tx2">
                  <a:alpha val="29963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400" dirty="0"/>
          </a:p>
        </p:txBody>
      </p:sp>
      <p:sp>
        <p:nvSpPr>
          <p:cNvPr id="5" name="椭圆 4"/>
          <p:cNvSpPr/>
          <p:nvPr>
            <p:custDataLst>
              <p:tags r:id="rId4"/>
            </p:custDataLst>
          </p:nvPr>
        </p:nvSpPr>
        <p:spPr>
          <a:xfrm rot="10800000">
            <a:off x="1779732" y="2238526"/>
            <a:ext cx="1416219" cy="1416219"/>
          </a:xfrm>
          <a:prstGeom prst="ellipse">
            <a:avLst/>
          </a:prstGeom>
          <a:gradFill flip="none" rotWithShape="1">
            <a:gsLst>
              <a:gs pos="67000">
                <a:schemeClr val="tx2">
                  <a:alpha val="0"/>
                </a:schemeClr>
              </a:gs>
              <a:gs pos="100000">
                <a:schemeClr val="tx2">
                  <a:alpha val="69986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kumimoji="1" lang="zh-CN" altLang="en-US"/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5305465" y="2156101"/>
            <a:ext cx="1581070" cy="1581069"/>
          </a:xfrm>
          <a:prstGeom prst="ellipse">
            <a:avLst/>
          </a:prstGeom>
          <a:gradFill flip="none" rotWithShape="1">
            <a:gsLst>
              <a:gs pos="90000">
                <a:srgbClr val="4EB5FF">
                  <a:alpha val="0"/>
                </a:srgbClr>
              </a:gs>
              <a:gs pos="100000">
                <a:srgbClr val="4EB5FF">
                  <a:alpha val="29931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kumimoji="1" lang="zh-CN" altLang="en-US" dirty="0"/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 rot="10800000">
            <a:off x="5387891" y="2238527"/>
            <a:ext cx="1416219" cy="1416219"/>
          </a:xfrm>
          <a:prstGeom prst="ellipse">
            <a:avLst/>
          </a:prstGeom>
          <a:gradFill flip="none" rotWithShape="1">
            <a:gsLst>
              <a:gs pos="67000">
                <a:srgbClr val="4EB5FF">
                  <a:alpha val="0"/>
                </a:srgbClr>
              </a:gs>
              <a:gs pos="100000">
                <a:srgbClr val="4EB5FF">
                  <a:alpha val="70125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rgbClr val="4EB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kumimoji="1" lang="zh-CN" altLang="en-US"/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8913624" y="2156101"/>
            <a:ext cx="1581070" cy="1581069"/>
          </a:xfrm>
          <a:prstGeom prst="ellipse">
            <a:avLst/>
          </a:prstGeom>
          <a:gradFill flip="none" rotWithShape="1">
            <a:gsLst>
              <a:gs pos="90000">
                <a:srgbClr val="04D082">
                  <a:alpha val="0"/>
                </a:srgbClr>
              </a:gs>
              <a:gs pos="100000">
                <a:srgbClr val="04D082">
                  <a:alpha val="29974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kumimoji="1" lang="zh-CN" altLang="en-US" dirty="0"/>
          </a:p>
        </p:txBody>
      </p: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 rot="10800000">
            <a:off x="8996050" y="2238527"/>
            <a:ext cx="1416219" cy="1416219"/>
          </a:xfrm>
          <a:prstGeom prst="ellipse">
            <a:avLst/>
          </a:prstGeom>
          <a:gradFill flip="none" rotWithShape="1">
            <a:gsLst>
              <a:gs pos="67000">
                <a:srgbClr val="04D082">
                  <a:alpha val="0"/>
                </a:srgbClr>
              </a:gs>
              <a:gs pos="100000">
                <a:srgbClr val="04D082">
                  <a:alpha val="69778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rgbClr val="04D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457200"/>
            <a:endParaRPr kumimoji="1" lang="zh-CN" altLang="en-US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170171" y="3915217"/>
            <a:ext cx="18516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数据洪峰</a:t>
            </a:r>
            <a:r>
              <a:rPr kumimoji="1" lang="en-US" altLang="zh-CN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GC</a:t>
            </a:r>
            <a:endParaRPr kumimoji="1" lang="en-US" altLang="zh-CN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4776471" y="4322496"/>
            <a:ext cx="26390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binlog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采集多线程解析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提升速度</a:t>
            </a:r>
            <a:endParaRPr kumimoji="1" lang="zh-CN" altLang="en-US" sz="14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1171169" y="3915217"/>
            <a:ext cx="26333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DBA</a:t>
            </a: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变更工具</a:t>
            </a: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支持</a:t>
            </a:r>
            <a:endParaRPr kumimoji="1" lang="zh-CN" altLang="en-US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1167358" y="4322496"/>
            <a:ext cx="26409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支持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GH-OST Schema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change</a:t>
            </a:r>
            <a:endParaRPr kumimoji="1" lang="en-US" altLang="zh-CN" sz="14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9003120" y="3915217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采集告警</a:t>
            </a:r>
            <a:endParaRPr kumimoji="1" lang="zh-CN" altLang="en-US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8174127" y="4322496"/>
            <a:ext cx="30600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对采集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DDL、DML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变更预警下游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作业</a:t>
            </a:r>
            <a:endParaRPr kumimoji="1" lang="zh-CN" altLang="en-US" sz="14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3" name="任意形状 22"/>
          <p:cNvSpPr/>
          <p:nvPr>
            <p:custDataLst>
              <p:tags r:id="rId15"/>
            </p:custDataLst>
          </p:nvPr>
        </p:nvSpPr>
        <p:spPr>
          <a:xfrm>
            <a:off x="5836825" y="2687466"/>
            <a:ext cx="518353" cy="518341"/>
          </a:xfrm>
          <a:custGeom>
            <a:avLst/>
            <a:gdLst>
              <a:gd name="connsiteX0" fmla="*/ 198110 w 518353"/>
              <a:gd name="connsiteY0" fmla="*/ 29 h 518341"/>
              <a:gd name="connsiteX1" fmla="*/ 232045 w 518353"/>
              <a:gd name="connsiteY1" fmla="*/ 18921 h 518341"/>
              <a:gd name="connsiteX2" fmla="*/ 259175 w 518353"/>
              <a:gd name="connsiteY2" fmla="*/ 34241 h 518341"/>
              <a:gd name="connsiteX3" fmla="*/ 285892 w 518353"/>
              <a:gd name="connsiteY3" fmla="*/ 19563 h 518341"/>
              <a:gd name="connsiteX4" fmla="*/ 286212 w 518353"/>
              <a:gd name="connsiteY4" fmla="*/ 19061 h 518341"/>
              <a:gd name="connsiteX5" fmla="*/ 334472 w 518353"/>
              <a:gd name="connsiteY5" fmla="*/ 1771 h 518341"/>
              <a:gd name="connsiteX6" fmla="*/ 334651 w 518353"/>
              <a:gd name="connsiteY6" fmla="*/ 1826 h 518341"/>
              <a:gd name="connsiteX7" fmla="*/ 389530 w 518353"/>
              <a:gd name="connsiteY7" fmla="*/ 24806 h 518341"/>
              <a:gd name="connsiteX8" fmla="*/ 390188 w 518353"/>
              <a:gd name="connsiteY8" fmla="*/ 25222 h 518341"/>
              <a:gd name="connsiteX9" fmla="*/ 409990 w 518353"/>
              <a:gd name="connsiteY9" fmla="*/ 70919 h 518341"/>
              <a:gd name="connsiteX10" fmla="*/ 418352 w 518353"/>
              <a:gd name="connsiteY10" fmla="*/ 100001 h 518341"/>
              <a:gd name="connsiteX11" fmla="*/ 447004 w 518353"/>
              <a:gd name="connsiteY11" fmla="*/ 108447 h 518341"/>
              <a:gd name="connsiteX12" fmla="*/ 493820 w 518353"/>
              <a:gd name="connsiteY12" fmla="*/ 129294 h 518341"/>
              <a:gd name="connsiteX13" fmla="*/ 493954 w 518353"/>
              <a:gd name="connsiteY13" fmla="*/ 129541 h 518341"/>
              <a:gd name="connsiteX14" fmla="*/ 516606 w 518353"/>
              <a:gd name="connsiteY14" fmla="*/ 183966 h 518341"/>
              <a:gd name="connsiteX15" fmla="*/ 516695 w 518353"/>
              <a:gd name="connsiteY15" fmla="*/ 184278 h 518341"/>
              <a:gd name="connsiteX16" fmla="*/ 499434 w 518353"/>
              <a:gd name="connsiteY16" fmla="*/ 232044 h 518341"/>
              <a:gd name="connsiteX17" fmla="*/ 484112 w 518353"/>
              <a:gd name="connsiteY17" fmla="*/ 259177 h 518341"/>
              <a:gd name="connsiteX18" fmla="*/ 498790 w 518353"/>
              <a:gd name="connsiteY18" fmla="*/ 285893 h 518341"/>
              <a:gd name="connsiteX19" fmla="*/ 499290 w 518353"/>
              <a:gd name="connsiteY19" fmla="*/ 286214 h 518341"/>
              <a:gd name="connsiteX20" fmla="*/ 516695 w 518353"/>
              <a:gd name="connsiteY20" fmla="*/ 334076 h 518341"/>
              <a:gd name="connsiteX21" fmla="*/ 516526 w 518353"/>
              <a:gd name="connsiteY21" fmla="*/ 334652 h 518341"/>
              <a:gd name="connsiteX22" fmla="*/ 493548 w 518353"/>
              <a:gd name="connsiteY22" fmla="*/ 389531 h 518341"/>
              <a:gd name="connsiteX23" fmla="*/ 493131 w 518353"/>
              <a:gd name="connsiteY23" fmla="*/ 390189 h 518341"/>
              <a:gd name="connsiteX24" fmla="*/ 447433 w 518353"/>
              <a:gd name="connsiteY24" fmla="*/ 409990 h 518341"/>
              <a:gd name="connsiteX25" fmla="*/ 418352 w 518353"/>
              <a:gd name="connsiteY25" fmla="*/ 418353 h 518341"/>
              <a:gd name="connsiteX26" fmla="*/ 417788 w 518353"/>
              <a:gd name="connsiteY26" fmla="*/ 418891 h 518341"/>
              <a:gd name="connsiteX27" fmla="*/ 409907 w 518353"/>
              <a:gd name="connsiteY27" fmla="*/ 447006 h 518341"/>
              <a:gd name="connsiteX28" fmla="*/ 389059 w 518353"/>
              <a:gd name="connsiteY28" fmla="*/ 493821 h 518341"/>
              <a:gd name="connsiteX29" fmla="*/ 388812 w 518353"/>
              <a:gd name="connsiteY29" fmla="*/ 493955 h 518341"/>
              <a:gd name="connsiteX30" fmla="*/ 335360 w 518353"/>
              <a:gd name="connsiteY30" fmla="*/ 516319 h 518341"/>
              <a:gd name="connsiteX31" fmla="*/ 322284 w 518353"/>
              <a:gd name="connsiteY31" fmla="*/ 518341 h 518341"/>
              <a:gd name="connsiteX32" fmla="*/ 286512 w 518353"/>
              <a:gd name="connsiteY32" fmla="*/ 499725 h 518341"/>
              <a:gd name="connsiteX33" fmla="*/ 286374 w 518353"/>
              <a:gd name="connsiteY33" fmla="*/ 499530 h 518341"/>
              <a:gd name="connsiteX34" fmla="*/ 259176 w 518353"/>
              <a:gd name="connsiteY34" fmla="*/ 484113 h 518341"/>
              <a:gd name="connsiteX35" fmla="*/ 232461 w 518353"/>
              <a:gd name="connsiteY35" fmla="*/ 498791 h 518341"/>
              <a:gd name="connsiteX36" fmla="*/ 232139 w 518353"/>
              <a:gd name="connsiteY36" fmla="*/ 499292 h 518341"/>
              <a:gd name="connsiteX37" fmla="*/ 183880 w 518353"/>
              <a:gd name="connsiteY37" fmla="*/ 516582 h 518341"/>
              <a:gd name="connsiteX38" fmla="*/ 183700 w 518353"/>
              <a:gd name="connsiteY38" fmla="*/ 516527 h 518341"/>
              <a:gd name="connsiteX39" fmla="*/ 128822 w 518353"/>
              <a:gd name="connsiteY39" fmla="*/ 493548 h 518341"/>
              <a:gd name="connsiteX40" fmla="*/ 128164 w 518353"/>
              <a:gd name="connsiteY40" fmla="*/ 493131 h 518341"/>
              <a:gd name="connsiteX41" fmla="*/ 108362 w 518353"/>
              <a:gd name="connsiteY41" fmla="*/ 447434 h 518341"/>
              <a:gd name="connsiteX42" fmla="*/ 100000 w 518353"/>
              <a:gd name="connsiteY42" fmla="*/ 418353 h 518341"/>
              <a:gd name="connsiteX43" fmla="*/ 99462 w 518353"/>
              <a:gd name="connsiteY43" fmla="*/ 417789 h 518341"/>
              <a:gd name="connsiteX44" fmla="*/ 70918 w 518353"/>
              <a:gd name="connsiteY44" fmla="*/ 409990 h 518341"/>
              <a:gd name="connsiteX45" fmla="*/ 70636 w 518353"/>
              <a:gd name="connsiteY45" fmla="*/ 410044 h 518341"/>
              <a:gd name="connsiteX46" fmla="*/ 24532 w 518353"/>
              <a:gd name="connsiteY46" fmla="*/ 389059 h 518341"/>
              <a:gd name="connsiteX47" fmla="*/ 24398 w 518353"/>
              <a:gd name="connsiteY47" fmla="*/ 388812 h 518341"/>
              <a:gd name="connsiteX48" fmla="*/ 1745 w 518353"/>
              <a:gd name="connsiteY48" fmla="*/ 334390 h 518341"/>
              <a:gd name="connsiteX49" fmla="*/ 1658 w 518353"/>
              <a:gd name="connsiteY49" fmla="*/ 334077 h 518341"/>
              <a:gd name="connsiteX50" fmla="*/ 18924 w 518353"/>
              <a:gd name="connsiteY50" fmla="*/ 286306 h 518341"/>
              <a:gd name="connsiteX51" fmla="*/ 34240 w 518353"/>
              <a:gd name="connsiteY51" fmla="*/ 259177 h 518341"/>
              <a:gd name="connsiteX52" fmla="*/ 19561 w 518353"/>
              <a:gd name="connsiteY52" fmla="*/ 232461 h 518341"/>
              <a:gd name="connsiteX53" fmla="*/ 19061 w 518353"/>
              <a:gd name="connsiteY53" fmla="*/ 232139 h 518341"/>
              <a:gd name="connsiteX54" fmla="*/ 1771 w 518353"/>
              <a:gd name="connsiteY54" fmla="*/ 183880 h 518341"/>
              <a:gd name="connsiteX55" fmla="*/ 1825 w 518353"/>
              <a:gd name="connsiteY55" fmla="*/ 183702 h 518341"/>
              <a:gd name="connsiteX56" fmla="*/ 24804 w 518353"/>
              <a:gd name="connsiteY56" fmla="*/ 128823 h 518341"/>
              <a:gd name="connsiteX57" fmla="*/ 25221 w 518353"/>
              <a:gd name="connsiteY57" fmla="*/ 128165 h 518341"/>
              <a:gd name="connsiteX58" fmla="*/ 70918 w 518353"/>
              <a:gd name="connsiteY58" fmla="*/ 108363 h 518341"/>
              <a:gd name="connsiteX59" fmla="*/ 99999 w 518353"/>
              <a:gd name="connsiteY59" fmla="*/ 100001 h 518341"/>
              <a:gd name="connsiteX60" fmla="*/ 100563 w 518353"/>
              <a:gd name="connsiteY60" fmla="*/ 99463 h 518341"/>
              <a:gd name="connsiteX61" fmla="*/ 108445 w 518353"/>
              <a:gd name="connsiteY61" fmla="*/ 71350 h 518341"/>
              <a:gd name="connsiteX62" fmla="*/ 129292 w 518353"/>
              <a:gd name="connsiteY62" fmla="*/ 24532 h 518341"/>
              <a:gd name="connsiteX63" fmla="*/ 129539 w 518353"/>
              <a:gd name="connsiteY63" fmla="*/ 24398 h 518341"/>
              <a:gd name="connsiteX64" fmla="*/ 183964 w 518353"/>
              <a:gd name="connsiteY64" fmla="*/ 1745 h 518341"/>
              <a:gd name="connsiteX65" fmla="*/ 184275 w 518353"/>
              <a:gd name="connsiteY65" fmla="*/ 1658 h 518341"/>
              <a:gd name="connsiteX66" fmla="*/ 198110 w 518353"/>
              <a:gd name="connsiteY66" fmla="*/ 29 h 518341"/>
              <a:gd name="connsiteX67" fmla="*/ 325008 w 518353"/>
              <a:gd name="connsiteY67" fmla="*/ 33086 h 518341"/>
              <a:gd name="connsiteX68" fmla="*/ 313542 w 518353"/>
              <a:gd name="connsiteY68" fmla="*/ 37048 h 518341"/>
              <a:gd name="connsiteX69" fmla="*/ 259176 w 518353"/>
              <a:gd name="connsiteY69" fmla="*/ 66954 h 518341"/>
              <a:gd name="connsiteX70" fmla="*/ 205081 w 518353"/>
              <a:gd name="connsiteY70" fmla="*/ 37445 h 518341"/>
              <a:gd name="connsiteX71" fmla="*/ 204921 w 518353"/>
              <a:gd name="connsiteY71" fmla="*/ 37208 h 518341"/>
              <a:gd name="connsiteX72" fmla="*/ 193013 w 518353"/>
              <a:gd name="connsiteY72" fmla="*/ 33185 h 518341"/>
              <a:gd name="connsiteX73" fmla="*/ 145086 w 518353"/>
              <a:gd name="connsiteY73" fmla="*/ 53183 h 518341"/>
              <a:gd name="connsiteX74" fmla="*/ 140182 w 518353"/>
              <a:gd name="connsiteY74" fmla="*/ 63408 h 518341"/>
              <a:gd name="connsiteX75" fmla="*/ 140330 w 518353"/>
              <a:gd name="connsiteY75" fmla="*/ 63951 h 518341"/>
              <a:gd name="connsiteX76" fmla="*/ 140441 w 518353"/>
              <a:gd name="connsiteY76" fmla="*/ 64504 h 518341"/>
              <a:gd name="connsiteX77" fmla="*/ 122861 w 518353"/>
              <a:gd name="connsiteY77" fmla="*/ 123402 h 518341"/>
              <a:gd name="connsiteX78" fmla="*/ 64504 w 518353"/>
              <a:gd name="connsiteY78" fmla="*/ 140441 h 518341"/>
              <a:gd name="connsiteX79" fmla="*/ 52624 w 518353"/>
              <a:gd name="connsiteY79" fmla="*/ 146044 h 518341"/>
              <a:gd name="connsiteX80" fmla="*/ 33086 w 518353"/>
              <a:gd name="connsiteY80" fmla="*/ 193346 h 518341"/>
              <a:gd name="connsiteX81" fmla="*/ 37048 w 518353"/>
              <a:gd name="connsiteY81" fmla="*/ 204811 h 518341"/>
              <a:gd name="connsiteX82" fmla="*/ 66954 w 518353"/>
              <a:gd name="connsiteY82" fmla="*/ 259177 h 518341"/>
              <a:gd name="connsiteX83" fmla="*/ 37445 w 518353"/>
              <a:gd name="connsiteY83" fmla="*/ 313271 h 518341"/>
              <a:gd name="connsiteX84" fmla="*/ 37207 w 518353"/>
              <a:gd name="connsiteY84" fmla="*/ 313433 h 518341"/>
              <a:gd name="connsiteX85" fmla="*/ 33184 w 518353"/>
              <a:gd name="connsiteY85" fmla="*/ 325341 h 518341"/>
              <a:gd name="connsiteX86" fmla="*/ 53181 w 518353"/>
              <a:gd name="connsiteY86" fmla="*/ 373263 h 518341"/>
              <a:gd name="connsiteX87" fmla="*/ 64682 w 518353"/>
              <a:gd name="connsiteY87" fmla="*/ 377877 h 518341"/>
              <a:gd name="connsiteX88" fmla="*/ 123400 w 518353"/>
              <a:gd name="connsiteY88" fmla="*/ 395490 h 518341"/>
              <a:gd name="connsiteX89" fmla="*/ 140441 w 518353"/>
              <a:gd name="connsiteY89" fmla="*/ 453850 h 518341"/>
              <a:gd name="connsiteX90" fmla="*/ 146044 w 518353"/>
              <a:gd name="connsiteY90" fmla="*/ 465730 h 518341"/>
              <a:gd name="connsiteX91" fmla="*/ 193344 w 518353"/>
              <a:gd name="connsiteY91" fmla="*/ 485268 h 518341"/>
              <a:gd name="connsiteX92" fmla="*/ 204812 w 518353"/>
              <a:gd name="connsiteY92" fmla="*/ 481307 h 518341"/>
              <a:gd name="connsiteX93" fmla="*/ 259177 w 518353"/>
              <a:gd name="connsiteY93" fmla="*/ 451401 h 518341"/>
              <a:gd name="connsiteX94" fmla="*/ 313184 w 518353"/>
              <a:gd name="connsiteY94" fmla="*/ 480784 h 518341"/>
              <a:gd name="connsiteX95" fmla="*/ 322284 w 518353"/>
              <a:gd name="connsiteY95" fmla="*/ 485627 h 518341"/>
              <a:gd name="connsiteX96" fmla="*/ 323838 w 518353"/>
              <a:gd name="connsiteY96" fmla="*/ 485611 h 518341"/>
              <a:gd name="connsiteX97" fmla="*/ 325156 w 518353"/>
              <a:gd name="connsiteY97" fmla="*/ 485223 h 518341"/>
              <a:gd name="connsiteX98" fmla="*/ 373265 w 518353"/>
              <a:gd name="connsiteY98" fmla="*/ 465171 h 518341"/>
              <a:gd name="connsiteX99" fmla="*/ 378170 w 518353"/>
              <a:gd name="connsiteY99" fmla="*/ 454945 h 518341"/>
              <a:gd name="connsiteX100" fmla="*/ 378022 w 518353"/>
              <a:gd name="connsiteY100" fmla="*/ 454402 h 518341"/>
              <a:gd name="connsiteX101" fmla="*/ 377911 w 518353"/>
              <a:gd name="connsiteY101" fmla="*/ 453849 h 518341"/>
              <a:gd name="connsiteX102" fmla="*/ 395491 w 518353"/>
              <a:gd name="connsiteY102" fmla="*/ 394951 h 518341"/>
              <a:gd name="connsiteX103" fmla="*/ 453849 w 518353"/>
              <a:gd name="connsiteY103" fmla="*/ 377911 h 518341"/>
              <a:gd name="connsiteX104" fmla="*/ 465729 w 518353"/>
              <a:gd name="connsiteY104" fmla="*/ 372309 h 518341"/>
              <a:gd name="connsiteX105" fmla="*/ 485197 w 518353"/>
              <a:gd name="connsiteY105" fmla="*/ 325232 h 518341"/>
              <a:gd name="connsiteX106" fmla="*/ 481318 w 518353"/>
              <a:gd name="connsiteY106" fmla="*/ 313549 h 518341"/>
              <a:gd name="connsiteX107" fmla="*/ 451399 w 518353"/>
              <a:gd name="connsiteY107" fmla="*/ 259176 h 518341"/>
              <a:gd name="connsiteX108" fmla="*/ 480908 w 518353"/>
              <a:gd name="connsiteY108" fmla="*/ 205081 h 518341"/>
              <a:gd name="connsiteX109" fmla="*/ 481146 w 518353"/>
              <a:gd name="connsiteY109" fmla="*/ 204920 h 518341"/>
              <a:gd name="connsiteX110" fmla="*/ 485168 w 518353"/>
              <a:gd name="connsiteY110" fmla="*/ 193011 h 518341"/>
              <a:gd name="connsiteX111" fmla="*/ 465170 w 518353"/>
              <a:gd name="connsiteY111" fmla="*/ 145086 h 518341"/>
              <a:gd name="connsiteX112" fmla="*/ 454945 w 518353"/>
              <a:gd name="connsiteY112" fmla="*/ 140181 h 518341"/>
              <a:gd name="connsiteX113" fmla="*/ 454402 w 518353"/>
              <a:gd name="connsiteY113" fmla="*/ 140329 h 518341"/>
              <a:gd name="connsiteX114" fmla="*/ 453849 w 518353"/>
              <a:gd name="connsiteY114" fmla="*/ 140440 h 518341"/>
              <a:gd name="connsiteX115" fmla="*/ 395220 w 518353"/>
              <a:gd name="connsiteY115" fmla="*/ 123132 h 518341"/>
              <a:gd name="connsiteX116" fmla="*/ 377912 w 518353"/>
              <a:gd name="connsiteY116" fmla="*/ 64503 h 518341"/>
              <a:gd name="connsiteX117" fmla="*/ 372309 w 518353"/>
              <a:gd name="connsiteY117" fmla="*/ 52623 h 518341"/>
              <a:gd name="connsiteX118" fmla="*/ 325008 w 518353"/>
              <a:gd name="connsiteY118" fmla="*/ 33086 h 51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518353" h="518341">
                <a:moveTo>
                  <a:pt x="198110" y="29"/>
                </a:moveTo>
                <a:cubicBezTo>
                  <a:pt x="211708" y="526"/>
                  <a:pt x="224204" y="7254"/>
                  <a:pt x="232045" y="18921"/>
                </a:cubicBezTo>
                <a:cubicBezTo>
                  <a:pt x="239117" y="29086"/>
                  <a:pt x="248245" y="34241"/>
                  <a:pt x="259175" y="34241"/>
                </a:cubicBezTo>
                <a:cubicBezTo>
                  <a:pt x="270413" y="34241"/>
                  <a:pt x="280151" y="28891"/>
                  <a:pt x="285892" y="19563"/>
                </a:cubicBezTo>
                <a:lnTo>
                  <a:pt x="286212" y="19061"/>
                </a:lnTo>
                <a:cubicBezTo>
                  <a:pt x="296439" y="3722"/>
                  <a:pt x="316735" y="-3548"/>
                  <a:pt x="334472" y="1771"/>
                </a:cubicBezTo>
                <a:lnTo>
                  <a:pt x="334651" y="1826"/>
                </a:lnTo>
                <a:cubicBezTo>
                  <a:pt x="351763" y="7174"/>
                  <a:pt x="371666" y="14086"/>
                  <a:pt x="389530" y="24806"/>
                </a:cubicBezTo>
                <a:lnTo>
                  <a:pt x="390188" y="25222"/>
                </a:lnTo>
                <a:cubicBezTo>
                  <a:pt x="405461" y="35405"/>
                  <a:pt x="413419" y="53769"/>
                  <a:pt x="409990" y="70919"/>
                </a:cubicBezTo>
                <a:cubicBezTo>
                  <a:pt x="407762" y="82053"/>
                  <a:pt x="410732" y="92380"/>
                  <a:pt x="418352" y="100001"/>
                </a:cubicBezTo>
                <a:cubicBezTo>
                  <a:pt x="425873" y="107522"/>
                  <a:pt x="436032" y="110514"/>
                  <a:pt x="447004" y="108447"/>
                </a:cubicBezTo>
                <a:cubicBezTo>
                  <a:pt x="464938" y="103894"/>
                  <a:pt x="484535" y="112582"/>
                  <a:pt x="493820" y="129294"/>
                </a:cubicBezTo>
                <a:lnTo>
                  <a:pt x="493954" y="129541"/>
                </a:lnTo>
                <a:cubicBezTo>
                  <a:pt x="503923" y="148233"/>
                  <a:pt x="511333" y="166036"/>
                  <a:pt x="516606" y="183966"/>
                </a:cubicBezTo>
                <a:lnTo>
                  <a:pt x="516695" y="184278"/>
                </a:lnTo>
                <a:cubicBezTo>
                  <a:pt x="521762" y="202860"/>
                  <a:pt x="514988" y="221589"/>
                  <a:pt x="499434" y="232044"/>
                </a:cubicBezTo>
                <a:cubicBezTo>
                  <a:pt x="489267" y="239117"/>
                  <a:pt x="484112" y="248244"/>
                  <a:pt x="484112" y="259177"/>
                </a:cubicBezTo>
                <a:cubicBezTo>
                  <a:pt x="484112" y="270415"/>
                  <a:pt x="489463" y="280152"/>
                  <a:pt x="498790" y="285893"/>
                </a:cubicBezTo>
                <a:lnTo>
                  <a:pt x="499290" y="286214"/>
                </a:lnTo>
                <a:cubicBezTo>
                  <a:pt x="514946" y="296649"/>
                  <a:pt x="521777" y="315436"/>
                  <a:pt x="516695" y="334076"/>
                </a:cubicBezTo>
                <a:lnTo>
                  <a:pt x="516526" y="334652"/>
                </a:lnTo>
                <a:cubicBezTo>
                  <a:pt x="511178" y="351764"/>
                  <a:pt x="504267" y="371665"/>
                  <a:pt x="493548" y="389531"/>
                </a:cubicBezTo>
                <a:lnTo>
                  <a:pt x="493131" y="390189"/>
                </a:lnTo>
                <a:cubicBezTo>
                  <a:pt x="482948" y="405463"/>
                  <a:pt x="464583" y="413419"/>
                  <a:pt x="447433" y="409990"/>
                </a:cubicBezTo>
                <a:cubicBezTo>
                  <a:pt x="436302" y="407765"/>
                  <a:pt x="425972" y="410733"/>
                  <a:pt x="418352" y="418353"/>
                </a:cubicBezTo>
                <a:lnTo>
                  <a:pt x="417788" y="418891"/>
                </a:lnTo>
                <a:cubicBezTo>
                  <a:pt x="410828" y="425217"/>
                  <a:pt x="407826" y="435959"/>
                  <a:pt x="409907" y="447006"/>
                </a:cubicBezTo>
                <a:cubicBezTo>
                  <a:pt x="414455" y="464940"/>
                  <a:pt x="405770" y="484537"/>
                  <a:pt x="389059" y="493821"/>
                </a:cubicBezTo>
                <a:lnTo>
                  <a:pt x="388812" y="493955"/>
                </a:lnTo>
                <a:cubicBezTo>
                  <a:pt x="370458" y="503743"/>
                  <a:pt x="352961" y="511064"/>
                  <a:pt x="335360" y="516319"/>
                </a:cubicBezTo>
                <a:cubicBezTo>
                  <a:pt x="330296" y="518341"/>
                  <a:pt x="325173" y="518341"/>
                  <a:pt x="322284" y="518341"/>
                </a:cubicBezTo>
                <a:cubicBezTo>
                  <a:pt x="308211" y="518341"/>
                  <a:pt x="294837" y="511381"/>
                  <a:pt x="286512" y="499725"/>
                </a:cubicBezTo>
                <a:lnTo>
                  <a:pt x="286374" y="499530"/>
                </a:lnTo>
                <a:cubicBezTo>
                  <a:pt x="279292" y="489299"/>
                  <a:pt x="270142" y="484113"/>
                  <a:pt x="259176" y="484113"/>
                </a:cubicBezTo>
                <a:cubicBezTo>
                  <a:pt x="247938" y="484113"/>
                  <a:pt x="238201" y="489463"/>
                  <a:pt x="232461" y="498791"/>
                </a:cubicBezTo>
                <a:lnTo>
                  <a:pt x="232139" y="499292"/>
                </a:lnTo>
                <a:cubicBezTo>
                  <a:pt x="221913" y="514631"/>
                  <a:pt x="201617" y="521901"/>
                  <a:pt x="183880" y="516582"/>
                </a:cubicBezTo>
                <a:lnTo>
                  <a:pt x="183700" y="516527"/>
                </a:lnTo>
                <a:cubicBezTo>
                  <a:pt x="166589" y="511179"/>
                  <a:pt x="146688" y="504268"/>
                  <a:pt x="128822" y="493548"/>
                </a:cubicBezTo>
                <a:lnTo>
                  <a:pt x="128164" y="493131"/>
                </a:lnTo>
                <a:cubicBezTo>
                  <a:pt x="112890" y="482950"/>
                  <a:pt x="104932" y="464585"/>
                  <a:pt x="108362" y="447434"/>
                </a:cubicBezTo>
                <a:cubicBezTo>
                  <a:pt x="110590" y="436300"/>
                  <a:pt x="107619" y="425973"/>
                  <a:pt x="100000" y="418353"/>
                </a:cubicBezTo>
                <a:lnTo>
                  <a:pt x="99462" y="417789"/>
                </a:lnTo>
                <a:cubicBezTo>
                  <a:pt x="93053" y="410738"/>
                  <a:pt x="82116" y="407751"/>
                  <a:pt x="70918" y="409990"/>
                </a:cubicBezTo>
                <a:lnTo>
                  <a:pt x="70636" y="410044"/>
                </a:lnTo>
                <a:cubicBezTo>
                  <a:pt x="51924" y="413443"/>
                  <a:pt x="33396" y="405013"/>
                  <a:pt x="24532" y="389059"/>
                </a:cubicBezTo>
                <a:lnTo>
                  <a:pt x="24398" y="388812"/>
                </a:lnTo>
                <a:cubicBezTo>
                  <a:pt x="14430" y="370122"/>
                  <a:pt x="7020" y="352319"/>
                  <a:pt x="1745" y="334390"/>
                </a:cubicBezTo>
                <a:lnTo>
                  <a:pt x="1658" y="334077"/>
                </a:lnTo>
                <a:cubicBezTo>
                  <a:pt x="-3411" y="315493"/>
                  <a:pt x="3365" y="296761"/>
                  <a:pt x="18924" y="286306"/>
                </a:cubicBezTo>
                <a:cubicBezTo>
                  <a:pt x="29087" y="279233"/>
                  <a:pt x="34240" y="270106"/>
                  <a:pt x="34240" y="259177"/>
                </a:cubicBezTo>
                <a:cubicBezTo>
                  <a:pt x="34240" y="247939"/>
                  <a:pt x="28890" y="238201"/>
                  <a:pt x="19561" y="232461"/>
                </a:cubicBezTo>
                <a:lnTo>
                  <a:pt x="19061" y="232139"/>
                </a:lnTo>
                <a:cubicBezTo>
                  <a:pt x="3721" y="221913"/>
                  <a:pt x="-3551" y="201618"/>
                  <a:pt x="1771" y="183880"/>
                </a:cubicBezTo>
                <a:lnTo>
                  <a:pt x="1825" y="183702"/>
                </a:lnTo>
                <a:cubicBezTo>
                  <a:pt x="7172" y="166591"/>
                  <a:pt x="14084" y="146690"/>
                  <a:pt x="24804" y="128823"/>
                </a:cubicBezTo>
                <a:lnTo>
                  <a:pt x="25221" y="128165"/>
                </a:lnTo>
                <a:cubicBezTo>
                  <a:pt x="35404" y="112890"/>
                  <a:pt x="53771" y="104932"/>
                  <a:pt x="70918" y="108363"/>
                </a:cubicBezTo>
                <a:cubicBezTo>
                  <a:pt x="82051" y="110589"/>
                  <a:pt x="92380" y="107619"/>
                  <a:pt x="99999" y="100001"/>
                </a:cubicBezTo>
                <a:lnTo>
                  <a:pt x="100563" y="99463"/>
                </a:lnTo>
                <a:cubicBezTo>
                  <a:pt x="107523" y="93136"/>
                  <a:pt x="110525" y="82396"/>
                  <a:pt x="108445" y="71350"/>
                </a:cubicBezTo>
                <a:cubicBezTo>
                  <a:pt x="103893" y="53415"/>
                  <a:pt x="112581" y="33817"/>
                  <a:pt x="129292" y="24532"/>
                </a:cubicBezTo>
                <a:lnTo>
                  <a:pt x="129539" y="24398"/>
                </a:lnTo>
                <a:cubicBezTo>
                  <a:pt x="148232" y="14429"/>
                  <a:pt x="166033" y="7019"/>
                  <a:pt x="183964" y="1745"/>
                </a:cubicBezTo>
                <a:lnTo>
                  <a:pt x="184275" y="1658"/>
                </a:lnTo>
                <a:cubicBezTo>
                  <a:pt x="188921" y="390"/>
                  <a:pt x="193576" y="-137"/>
                  <a:pt x="198110" y="29"/>
                </a:cubicBezTo>
                <a:close/>
                <a:moveTo>
                  <a:pt x="325008" y="33086"/>
                </a:moveTo>
                <a:cubicBezTo>
                  <a:pt x="321056" y="31936"/>
                  <a:pt x="315874" y="33737"/>
                  <a:pt x="313542" y="37048"/>
                </a:cubicBezTo>
                <a:cubicBezTo>
                  <a:pt x="301853" y="55781"/>
                  <a:pt x="281559" y="66954"/>
                  <a:pt x="259176" y="66954"/>
                </a:cubicBezTo>
                <a:cubicBezTo>
                  <a:pt x="237466" y="66954"/>
                  <a:pt x="218255" y="56474"/>
                  <a:pt x="205081" y="37445"/>
                </a:cubicBezTo>
                <a:lnTo>
                  <a:pt x="204921" y="37208"/>
                </a:lnTo>
                <a:cubicBezTo>
                  <a:pt x="202412" y="33446"/>
                  <a:pt x="197859" y="31910"/>
                  <a:pt x="193013" y="33185"/>
                </a:cubicBezTo>
                <a:cubicBezTo>
                  <a:pt x="177352" y="37806"/>
                  <a:pt x="161671" y="44349"/>
                  <a:pt x="145086" y="53183"/>
                </a:cubicBezTo>
                <a:cubicBezTo>
                  <a:pt x="141798" y="55063"/>
                  <a:pt x="139081" y="59369"/>
                  <a:pt x="140182" y="63408"/>
                </a:cubicBezTo>
                <a:lnTo>
                  <a:pt x="140330" y="63951"/>
                </a:lnTo>
                <a:lnTo>
                  <a:pt x="140441" y="64504"/>
                </a:lnTo>
                <a:cubicBezTo>
                  <a:pt x="144892" y="86764"/>
                  <a:pt x="138159" y="109290"/>
                  <a:pt x="122861" y="123402"/>
                </a:cubicBezTo>
                <a:cubicBezTo>
                  <a:pt x="107505" y="138583"/>
                  <a:pt x="86258" y="144791"/>
                  <a:pt x="64504" y="140441"/>
                </a:cubicBezTo>
                <a:cubicBezTo>
                  <a:pt x="60493" y="139641"/>
                  <a:pt x="55442" y="142038"/>
                  <a:pt x="52624" y="146044"/>
                </a:cubicBezTo>
                <a:cubicBezTo>
                  <a:pt x="43822" y="160840"/>
                  <a:pt x="37810" y="178237"/>
                  <a:pt x="33086" y="193346"/>
                </a:cubicBezTo>
                <a:cubicBezTo>
                  <a:pt x="31937" y="197298"/>
                  <a:pt x="33738" y="202480"/>
                  <a:pt x="37048" y="204811"/>
                </a:cubicBezTo>
                <a:cubicBezTo>
                  <a:pt x="55784" y="216500"/>
                  <a:pt x="66954" y="236792"/>
                  <a:pt x="66954" y="259177"/>
                </a:cubicBezTo>
                <a:cubicBezTo>
                  <a:pt x="66954" y="280886"/>
                  <a:pt x="56475" y="300097"/>
                  <a:pt x="37445" y="313271"/>
                </a:cubicBezTo>
                <a:lnTo>
                  <a:pt x="37207" y="313433"/>
                </a:lnTo>
                <a:cubicBezTo>
                  <a:pt x="33445" y="315941"/>
                  <a:pt x="31911" y="320493"/>
                  <a:pt x="33184" y="325341"/>
                </a:cubicBezTo>
                <a:cubicBezTo>
                  <a:pt x="37806" y="341002"/>
                  <a:pt x="44347" y="356680"/>
                  <a:pt x="53181" y="373263"/>
                </a:cubicBezTo>
                <a:cubicBezTo>
                  <a:pt x="55188" y="376761"/>
                  <a:pt x="59990" y="378691"/>
                  <a:pt x="64682" y="377877"/>
                </a:cubicBezTo>
                <a:cubicBezTo>
                  <a:pt x="86882" y="373499"/>
                  <a:pt x="109325" y="380234"/>
                  <a:pt x="123400" y="395490"/>
                </a:cubicBezTo>
                <a:cubicBezTo>
                  <a:pt x="138583" y="410846"/>
                  <a:pt x="144793" y="432094"/>
                  <a:pt x="140441" y="453850"/>
                </a:cubicBezTo>
                <a:cubicBezTo>
                  <a:pt x="139639" y="457862"/>
                  <a:pt x="142038" y="462913"/>
                  <a:pt x="146044" y="465730"/>
                </a:cubicBezTo>
                <a:cubicBezTo>
                  <a:pt x="160839" y="474531"/>
                  <a:pt x="178235" y="480543"/>
                  <a:pt x="193344" y="485268"/>
                </a:cubicBezTo>
                <a:cubicBezTo>
                  <a:pt x="197296" y="486418"/>
                  <a:pt x="202479" y="484618"/>
                  <a:pt x="204812" y="481307"/>
                </a:cubicBezTo>
                <a:cubicBezTo>
                  <a:pt x="216500" y="462572"/>
                  <a:pt x="236792" y="451401"/>
                  <a:pt x="259177" y="451401"/>
                </a:cubicBezTo>
                <a:cubicBezTo>
                  <a:pt x="280838" y="451399"/>
                  <a:pt x="300012" y="461833"/>
                  <a:pt x="313184" y="480784"/>
                </a:cubicBezTo>
                <a:cubicBezTo>
                  <a:pt x="315354" y="483774"/>
                  <a:pt x="318833" y="485627"/>
                  <a:pt x="322284" y="485627"/>
                </a:cubicBezTo>
                <a:cubicBezTo>
                  <a:pt x="322717" y="485627"/>
                  <a:pt x="323339" y="485627"/>
                  <a:pt x="323838" y="485611"/>
                </a:cubicBezTo>
                <a:lnTo>
                  <a:pt x="325156" y="485223"/>
                </a:lnTo>
                <a:cubicBezTo>
                  <a:pt x="340878" y="480599"/>
                  <a:pt x="356617" y="474039"/>
                  <a:pt x="373265" y="465171"/>
                </a:cubicBezTo>
                <a:cubicBezTo>
                  <a:pt x="376554" y="463292"/>
                  <a:pt x="379271" y="458984"/>
                  <a:pt x="378170" y="454945"/>
                </a:cubicBezTo>
                <a:lnTo>
                  <a:pt x="378022" y="454402"/>
                </a:lnTo>
                <a:lnTo>
                  <a:pt x="377911" y="453849"/>
                </a:lnTo>
                <a:cubicBezTo>
                  <a:pt x="373459" y="431591"/>
                  <a:pt x="380194" y="409065"/>
                  <a:pt x="395491" y="394951"/>
                </a:cubicBezTo>
                <a:cubicBezTo>
                  <a:pt x="410847" y="379769"/>
                  <a:pt x="432097" y="373563"/>
                  <a:pt x="453849" y="377911"/>
                </a:cubicBezTo>
                <a:cubicBezTo>
                  <a:pt x="457858" y="378713"/>
                  <a:pt x="462911" y="376316"/>
                  <a:pt x="465729" y="372309"/>
                </a:cubicBezTo>
                <a:cubicBezTo>
                  <a:pt x="474486" y="357585"/>
                  <a:pt x="480483" y="340289"/>
                  <a:pt x="485197" y="325232"/>
                </a:cubicBezTo>
                <a:cubicBezTo>
                  <a:pt x="486399" y="320500"/>
                  <a:pt x="484926" y="316061"/>
                  <a:pt x="481318" y="313549"/>
                </a:cubicBezTo>
                <a:cubicBezTo>
                  <a:pt x="462575" y="301861"/>
                  <a:pt x="451399" y="281564"/>
                  <a:pt x="451399" y="259176"/>
                </a:cubicBezTo>
                <a:cubicBezTo>
                  <a:pt x="451399" y="237466"/>
                  <a:pt x="461879" y="218255"/>
                  <a:pt x="480908" y="205081"/>
                </a:cubicBezTo>
                <a:lnTo>
                  <a:pt x="481146" y="204920"/>
                </a:lnTo>
                <a:cubicBezTo>
                  <a:pt x="484908" y="202411"/>
                  <a:pt x="486443" y="197858"/>
                  <a:pt x="485168" y="193011"/>
                </a:cubicBezTo>
                <a:cubicBezTo>
                  <a:pt x="480548" y="177351"/>
                  <a:pt x="474004" y="161669"/>
                  <a:pt x="465170" y="145086"/>
                </a:cubicBezTo>
                <a:cubicBezTo>
                  <a:pt x="463291" y="141797"/>
                  <a:pt x="458982" y="139081"/>
                  <a:pt x="454945" y="140181"/>
                </a:cubicBezTo>
                <a:lnTo>
                  <a:pt x="454402" y="140329"/>
                </a:lnTo>
                <a:lnTo>
                  <a:pt x="453849" y="140440"/>
                </a:lnTo>
                <a:cubicBezTo>
                  <a:pt x="431962" y="144816"/>
                  <a:pt x="410595" y="138507"/>
                  <a:pt x="395220" y="123132"/>
                </a:cubicBezTo>
                <a:cubicBezTo>
                  <a:pt x="379844" y="107755"/>
                  <a:pt x="373535" y="86385"/>
                  <a:pt x="377912" y="64503"/>
                </a:cubicBezTo>
                <a:cubicBezTo>
                  <a:pt x="378714" y="60492"/>
                  <a:pt x="376315" y="55441"/>
                  <a:pt x="372309" y="52623"/>
                </a:cubicBezTo>
                <a:cubicBezTo>
                  <a:pt x="357515" y="43823"/>
                  <a:pt x="340117" y="37811"/>
                  <a:pt x="325008" y="330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1400"/>
          </a:p>
        </p:txBody>
      </p:sp>
      <p:sp>
        <p:nvSpPr>
          <p:cNvPr id="13" name="任意形状 14"/>
          <p:cNvSpPr/>
          <p:nvPr>
            <p:custDataLst>
              <p:tags r:id="rId16"/>
            </p:custDataLst>
          </p:nvPr>
        </p:nvSpPr>
        <p:spPr>
          <a:xfrm>
            <a:off x="5976857" y="2827505"/>
            <a:ext cx="238291" cy="238291"/>
          </a:xfrm>
          <a:custGeom>
            <a:avLst/>
            <a:gdLst>
              <a:gd name="connsiteX0" fmla="*/ 119145 w 238291"/>
              <a:gd name="connsiteY0" fmla="*/ 0 h 238291"/>
              <a:gd name="connsiteX1" fmla="*/ 238291 w 238291"/>
              <a:gd name="connsiteY1" fmla="*/ 119146 h 238291"/>
              <a:gd name="connsiteX2" fmla="*/ 119145 w 238291"/>
              <a:gd name="connsiteY2" fmla="*/ 238291 h 238291"/>
              <a:gd name="connsiteX3" fmla="*/ 0 w 238291"/>
              <a:gd name="connsiteY3" fmla="*/ 119146 h 238291"/>
              <a:gd name="connsiteX4" fmla="*/ 119145 w 238291"/>
              <a:gd name="connsiteY4" fmla="*/ 0 h 238291"/>
              <a:gd name="connsiteX5" fmla="*/ 119145 w 238291"/>
              <a:gd name="connsiteY5" fmla="*/ 32714 h 238291"/>
              <a:gd name="connsiteX6" fmla="*/ 32713 w 238291"/>
              <a:gd name="connsiteY6" fmla="*/ 119146 h 238291"/>
              <a:gd name="connsiteX7" fmla="*/ 119145 w 238291"/>
              <a:gd name="connsiteY7" fmla="*/ 205578 h 238291"/>
              <a:gd name="connsiteX8" fmla="*/ 205577 w 238291"/>
              <a:gd name="connsiteY8" fmla="*/ 119146 h 238291"/>
              <a:gd name="connsiteX9" fmla="*/ 119145 w 238291"/>
              <a:gd name="connsiteY9" fmla="*/ 32714 h 2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91" h="238291">
                <a:moveTo>
                  <a:pt x="119145" y="0"/>
                </a:moveTo>
                <a:cubicBezTo>
                  <a:pt x="184842" y="0"/>
                  <a:pt x="238291" y="53449"/>
                  <a:pt x="238291" y="119146"/>
                </a:cubicBezTo>
                <a:cubicBezTo>
                  <a:pt x="238291" y="184843"/>
                  <a:pt x="184842" y="238291"/>
                  <a:pt x="119145" y="238291"/>
                </a:cubicBezTo>
                <a:cubicBezTo>
                  <a:pt x="53448" y="238291"/>
                  <a:pt x="0" y="184843"/>
                  <a:pt x="0" y="119146"/>
                </a:cubicBezTo>
                <a:cubicBezTo>
                  <a:pt x="0" y="53449"/>
                  <a:pt x="53448" y="0"/>
                  <a:pt x="119145" y="0"/>
                </a:cubicBezTo>
                <a:close/>
                <a:moveTo>
                  <a:pt x="119145" y="32714"/>
                </a:moveTo>
                <a:cubicBezTo>
                  <a:pt x="71486" y="32714"/>
                  <a:pt x="32713" y="71487"/>
                  <a:pt x="32713" y="119146"/>
                </a:cubicBezTo>
                <a:cubicBezTo>
                  <a:pt x="32713" y="166805"/>
                  <a:pt x="71486" y="205578"/>
                  <a:pt x="119145" y="205578"/>
                </a:cubicBezTo>
                <a:cubicBezTo>
                  <a:pt x="166804" y="205578"/>
                  <a:pt x="205577" y="166805"/>
                  <a:pt x="205577" y="119146"/>
                </a:cubicBezTo>
                <a:cubicBezTo>
                  <a:pt x="205577" y="71487"/>
                  <a:pt x="166804" y="32714"/>
                  <a:pt x="119145" y="3271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1400"/>
          </a:p>
        </p:txBody>
      </p:sp>
      <p:sp>
        <p:nvSpPr>
          <p:cNvPr id="14" name="任意形状 265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>
            <a:off x="2304222" y="2762579"/>
            <a:ext cx="405311" cy="440459"/>
          </a:xfrm>
          <a:custGeom>
            <a:avLst/>
            <a:gdLst>
              <a:gd name="connsiteX0" fmla="*/ 953606 w 1322678"/>
              <a:gd name="connsiteY0" fmla="*/ 983697 h 1437379"/>
              <a:gd name="connsiteX1" fmla="*/ 989612 w 1322678"/>
              <a:gd name="connsiteY1" fmla="*/ 1019702 h 1437379"/>
              <a:gd name="connsiteX2" fmla="*/ 989612 w 1322678"/>
              <a:gd name="connsiteY2" fmla="*/ 1158330 h 1437379"/>
              <a:gd name="connsiteX3" fmla="*/ 1092234 w 1322678"/>
              <a:gd name="connsiteY3" fmla="*/ 1158330 h 1437379"/>
              <a:gd name="connsiteX4" fmla="*/ 1128239 w 1322678"/>
              <a:gd name="connsiteY4" fmla="*/ 1194335 h 1437379"/>
              <a:gd name="connsiteX5" fmla="*/ 1092234 w 1322678"/>
              <a:gd name="connsiteY5" fmla="*/ 1230341 h 1437379"/>
              <a:gd name="connsiteX6" fmla="*/ 953606 w 1322678"/>
              <a:gd name="connsiteY6" fmla="*/ 1230341 h 1437379"/>
              <a:gd name="connsiteX7" fmla="*/ 917601 w 1322678"/>
              <a:gd name="connsiteY7" fmla="*/ 1194335 h 1437379"/>
              <a:gd name="connsiteX8" fmla="*/ 917601 w 1322678"/>
              <a:gd name="connsiteY8" fmla="*/ 1019702 h 1437379"/>
              <a:gd name="connsiteX9" fmla="*/ 953606 w 1322678"/>
              <a:gd name="connsiteY9" fmla="*/ 983697 h 1437379"/>
              <a:gd name="connsiteX10" fmla="*/ 1004019 w 1322678"/>
              <a:gd name="connsiteY10" fmla="*/ 879273 h 1437379"/>
              <a:gd name="connsiteX11" fmla="*/ 764573 w 1322678"/>
              <a:gd name="connsiteY11" fmla="*/ 1118719 h 1437379"/>
              <a:gd name="connsiteX12" fmla="*/ 1004019 w 1322678"/>
              <a:gd name="connsiteY12" fmla="*/ 1358165 h 1437379"/>
              <a:gd name="connsiteX13" fmla="*/ 1243464 w 1322678"/>
              <a:gd name="connsiteY13" fmla="*/ 1118719 h 1437379"/>
              <a:gd name="connsiteX14" fmla="*/ 1004019 w 1322678"/>
              <a:gd name="connsiteY14" fmla="*/ 879273 h 1437379"/>
              <a:gd name="connsiteX15" fmla="*/ 1004019 w 1322678"/>
              <a:gd name="connsiteY15" fmla="*/ 800059 h 1437379"/>
              <a:gd name="connsiteX16" fmla="*/ 1322678 w 1322678"/>
              <a:gd name="connsiteY16" fmla="*/ 1118719 h 1437379"/>
              <a:gd name="connsiteX17" fmla="*/ 1004019 w 1322678"/>
              <a:gd name="connsiteY17" fmla="*/ 1437379 h 1437379"/>
              <a:gd name="connsiteX18" fmla="*/ 685359 w 1322678"/>
              <a:gd name="connsiteY18" fmla="*/ 1118719 h 1437379"/>
              <a:gd name="connsiteX19" fmla="*/ 1004019 w 1322678"/>
              <a:gd name="connsiteY19" fmla="*/ 800059 h 1437379"/>
              <a:gd name="connsiteX20" fmla="*/ 453526 w 1322678"/>
              <a:gd name="connsiteY20" fmla="*/ 694903 h 1437379"/>
              <a:gd name="connsiteX21" fmla="*/ 519360 w 1322678"/>
              <a:gd name="connsiteY21" fmla="*/ 694903 h 1437379"/>
              <a:gd name="connsiteX22" fmla="*/ 529019 w 1322678"/>
              <a:gd name="connsiteY22" fmla="*/ 713776 h 1437379"/>
              <a:gd name="connsiteX23" fmla="*/ 359304 w 1322678"/>
              <a:gd name="connsiteY23" fmla="*/ 948582 h 1437379"/>
              <a:gd name="connsiteX24" fmla="*/ 340134 w 1322678"/>
              <a:gd name="connsiteY24" fmla="*/ 948582 h 1437379"/>
              <a:gd name="connsiteX25" fmla="*/ 230458 w 1322678"/>
              <a:gd name="connsiteY25" fmla="*/ 796850 h 1437379"/>
              <a:gd name="connsiteX26" fmla="*/ 240117 w 1322678"/>
              <a:gd name="connsiteY26" fmla="*/ 777977 h 1437379"/>
              <a:gd name="connsiteX27" fmla="*/ 305804 w 1322678"/>
              <a:gd name="connsiteY27" fmla="*/ 777977 h 1437379"/>
              <a:gd name="connsiteX28" fmla="*/ 315463 w 1322678"/>
              <a:gd name="connsiteY28" fmla="*/ 782881 h 1437379"/>
              <a:gd name="connsiteX29" fmla="*/ 349499 w 1322678"/>
              <a:gd name="connsiteY29" fmla="*/ 830288 h 1437379"/>
              <a:gd name="connsiteX30" fmla="*/ 443867 w 1322678"/>
              <a:gd name="connsiteY30" fmla="*/ 699807 h 1437379"/>
              <a:gd name="connsiteX31" fmla="*/ 453526 w 1322678"/>
              <a:gd name="connsiteY31" fmla="*/ 694903 h 1437379"/>
              <a:gd name="connsiteX32" fmla="*/ 663572 w 1322678"/>
              <a:gd name="connsiteY32" fmla="*/ 368997 h 1437379"/>
              <a:gd name="connsiteX33" fmla="*/ 1022620 w 1322678"/>
              <a:gd name="connsiteY33" fmla="*/ 368997 h 1437379"/>
              <a:gd name="connsiteX34" fmla="*/ 1022620 w 1322678"/>
              <a:gd name="connsiteY34" fmla="*/ 458294 h 1437379"/>
              <a:gd name="connsiteX35" fmla="*/ 663572 w 1322678"/>
              <a:gd name="connsiteY35" fmla="*/ 458294 h 1437379"/>
              <a:gd name="connsiteX36" fmla="*/ 453526 w 1322678"/>
              <a:gd name="connsiteY36" fmla="*/ 293067 h 1437379"/>
              <a:gd name="connsiteX37" fmla="*/ 519360 w 1322678"/>
              <a:gd name="connsiteY37" fmla="*/ 293067 h 1437379"/>
              <a:gd name="connsiteX38" fmla="*/ 529019 w 1322678"/>
              <a:gd name="connsiteY38" fmla="*/ 311940 h 1437379"/>
              <a:gd name="connsiteX39" fmla="*/ 359304 w 1322678"/>
              <a:gd name="connsiteY39" fmla="*/ 546746 h 1437379"/>
              <a:gd name="connsiteX40" fmla="*/ 340134 w 1322678"/>
              <a:gd name="connsiteY40" fmla="*/ 546746 h 1437379"/>
              <a:gd name="connsiteX41" fmla="*/ 230458 w 1322678"/>
              <a:gd name="connsiteY41" fmla="*/ 395014 h 1437379"/>
              <a:gd name="connsiteX42" fmla="*/ 240117 w 1322678"/>
              <a:gd name="connsiteY42" fmla="*/ 376141 h 1437379"/>
              <a:gd name="connsiteX43" fmla="*/ 305804 w 1322678"/>
              <a:gd name="connsiteY43" fmla="*/ 376141 h 1437379"/>
              <a:gd name="connsiteX44" fmla="*/ 315463 w 1322678"/>
              <a:gd name="connsiteY44" fmla="*/ 381045 h 1437379"/>
              <a:gd name="connsiteX45" fmla="*/ 349499 w 1322678"/>
              <a:gd name="connsiteY45" fmla="*/ 428452 h 1437379"/>
              <a:gd name="connsiteX46" fmla="*/ 443867 w 1322678"/>
              <a:gd name="connsiteY46" fmla="*/ 297971 h 1437379"/>
              <a:gd name="connsiteX47" fmla="*/ 453526 w 1322678"/>
              <a:gd name="connsiteY47" fmla="*/ 293067 h 1437379"/>
              <a:gd name="connsiteX48" fmla="*/ 164003 w 1322678"/>
              <a:gd name="connsiteY48" fmla="*/ 0 h 1437379"/>
              <a:gd name="connsiteX49" fmla="*/ 1058246 w 1322678"/>
              <a:gd name="connsiteY49" fmla="*/ 0 h 1437379"/>
              <a:gd name="connsiteX50" fmla="*/ 1222249 w 1322678"/>
              <a:gd name="connsiteY50" fmla="*/ 164003 h 1437379"/>
              <a:gd name="connsiteX51" fmla="*/ 1222249 w 1322678"/>
              <a:gd name="connsiteY51" fmla="*/ 587871 h 1437379"/>
              <a:gd name="connsiteX52" fmla="*/ 1177601 w 1322678"/>
              <a:gd name="connsiteY52" fmla="*/ 632520 h 1437379"/>
              <a:gd name="connsiteX53" fmla="*/ 1132952 w 1322678"/>
              <a:gd name="connsiteY53" fmla="*/ 587871 h 1437379"/>
              <a:gd name="connsiteX54" fmla="*/ 1132952 w 1322678"/>
              <a:gd name="connsiteY54" fmla="*/ 164003 h 1437379"/>
              <a:gd name="connsiteX55" fmla="*/ 1058246 w 1322678"/>
              <a:gd name="connsiteY55" fmla="*/ 89297 h 1437379"/>
              <a:gd name="connsiteX56" fmla="*/ 164003 w 1322678"/>
              <a:gd name="connsiteY56" fmla="*/ 89297 h 1437379"/>
              <a:gd name="connsiteX57" fmla="*/ 89297 w 1322678"/>
              <a:gd name="connsiteY57" fmla="*/ 164003 h 1437379"/>
              <a:gd name="connsiteX58" fmla="*/ 89297 w 1322678"/>
              <a:gd name="connsiteY58" fmla="*/ 1234980 h 1437379"/>
              <a:gd name="connsiteX59" fmla="*/ 164003 w 1322678"/>
              <a:gd name="connsiteY59" fmla="*/ 1309686 h 1437379"/>
              <a:gd name="connsiteX60" fmla="*/ 520898 w 1322678"/>
              <a:gd name="connsiteY60" fmla="*/ 1309686 h 1437379"/>
              <a:gd name="connsiteX61" fmla="*/ 565547 w 1322678"/>
              <a:gd name="connsiteY61" fmla="*/ 1354334 h 1437379"/>
              <a:gd name="connsiteX62" fmla="*/ 520898 w 1322678"/>
              <a:gd name="connsiteY62" fmla="*/ 1398983 h 1437379"/>
              <a:gd name="connsiteX63" fmla="*/ 164003 w 1322678"/>
              <a:gd name="connsiteY63" fmla="*/ 1398983 h 1437379"/>
              <a:gd name="connsiteX64" fmla="*/ 0 w 1322678"/>
              <a:gd name="connsiteY64" fmla="*/ 1234980 h 1437379"/>
              <a:gd name="connsiteX65" fmla="*/ 0 w 1322678"/>
              <a:gd name="connsiteY65" fmla="*/ 164003 h 1437379"/>
              <a:gd name="connsiteX66" fmla="*/ 164003 w 1322678"/>
              <a:gd name="connsiteY66" fmla="*/ 0 h 1437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322678" h="1437379">
                <a:moveTo>
                  <a:pt x="953606" y="983697"/>
                </a:moveTo>
                <a:cubicBezTo>
                  <a:pt x="973492" y="983697"/>
                  <a:pt x="989612" y="999817"/>
                  <a:pt x="989612" y="1019702"/>
                </a:cubicBezTo>
                <a:lnTo>
                  <a:pt x="989612" y="1158330"/>
                </a:lnTo>
                <a:lnTo>
                  <a:pt x="1092234" y="1158330"/>
                </a:lnTo>
                <a:cubicBezTo>
                  <a:pt x="1112119" y="1158330"/>
                  <a:pt x="1128239" y="1174450"/>
                  <a:pt x="1128239" y="1194335"/>
                </a:cubicBezTo>
                <a:cubicBezTo>
                  <a:pt x="1128239" y="1214221"/>
                  <a:pt x="1112119" y="1230341"/>
                  <a:pt x="1092234" y="1230341"/>
                </a:cubicBezTo>
                <a:lnTo>
                  <a:pt x="953606" y="1230341"/>
                </a:lnTo>
                <a:cubicBezTo>
                  <a:pt x="933721" y="1230341"/>
                  <a:pt x="917601" y="1214221"/>
                  <a:pt x="917601" y="1194335"/>
                </a:cubicBezTo>
                <a:lnTo>
                  <a:pt x="917601" y="1019702"/>
                </a:lnTo>
                <a:cubicBezTo>
                  <a:pt x="917601" y="999817"/>
                  <a:pt x="933721" y="983697"/>
                  <a:pt x="953606" y="983697"/>
                </a:cubicBezTo>
                <a:close/>
                <a:moveTo>
                  <a:pt x="1004019" y="879273"/>
                </a:moveTo>
                <a:cubicBezTo>
                  <a:pt x="871988" y="879273"/>
                  <a:pt x="764573" y="986688"/>
                  <a:pt x="764573" y="1118719"/>
                </a:cubicBezTo>
                <a:cubicBezTo>
                  <a:pt x="764573" y="1250750"/>
                  <a:pt x="871988" y="1358165"/>
                  <a:pt x="1004019" y="1358165"/>
                </a:cubicBezTo>
                <a:cubicBezTo>
                  <a:pt x="1136050" y="1358165"/>
                  <a:pt x="1243464" y="1250750"/>
                  <a:pt x="1243464" y="1118719"/>
                </a:cubicBezTo>
                <a:cubicBezTo>
                  <a:pt x="1243464" y="986688"/>
                  <a:pt x="1136048" y="879273"/>
                  <a:pt x="1004019" y="879273"/>
                </a:cubicBezTo>
                <a:close/>
                <a:moveTo>
                  <a:pt x="1004019" y="800059"/>
                </a:moveTo>
                <a:cubicBezTo>
                  <a:pt x="1179729" y="800059"/>
                  <a:pt x="1322678" y="943009"/>
                  <a:pt x="1322678" y="1118719"/>
                </a:cubicBezTo>
                <a:cubicBezTo>
                  <a:pt x="1322678" y="1294429"/>
                  <a:pt x="1179729" y="1437379"/>
                  <a:pt x="1004019" y="1437379"/>
                </a:cubicBezTo>
                <a:cubicBezTo>
                  <a:pt x="828308" y="1437379"/>
                  <a:pt x="685359" y="1294429"/>
                  <a:pt x="685359" y="1118719"/>
                </a:cubicBezTo>
                <a:cubicBezTo>
                  <a:pt x="685359" y="943009"/>
                  <a:pt x="828308" y="800059"/>
                  <a:pt x="1004019" y="800059"/>
                </a:cubicBezTo>
                <a:close/>
                <a:moveTo>
                  <a:pt x="453526" y="694903"/>
                </a:moveTo>
                <a:lnTo>
                  <a:pt x="519360" y="694903"/>
                </a:lnTo>
                <a:cubicBezTo>
                  <a:pt x="529019" y="694903"/>
                  <a:pt x="534667" y="705900"/>
                  <a:pt x="529019" y="713776"/>
                </a:cubicBezTo>
                <a:lnTo>
                  <a:pt x="359304" y="948582"/>
                </a:lnTo>
                <a:cubicBezTo>
                  <a:pt x="354549" y="955121"/>
                  <a:pt x="344889" y="955121"/>
                  <a:pt x="340134" y="948582"/>
                </a:cubicBezTo>
                <a:lnTo>
                  <a:pt x="230458" y="796850"/>
                </a:lnTo>
                <a:cubicBezTo>
                  <a:pt x="224810" y="788973"/>
                  <a:pt x="230458" y="777977"/>
                  <a:pt x="240117" y="777977"/>
                </a:cubicBezTo>
                <a:lnTo>
                  <a:pt x="305804" y="777977"/>
                </a:lnTo>
                <a:cubicBezTo>
                  <a:pt x="309668" y="777977"/>
                  <a:pt x="313235" y="779761"/>
                  <a:pt x="315463" y="782881"/>
                </a:cubicBezTo>
                <a:cubicBezTo>
                  <a:pt x="315463" y="782881"/>
                  <a:pt x="349495" y="830288"/>
                  <a:pt x="349499" y="830288"/>
                </a:cubicBezTo>
                <a:lnTo>
                  <a:pt x="443867" y="699807"/>
                </a:lnTo>
                <a:cubicBezTo>
                  <a:pt x="446095" y="696687"/>
                  <a:pt x="449662" y="694903"/>
                  <a:pt x="453526" y="694903"/>
                </a:cubicBezTo>
                <a:close/>
                <a:moveTo>
                  <a:pt x="663572" y="368997"/>
                </a:moveTo>
                <a:lnTo>
                  <a:pt x="1022620" y="368997"/>
                </a:lnTo>
                <a:lnTo>
                  <a:pt x="1022620" y="458294"/>
                </a:lnTo>
                <a:lnTo>
                  <a:pt x="663572" y="458294"/>
                </a:lnTo>
                <a:close/>
                <a:moveTo>
                  <a:pt x="453526" y="293067"/>
                </a:moveTo>
                <a:lnTo>
                  <a:pt x="519360" y="293067"/>
                </a:lnTo>
                <a:cubicBezTo>
                  <a:pt x="529019" y="293067"/>
                  <a:pt x="534667" y="304064"/>
                  <a:pt x="529019" y="311940"/>
                </a:cubicBezTo>
                <a:lnTo>
                  <a:pt x="359304" y="546746"/>
                </a:lnTo>
                <a:cubicBezTo>
                  <a:pt x="354549" y="553286"/>
                  <a:pt x="344889" y="553286"/>
                  <a:pt x="340134" y="546746"/>
                </a:cubicBezTo>
                <a:lnTo>
                  <a:pt x="230458" y="395014"/>
                </a:lnTo>
                <a:cubicBezTo>
                  <a:pt x="224810" y="387138"/>
                  <a:pt x="230458" y="376141"/>
                  <a:pt x="240117" y="376141"/>
                </a:cubicBezTo>
                <a:lnTo>
                  <a:pt x="305804" y="376141"/>
                </a:lnTo>
                <a:cubicBezTo>
                  <a:pt x="309668" y="376141"/>
                  <a:pt x="313235" y="377923"/>
                  <a:pt x="315463" y="381045"/>
                </a:cubicBezTo>
                <a:cubicBezTo>
                  <a:pt x="315463" y="381045"/>
                  <a:pt x="349495" y="428452"/>
                  <a:pt x="349499" y="428452"/>
                </a:cubicBezTo>
                <a:lnTo>
                  <a:pt x="443867" y="297971"/>
                </a:lnTo>
                <a:cubicBezTo>
                  <a:pt x="446095" y="294851"/>
                  <a:pt x="449662" y="293067"/>
                  <a:pt x="453526" y="293067"/>
                </a:cubicBezTo>
                <a:close/>
                <a:moveTo>
                  <a:pt x="164003" y="0"/>
                </a:moveTo>
                <a:lnTo>
                  <a:pt x="1058246" y="0"/>
                </a:lnTo>
                <a:cubicBezTo>
                  <a:pt x="1148678" y="0"/>
                  <a:pt x="1222249" y="73571"/>
                  <a:pt x="1222249" y="164003"/>
                </a:cubicBezTo>
                <a:lnTo>
                  <a:pt x="1222249" y="587871"/>
                </a:lnTo>
                <a:cubicBezTo>
                  <a:pt x="1222249" y="612530"/>
                  <a:pt x="1202260" y="632520"/>
                  <a:pt x="1177601" y="632520"/>
                </a:cubicBezTo>
                <a:cubicBezTo>
                  <a:pt x="1152942" y="632520"/>
                  <a:pt x="1132952" y="612530"/>
                  <a:pt x="1132952" y="587871"/>
                </a:cubicBezTo>
                <a:lnTo>
                  <a:pt x="1132952" y="164003"/>
                </a:lnTo>
                <a:cubicBezTo>
                  <a:pt x="1132952" y="122809"/>
                  <a:pt x="1099438" y="89297"/>
                  <a:pt x="1058246" y="89297"/>
                </a:cubicBezTo>
                <a:lnTo>
                  <a:pt x="164003" y="89297"/>
                </a:lnTo>
                <a:cubicBezTo>
                  <a:pt x="122809" y="89297"/>
                  <a:pt x="89297" y="122811"/>
                  <a:pt x="89297" y="164003"/>
                </a:cubicBezTo>
                <a:lnTo>
                  <a:pt x="89297" y="1234980"/>
                </a:lnTo>
                <a:cubicBezTo>
                  <a:pt x="89297" y="1276173"/>
                  <a:pt x="122811" y="1309686"/>
                  <a:pt x="164003" y="1309686"/>
                </a:cubicBezTo>
                <a:lnTo>
                  <a:pt x="520898" y="1309686"/>
                </a:lnTo>
                <a:cubicBezTo>
                  <a:pt x="545557" y="1309686"/>
                  <a:pt x="565547" y="1329675"/>
                  <a:pt x="565547" y="1354334"/>
                </a:cubicBezTo>
                <a:cubicBezTo>
                  <a:pt x="565547" y="1378993"/>
                  <a:pt x="545557" y="1398983"/>
                  <a:pt x="520898" y="1398983"/>
                </a:cubicBezTo>
                <a:lnTo>
                  <a:pt x="164003" y="1398983"/>
                </a:lnTo>
                <a:cubicBezTo>
                  <a:pt x="73571" y="1398983"/>
                  <a:pt x="0" y="1325411"/>
                  <a:pt x="0" y="1234980"/>
                </a:cubicBezTo>
                <a:lnTo>
                  <a:pt x="0" y="164003"/>
                </a:lnTo>
                <a:cubicBezTo>
                  <a:pt x="0" y="73571"/>
                  <a:pt x="73571" y="0"/>
                  <a:pt x="16400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p>
            <a:endParaRPr lang="zh-CN" altLang="en-US" sz="1400"/>
          </a:p>
        </p:txBody>
      </p:sp>
      <p:sp>
        <p:nvSpPr>
          <p:cNvPr id="69" name="任意形状 346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9514928" y="2762258"/>
            <a:ext cx="426176" cy="440459"/>
          </a:xfrm>
          <a:custGeom>
            <a:avLst/>
            <a:gdLst>
              <a:gd name="connsiteX0" fmla="*/ 1338726 w 1369548"/>
              <a:gd name="connsiteY0" fmla="*/ 955036 h 1415447"/>
              <a:gd name="connsiteX1" fmla="*/ 1340611 w 1369548"/>
              <a:gd name="connsiteY1" fmla="*/ 959194 h 1415447"/>
              <a:gd name="connsiteX2" fmla="*/ 1348655 w 1369548"/>
              <a:gd name="connsiteY2" fmla="*/ 1206239 h 1415447"/>
              <a:gd name="connsiteX3" fmla="*/ 1179655 w 1369548"/>
              <a:gd name="connsiteY3" fmla="*/ 1386615 h 1415447"/>
              <a:gd name="connsiteX4" fmla="*/ 1046422 w 1369548"/>
              <a:gd name="connsiteY4" fmla="*/ 1415447 h 1415447"/>
              <a:gd name="connsiteX5" fmla="*/ 1046400 w 1369548"/>
              <a:gd name="connsiteY5" fmla="*/ 1415447 h 1415447"/>
              <a:gd name="connsiteX6" fmla="*/ 794173 w 1369548"/>
              <a:gd name="connsiteY6" fmla="*/ 1294096 h 1415447"/>
              <a:gd name="connsiteX7" fmla="*/ 789474 w 1369548"/>
              <a:gd name="connsiteY7" fmla="*/ 1288216 h 1415447"/>
              <a:gd name="connsiteX8" fmla="*/ 846516 w 1369548"/>
              <a:gd name="connsiteY8" fmla="*/ 1231743 h 1415447"/>
              <a:gd name="connsiteX9" fmla="*/ 858835 w 1369548"/>
              <a:gd name="connsiteY9" fmla="*/ 1247374 h 1415447"/>
              <a:gd name="connsiteX10" fmla="*/ 1023328 w 1369548"/>
              <a:gd name="connsiteY10" fmla="*/ 1334239 h 1415447"/>
              <a:gd name="connsiteX11" fmla="*/ 1201268 w 1369548"/>
              <a:gd name="connsiteY11" fmla="*/ 1279370 h 1415447"/>
              <a:gd name="connsiteX12" fmla="*/ 1272924 w 1369548"/>
              <a:gd name="connsiteY12" fmla="*/ 1179913 h 1415447"/>
              <a:gd name="connsiteX13" fmla="*/ 1288409 w 1369548"/>
              <a:gd name="connsiteY13" fmla="*/ 1070582 h 1415447"/>
              <a:gd name="connsiteX14" fmla="*/ 1252002 w 1369548"/>
              <a:gd name="connsiteY14" fmla="*/ 1091511 h 1415447"/>
              <a:gd name="connsiteX15" fmla="*/ 1241926 w 1369548"/>
              <a:gd name="connsiteY15" fmla="*/ 1037414 h 1415447"/>
              <a:gd name="connsiteX16" fmla="*/ 1248607 w 1369548"/>
              <a:gd name="connsiteY16" fmla="*/ 1037414 h 1415447"/>
              <a:gd name="connsiteX17" fmla="*/ 1331305 w 1369548"/>
              <a:gd name="connsiteY17" fmla="*/ 955626 h 1415447"/>
              <a:gd name="connsiteX18" fmla="*/ 1333112 w 1369548"/>
              <a:gd name="connsiteY18" fmla="*/ 957453 h 1415447"/>
              <a:gd name="connsiteX19" fmla="*/ 1020313 w 1369548"/>
              <a:gd name="connsiteY19" fmla="*/ 948748 h 1415447"/>
              <a:gd name="connsiteX20" fmla="*/ 1134012 w 1369548"/>
              <a:gd name="connsiteY20" fmla="*/ 948748 h 1415447"/>
              <a:gd name="connsiteX21" fmla="*/ 1093433 w 1369548"/>
              <a:gd name="connsiteY21" fmla="*/ 1043483 h 1415447"/>
              <a:gd name="connsiteX22" fmla="*/ 1171132 w 1369548"/>
              <a:gd name="connsiteY22" fmla="*/ 1043483 h 1415447"/>
              <a:gd name="connsiteX23" fmla="*/ 1040148 w 1369548"/>
              <a:gd name="connsiteY23" fmla="*/ 1251446 h 1415447"/>
              <a:gd name="connsiteX24" fmla="*/ 982885 w 1369548"/>
              <a:gd name="connsiteY24" fmla="*/ 1251446 h 1415447"/>
              <a:gd name="connsiteX25" fmla="*/ 1028545 w 1369548"/>
              <a:gd name="connsiteY25" fmla="*/ 1130421 h 1415447"/>
              <a:gd name="connsiteX26" fmla="*/ 943585 w 1369548"/>
              <a:gd name="connsiteY26" fmla="*/ 1130421 h 1415447"/>
              <a:gd name="connsiteX27" fmla="*/ 318158 w 1369548"/>
              <a:gd name="connsiteY27" fmla="*/ 907087 h 1415447"/>
              <a:gd name="connsiteX28" fmla="*/ 275234 w 1369548"/>
              <a:gd name="connsiteY28" fmla="*/ 950011 h 1415447"/>
              <a:gd name="connsiteX29" fmla="*/ 318158 w 1369548"/>
              <a:gd name="connsiteY29" fmla="*/ 992935 h 1415447"/>
              <a:gd name="connsiteX30" fmla="*/ 361082 w 1369548"/>
              <a:gd name="connsiteY30" fmla="*/ 950011 h 1415447"/>
              <a:gd name="connsiteX31" fmla="*/ 318158 w 1369548"/>
              <a:gd name="connsiteY31" fmla="*/ 907087 h 1415447"/>
              <a:gd name="connsiteX32" fmla="*/ 1045968 w 1369548"/>
              <a:gd name="connsiteY32" fmla="*/ 768990 h 1415447"/>
              <a:gd name="connsiteX33" fmla="*/ 1046223 w 1369548"/>
              <a:gd name="connsiteY33" fmla="*/ 768990 h 1415447"/>
              <a:gd name="connsiteX34" fmla="*/ 1297074 w 1369548"/>
              <a:gd name="connsiteY34" fmla="*/ 888719 h 1415447"/>
              <a:gd name="connsiteX35" fmla="*/ 1301833 w 1369548"/>
              <a:gd name="connsiteY35" fmla="*/ 894608 h 1415447"/>
              <a:gd name="connsiteX36" fmla="*/ 1244756 w 1369548"/>
              <a:gd name="connsiteY36" fmla="*/ 951059 h 1415447"/>
              <a:gd name="connsiteX37" fmla="*/ 1233294 w 1369548"/>
              <a:gd name="connsiteY37" fmla="*/ 936505 h 1415447"/>
              <a:gd name="connsiteX38" fmla="*/ 1068809 w 1369548"/>
              <a:gd name="connsiteY38" fmla="*/ 849625 h 1415447"/>
              <a:gd name="connsiteX39" fmla="*/ 890866 w 1369548"/>
              <a:gd name="connsiteY39" fmla="*/ 904476 h 1415447"/>
              <a:gd name="connsiteX40" fmla="*/ 819178 w 1369548"/>
              <a:gd name="connsiteY40" fmla="*/ 1003986 h 1415447"/>
              <a:gd name="connsiteX41" fmla="*/ 803715 w 1369548"/>
              <a:gd name="connsiteY41" fmla="*/ 1113378 h 1415447"/>
              <a:gd name="connsiteX42" fmla="*/ 840129 w 1369548"/>
              <a:gd name="connsiteY42" fmla="*/ 1092401 h 1415447"/>
              <a:gd name="connsiteX43" fmla="*/ 848854 w 1369548"/>
              <a:gd name="connsiteY43" fmla="*/ 1139306 h 1415447"/>
              <a:gd name="connsiteX44" fmla="*/ 754819 w 1369548"/>
              <a:gd name="connsiteY44" fmla="*/ 1232363 h 1415447"/>
              <a:gd name="connsiteX45" fmla="*/ 745865 w 1369548"/>
              <a:gd name="connsiteY45" fmla="*/ 1211244 h 1415447"/>
              <a:gd name="connsiteX46" fmla="*/ 749621 w 1369548"/>
              <a:gd name="connsiteY46" fmla="*/ 963985 h 1415447"/>
              <a:gd name="connsiteX47" fmla="*/ 926849 w 1369548"/>
              <a:gd name="connsiteY47" fmla="*/ 791763 h 1415447"/>
              <a:gd name="connsiteX48" fmla="*/ 1045968 w 1369548"/>
              <a:gd name="connsiteY48" fmla="*/ 768990 h 1415447"/>
              <a:gd name="connsiteX49" fmla="*/ 904098 w 1369548"/>
              <a:gd name="connsiteY49" fmla="*/ 313187 h 1415447"/>
              <a:gd name="connsiteX50" fmla="*/ 861174 w 1369548"/>
              <a:gd name="connsiteY50" fmla="*/ 356111 h 1415447"/>
              <a:gd name="connsiteX51" fmla="*/ 904098 w 1369548"/>
              <a:gd name="connsiteY51" fmla="*/ 399035 h 1415447"/>
              <a:gd name="connsiteX52" fmla="*/ 947020 w 1369548"/>
              <a:gd name="connsiteY52" fmla="*/ 356111 h 1415447"/>
              <a:gd name="connsiteX53" fmla="*/ 904098 w 1369548"/>
              <a:gd name="connsiteY53" fmla="*/ 313187 h 1415447"/>
              <a:gd name="connsiteX54" fmla="*/ 904098 w 1369548"/>
              <a:gd name="connsiteY54" fmla="*/ 223890 h 1415447"/>
              <a:gd name="connsiteX55" fmla="*/ 1036317 w 1369548"/>
              <a:gd name="connsiteY55" fmla="*/ 356111 h 1415447"/>
              <a:gd name="connsiteX56" fmla="*/ 904098 w 1369548"/>
              <a:gd name="connsiteY56" fmla="*/ 488332 h 1415447"/>
              <a:gd name="connsiteX57" fmla="*/ 810648 w 1369548"/>
              <a:gd name="connsiteY57" fmla="*/ 449562 h 1415447"/>
              <a:gd name="connsiteX58" fmla="*/ 787334 w 1369548"/>
              <a:gd name="connsiteY58" fmla="*/ 415011 h 1415447"/>
              <a:gd name="connsiteX59" fmla="*/ 753167 w 1369548"/>
              <a:gd name="connsiteY59" fmla="*/ 430216 h 1415447"/>
              <a:gd name="connsiteX60" fmla="*/ 643395 w 1369548"/>
              <a:gd name="connsiteY60" fmla="*/ 625482 h 1415447"/>
              <a:gd name="connsiteX61" fmla="*/ 514324 w 1369548"/>
              <a:gd name="connsiteY61" fmla="*/ 909839 h 1415447"/>
              <a:gd name="connsiteX62" fmla="*/ 472553 w 1369548"/>
              <a:gd name="connsiteY62" fmla="*/ 940827 h 1415447"/>
              <a:gd name="connsiteX63" fmla="*/ 449762 w 1369548"/>
              <a:gd name="connsiteY63" fmla="*/ 953060 h 1415447"/>
              <a:gd name="connsiteX64" fmla="*/ 439972 w 1369548"/>
              <a:gd name="connsiteY64" fmla="*/ 1001430 h 1415447"/>
              <a:gd name="connsiteX65" fmla="*/ 318158 w 1369548"/>
              <a:gd name="connsiteY65" fmla="*/ 1082234 h 1415447"/>
              <a:gd name="connsiteX66" fmla="*/ 185937 w 1369548"/>
              <a:gd name="connsiteY66" fmla="*/ 950013 h 1415447"/>
              <a:gd name="connsiteX67" fmla="*/ 318158 w 1369548"/>
              <a:gd name="connsiteY67" fmla="*/ 817792 h 1415447"/>
              <a:gd name="connsiteX68" fmla="*/ 411608 w 1369548"/>
              <a:gd name="connsiteY68" fmla="*/ 856563 h 1415447"/>
              <a:gd name="connsiteX69" fmla="*/ 419459 w 1369548"/>
              <a:gd name="connsiteY69" fmla="*/ 868198 h 1415447"/>
              <a:gd name="connsiteX70" fmla="*/ 430966 w 1369548"/>
              <a:gd name="connsiteY70" fmla="*/ 861620 h 1415447"/>
              <a:gd name="connsiteX71" fmla="*/ 554366 w 1369548"/>
              <a:gd name="connsiteY71" fmla="*/ 618549 h 1415447"/>
              <a:gd name="connsiteX72" fmla="*/ 713586 w 1369548"/>
              <a:gd name="connsiteY72" fmla="*/ 350072 h 1415447"/>
              <a:gd name="connsiteX73" fmla="*/ 765109 w 1369548"/>
              <a:gd name="connsiteY73" fmla="*/ 327937 h 1415447"/>
              <a:gd name="connsiteX74" fmla="*/ 778263 w 1369548"/>
              <a:gd name="connsiteY74" fmla="*/ 324559 h 1415447"/>
              <a:gd name="connsiteX75" fmla="*/ 782284 w 1369548"/>
              <a:gd name="connsiteY75" fmla="*/ 304694 h 1415447"/>
              <a:gd name="connsiteX76" fmla="*/ 904098 w 1369548"/>
              <a:gd name="connsiteY76" fmla="*/ 223890 h 1415447"/>
              <a:gd name="connsiteX77" fmla="*/ 164005 w 1369548"/>
              <a:gd name="connsiteY77" fmla="*/ 0 h 1415447"/>
              <a:gd name="connsiteX78" fmla="*/ 1058248 w 1369548"/>
              <a:gd name="connsiteY78" fmla="*/ 0 h 1415447"/>
              <a:gd name="connsiteX79" fmla="*/ 1222251 w 1369548"/>
              <a:gd name="connsiteY79" fmla="*/ 164003 h 1415447"/>
              <a:gd name="connsiteX80" fmla="*/ 1222251 w 1369548"/>
              <a:gd name="connsiteY80" fmla="*/ 587871 h 1415447"/>
              <a:gd name="connsiteX81" fmla="*/ 1177603 w 1369548"/>
              <a:gd name="connsiteY81" fmla="*/ 632520 h 1415447"/>
              <a:gd name="connsiteX82" fmla="*/ 1132954 w 1369548"/>
              <a:gd name="connsiteY82" fmla="*/ 587871 h 1415447"/>
              <a:gd name="connsiteX83" fmla="*/ 1132954 w 1369548"/>
              <a:gd name="connsiteY83" fmla="*/ 164003 h 1415447"/>
              <a:gd name="connsiteX84" fmla="*/ 1058248 w 1369548"/>
              <a:gd name="connsiteY84" fmla="*/ 89297 h 1415447"/>
              <a:gd name="connsiteX85" fmla="*/ 164005 w 1369548"/>
              <a:gd name="connsiteY85" fmla="*/ 89297 h 1415447"/>
              <a:gd name="connsiteX86" fmla="*/ 89297 w 1369548"/>
              <a:gd name="connsiteY86" fmla="*/ 164003 h 1415447"/>
              <a:gd name="connsiteX87" fmla="*/ 89297 w 1369548"/>
              <a:gd name="connsiteY87" fmla="*/ 1234980 h 1415447"/>
              <a:gd name="connsiteX88" fmla="*/ 164005 w 1369548"/>
              <a:gd name="connsiteY88" fmla="*/ 1309686 h 1415447"/>
              <a:gd name="connsiteX89" fmla="*/ 520898 w 1369548"/>
              <a:gd name="connsiteY89" fmla="*/ 1309686 h 1415447"/>
              <a:gd name="connsiteX90" fmla="*/ 565547 w 1369548"/>
              <a:gd name="connsiteY90" fmla="*/ 1354334 h 1415447"/>
              <a:gd name="connsiteX91" fmla="*/ 520900 w 1369548"/>
              <a:gd name="connsiteY91" fmla="*/ 1398983 h 1415447"/>
              <a:gd name="connsiteX92" fmla="*/ 164005 w 1369548"/>
              <a:gd name="connsiteY92" fmla="*/ 1398983 h 1415447"/>
              <a:gd name="connsiteX93" fmla="*/ 0 w 1369548"/>
              <a:gd name="connsiteY93" fmla="*/ 1234980 h 1415447"/>
              <a:gd name="connsiteX94" fmla="*/ 0 w 1369548"/>
              <a:gd name="connsiteY94" fmla="*/ 164003 h 1415447"/>
              <a:gd name="connsiteX95" fmla="*/ 164005 w 1369548"/>
              <a:gd name="connsiteY95" fmla="*/ 0 h 1415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1369548" h="1415447">
                <a:moveTo>
                  <a:pt x="1338726" y="955036"/>
                </a:moveTo>
                <a:lnTo>
                  <a:pt x="1340611" y="959194"/>
                </a:lnTo>
                <a:cubicBezTo>
                  <a:pt x="1376199" y="1037775"/>
                  <a:pt x="1379057" y="1125509"/>
                  <a:pt x="1348655" y="1206239"/>
                </a:cubicBezTo>
                <a:cubicBezTo>
                  <a:pt x="1318255" y="1286969"/>
                  <a:pt x="1258236" y="1351027"/>
                  <a:pt x="1179655" y="1386615"/>
                </a:cubicBezTo>
                <a:cubicBezTo>
                  <a:pt x="1137421" y="1405743"/>
                  <a:pt x="1092594" y="1415445"/>
                  <a:pt x="1046422" y="1415447"/>
                </a:cubicBezTo>
                <a:lnTo>
                  <a:pt x="1046400" y="1415447"/>
                </a:lnTo>
                <a:cubicBezTo>
                  <a:pt x="947764" y="1415447"/>
                  <a:pt x="855835" y="1371219"/>
                  <a:pt x="794173" y="1294096"/>
                </a:cubicBezTo>
                <a:lnTo>
                  <a:pt x="789474" y="1288216"/>
                </a:lnTo>
                <a:lnTo>
                  <a:pt x="846516" y="1231743"/>
                </a:lnTo>
                <a:lnTo>
                  <a:pt x="858835" y="1247374"/>
                </a:lnTo>
                <a:cubicBezTo>
                  <a:pt x="900185" y="1297287"/>
                  <a:pt x="958628" y="1328167"/>
                  <a:pt x="1023328" y="1334239"/>
                </a:cubicBezTo>
                <a:cubicBezTo>
                  <a:pt x="1088023" y="1340313"/>
                  <a:pt x="1151221" y="1320828"/>
                  <a:pt x="1201268" y="1279370"/>
                </a:cubicBezTo>
                <a:cubicBezTo>
                  <a:pt x="1233233" y="1252861"/>
                  <a:pt x="1257898" y="1218627"/>
                  <a:pt x="1272924" y="1179913"/>
                </a:cubicBezTo>
                <a:cubicBezTo>
                  <a:pt x="1286350" y="1145261"/>
                  <a:pt x="1291665" y="1107613"/>
                  <a:pt x="1288409" y="1070582"/>
                </a:cubicBezTo>
                <a:lnTo>
                  <a:pt x="1252002" y="1091511"/>
                </a:lnTo>
                <a:lnTo>
                  <a:pt x="1241926" y="1037414"/>
                </a:lnTo>
                <a:lnTo>
                  <a:pt x="1248607" y="1037414"/>
                </a:lnTo>
                <a:lnTo>
                  <a:pt x="1331305" y="955626"/>
                </a:lnTo>
                <a:lnTo>
                  <a:pt x="1333112" y="957453"/>
                </a:lnTo>
                <a:close/>
                <a:moveTo>
                  <a:pt x="1020313" y="948748"/>
                </a:moveTo>
                <a:lnTo>
                  <a:pt x="1134012" y="948748"/>
                </a:lnTo>
                <a:lnTo>
                  <a:pt x="1093433" y="1043483"/>
                </a:lnTo>
                <a:lnTo>
                  <a:pt x="1171132" y="1043483"/>
                </a:lnTo>
                <a:lnTo>
                  <a:pt x="1040148" y="1251446"/>
                </a:lnTo>
                <a:lnTo>
                  <a:pt x="982885" y="1251446"/>
                </a:lnTo>
                <a:lnTo>
                  <a:pt x="1028545" y="1130421"/>
                </a:lnTo>
                <a:lnTo>
                  <a:pt x="943585" y="1130421"/>
                </a:lnTo>
                <a:close/>
                <a:moveTo>
                  <a:pt x="318158" y="907087"/>
                </a:moveTo>
                <a:cubicBezTo>
                  <a:pt x="294489" y="907087"/>
                  <a:pt x="275234" y="926344"/>
                  <a:pt x="275234" y="950011"/>
                </a:cubicBezTo>
                <a:cubicBezTo>
                  <a:pt x="275234" y="973679"/>
                  <a:pt x="294490" y="992935"/>
                  <a:pt x="318158" y="992935"/>
                </a:cubicBezTo>
                <a:cubicBezTo>
                  <a:pt x="341825" y="992935"/>
                  <a:pt x="361082" y="973679"/>
                  <a:pt x="361082" y="950011"/>
                </a:cubicBezTo>
                <a:cubicBezTo>
                  <a:pt x="361082" y="926344"/>
                  <a:pt x="341825" y="907087"/>
                  <a:pt x="318158" y="907087"/>
                </a:cubicBezTo>
                <a:close/>
                <a:moveTo>
                  <a:pt x="1045968" y="768990"/>
                </a:moveTo>
                <a:lnTo>
                  <a:pt x="1046223" y="768990"/>
                </a:lnTo>
                <a:cubicBezTo>
                  <a:pt x="1144194" y="768990"/>
                  <a:pt x="1235575" y="812628"/>
                  <a:pt x="1297074" y="888719"/>
                </a:cubicBezTo>
                <a:lnTo>
                  <a:pt x="1301833" y="894608"/>
                </a:lnTo>
                <a:lnTo>
                  <a:pt x="1244756" y="951059"/>
                </a:lnTo>
                <a:lnTo>
                  <a:pt x="1233294" y="936505"/>
                </a:lnTo>
                <a:cubicBezTo>
                  <a:pt x="1191949" y="886590"/>
                  <a:pt x="1133510" y="855705"/>
                  <a:pt x="1068809" y="849625"/>
                </a:cubicBezTo>
                <a:cubicBezTo>
                  <a:pt x="1004110" y="843544"/>
                  <a:pt x="940912" y="863025"/>
                  <a:pt x="890866" y="904476"/>
                </a:cubicBezTo>
                <a:cubicBezTo>
                  <a:pt x="858883" y="930996"/>
                  <a:pt x="834206" y="965250"/>
                  <a:pt x="819178" y="1003986"/>
                </a:cubicBezTo>
                <a:cubicBezTo>
                  <a:pt x="805750" y="1038661"/>
                  <a:pt x="800442" y="1076329"/>
                  <a:pt x="803715" y="1113378"/>
                </a:cubicBezTo>
                <a:lnTo>
                  <a:pt x="840129" y="1092401"/>
                </a:lnTo>
                <a:lnTo>
                  <a:pt x="848854" y="1139306"/>
                </a:lnTo>
                <a:lnTo>
                  <a:pt x="754819" y="1232363"/>
                </a:lnTo>
                <a:lnTo>
                  <a:pt x="745865" y="1211244"/>
                </a:lnTo>
                <a:cubicBezTo>
                  <a:pt x="714042" y="1131055"/>
                  <a:pt x="715391" y="1043278"/>
                  <a:pt x="749621" y="963985"/>
                </a:cubicBezTo>
                <a:cubicBezTo>
                  <a:pt x="783850" y="884697"/>
                  <a:pt x="846791" y="823534"/>
                  <a:pt x="926849" y="791763"/>
                </a:cubicBezTo>
                <a:cubicBezTo>
                  <a:pt x="964925" y="776653"/>
                  <a:pt x="1005001" y="768990"/>
                  <a:pt x="1045968" y="768990"/>
                </a:cubicBezTo>
                <a:close/>
                <a:moveTo>
                  <a:pt x="904098" y="313187"/>
                </a:moveTo>
                <a:cubicBezTo>
                  <a:pt x="880429" y="313187"/>
                  <a:pt x="861174" y="332443"/>
                  <a:pt x="861174" y="356111"/>
                </a:cubicBezTo>
                <a:cubicBezTo>
                  <a:pt x="861174" y="379778"/>
                  <a:pt x="880431" y="399035"/>
                  <a:pt x="904098" y="399035"/>
                </a:cubicBezTo>
                <a:cubicBezTo>
                  <a:pt x="927765" y="399035"/>
                  <a:pt x="947020" y="379778"/>
                  <a:pt x="947020" y="356111"/>
                </a:cubicBezTo>
                <a:cubicBezTo>
                  <a:pt x="947020" y="332443"/>
                  <a:pt x="927765" y="313187"/>
                  <a:pt x="904098" y="313187"/>
                </a:cubicBezTo>
                <a:close/>
                <a:moveTo>
                  <a:pt x="904098" y="223890"/>
                </a:moveTo>
                <a:cubicBezTo>
                  <a:pt x="977003" y="223890"/>
                  <a:pt x="1036317" y="283204"/>
                  <a:pt x="1036317" y="356111"/>
                </a:cubicBezTo>
                <a:cubicBezTo>
                  <a:pt x="1036317" y="429018"/>
                  <a:pt x="977005" y="488332"/>
                  <a:pt x="904098" y="488332"/>
                </a:cubicBezTo>
                <a:cubicBezTo>
                  <a:pt x="867645" y="488332"/>
                  <a:pt x="834590" y="473504"/>
                  <a:pt x="810648" y="449562"/>
                </a:cubicBezTo>
                <a:lnTo>
                  <a:pt x="787334" y="415011"/>
                </a:lnTo>
                <a:lnTo>
                  <a:pt x="753167" y="430216"/>
                </a:lnTo>
                <a:cubicBezTo>
                  <a:pt x="687550" y="466978"/>
                  <a:pt x="650619" y="532675"/>
                  <a:pt x="643395" y="625482"/>
                </a:cubicBezTo>
                <a:cubicBezTo>
                  <a:pt x="631531" y="777882"/>
                  <a:pt x="566657" y="864234"/>
                  <a:pt x="514324" y="909839"/>
                </a:cubicBezTo>
                <a:cubicBezTo>
                  <a:pt x="499987" y="922331"/>
                  <a:pt x="485825" y="932531"/>
                  <a:pt x="472553" y="940827"/>
                </a:cubicBezTo>
                <a:lnTo>
                  <a:pt x="449762" y="953060"/>
                </a:lnTo>
                <a:lnTo>
                  <a:pt x="439972" y="1001430"/>
                </a:lnTo>
                <a:cubicBezTo>
                  <a:pt x="419872" y="1048869"/>
                  <a:pt x="372838" y="1082234"/>
                  <a:pt x="318158" y="1082234"/>
                </a:cubicBezTo>
                <a:cubicBezTo>
                  <a:pt x="245251" y="1082234"/>
                  <a:pt x="185937" y="1022918"/>
                  <a:pt x="185937" y="950013"/>
                </a:cubicBezTo>
                <a:cubicBezTo>
                  <a:pt x="185937" y="877108"/>
                  <a:pt x="245251" y="817792"/>
                  <a:pt x="318158" y="817792"/>
                </a:cubicBezTo>
                <a:cubicBezTo>
                  <a:pt x="354611" y="817792"/>
                  <a:pt x="387666" y="832621"/>
                  <a:pt x="411608" y="856563"/>
                </a:cubicBezTo>
                <a:lnTo>
                  <a:pt x="419459" y="868198"/>
                </a:lnTo>
                <a:lnTo>
                  <a:pt x="430966" y="861620"/>
                </a:lnTo>
                <a:cubicBezTo>
                  <a:pt x="479131" y="829565"/>
                  <a:pt x="543300" y="760690"/>
                  <a:pt x="554366" y="618549"/>
                </a:cubicBezTo>
                <a:cubicBezTo>
                  <a:pt x="566618" y="461150"/>
                  <a:pt x="647715" y="385674"/>
                  <a:pt x="713586" y="350072"/>
                </a:cubicBezTo>
                <a:cubicBezTo>
                  <a:pt x="731242" y="340530"/>
                  <a:pt x="748743" y="333346"/>
                  <a:pt x="765109" y="327937"/>
                </a:cubicBezTo>
                <a:lnTo>
                  <a:pt x="778263" y="324559"/>
                </a:lnTo>
                <a:lnTo>
                  <a:pt x="782284" y="304694"/>
                </a:lnTo>
                <a:cubicBezTo>
                  <a:pt x="802384" y="257254"/>
                  <a:pt x="849419" y="223890"/>
                  <a:pt x="904098" y="223890"/>
                </a:cubicBezTo>
                <a:close/>
                <a:moveTo>
                  <a:pt x="164005" y="0"/>
                </a:moveTo>
                <a:lnTo>
                  <a:pt x="1058248" y="0"/>
                </a:lnTo>
                <a:cubicBezTo>
                  <a:pt x="1148680" y="0"/>
                  <a:pt x="1222251" y="73571"/>
                  <a:pt x="1222251" y="164003"/>
                </a:cubicBezTo>
                <a:lnTo>
                  <a:pt x="1222251" y="587871"/>
                </a:lnTo>
                <a:cubicBezTo>
                  <a:pt x="1222251" y="612530"/>
                  <a:pt x="1202262" y="632520"/>
                  <a:pt x="1177603" y="632520"/>
                </a:cubicBezTo>
                <a:cubicBezTo>
                  <a:pt x="1152944" y="632520"/>
                  <a:pt x="1132954" y="612530"/>
                  <a:pt x="1132954" y="587871"/>
                </a:cubicBezTo>
                <a:lnTo>
                  <a:pt x="1132954" y="164003"/>
                </a:lnTo>
                <a:cubicBezTo>
                  <a:pt x="1132954" y="122809"/>
                  <a:pt x="1099440" y="89297"/>
                  <a:pt x="1058248" y="89297"/>
                </a:cubicBezTo>
                <a:lnTo>
                  <a:pt x="164005" y="89297"/>
                </a:lnTo>
                <a:cubicBezTo>
                  <a:pt x="122811" y="89297"/>
                  <a:pt x="89297" y="122811"/>
                  <a:pt x="89297" y="164003"/>
                </a:cubicBezTo>
                <a:lnTo>
                  <a:pt x="89297" y="1234980"/>
                </a:lnTo>
                <a:cubicBezTo>
                  <a:pt x="89297" y="1276173"/>
                  <a:pt x="122811" y="1309686"/>
                  <a:pt x="164005" y="1309686"/>
                </a:cubicBezTo>
                <a:lnTo>
                  <a:pt x="520898" y="1309686"/>
                </a:lnTo>
                <a:cubicBezTo>
                  <a:pt x="545557" y="1309686"/>
                  <a:pt x="565547" y="1329675"/>
                  <a:pt x="565547" y="1354334"/>
                </a:cubicBezTo>
                <a:cubicBezTo>
                  <a:pt x="565547" y="1378993"/>
                  <a:pt x="545559" y="1398983"/>
                  <a:pt x="520900" y="1398983"/>
                </a:cubicBezTo>
                <a:lnTo>
                  <a:pt x="164005" y="1398983"/>
                </a:lnTo>
                <a:cubicBezTo>
                  <a:pt x="73573" y="1398983"/>
                  <a:pt x="0" y="1325411"/>
                  <a:pt x="0" y="1234980"/>
                </a:cubicBezTo>
                <a:lnTo>
                  <a:pt x="0" y="164003"/>
                </a:lnTo>
                <a:cubicBezTo>
                  <a:pt x="0" y="73571"/>
                  <a:pt x="73571" y="0"/>
                  <a:pt x="164005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p>
            <a:endParaRPr lang="zh-CN" alt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2057721" y="447040"/>
            <a:ext cx="807656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zh-CN" altLang="en-US" dirty="0"/>
              <a:t>基于</a:t>
            </a:r>
            <a:r>
              <a:rPr lang="en-US" altLang="zh-CN" dirty="0"/>
              <a:t> Amoro + CDC </a:t>
            </a:r>
            <a:r>
              <a:rPr lang="zh-CN" altLang="en-US" dirty="0"/>
              <a:t>湖仓</a:t>
            </a:r>
            <a:r>
              <a:rPr lang="zh-CN" altLang="en-US" dirty="0"/>
              <a:t>融合一体架构</a:t>
            </a:r>
            <a:endParaRPr lang="zh-CN" altLang="en-US" dirty="0"/>
          </a:p>
        </p:txBody>
      </p:sp>
      <p:sp>
        <p:nvSpPr>
          <p:cNvPr id="13" name="圆角矩形 59"/>
          <p:cNvSpPr/>
          <p:nvPr/>
        </p:nvSpPr>
        <p:spPr>
          <a:xfrm>
            <a:off x="725838" y="5140782"/>
            <a:ext cx="10740325" cy="706172"/>
          </a:xfrm>
          <a:prstGeom prst="roundRect">
            <a:avLst>
              <a:gd name="adj" fmla="val 20363"/>
            </a:avLst>
          </a:prstGeom>
          <a:noFill/>
          <a:ln w="15875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4" name="圆角矩形 59"/>
          <p:cNvSpPr/>
          <p:nvPr/>
        </p:nvSpPr>
        <p:spPr>
          <a:xfrm>
            <a:off x="725838" y="3336380"/>
            <a:ext cx="10740325" cy="1155585"/>
          </a:xfrm>
          <a:prstGeom prst="roundRect">
            <a:avLst>
              <a:gd name="adj" fmla="val 17715"/>
            </a:avLst>
          </a:prstGeom>
          <a:noFill/>
          <a:ln w="15875">
            <a:solidFill>
              <a:srgbClr val="4EB5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14751" y="5287130"/>
            <a:ext cx="8705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B775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存储</a:t>
            </a:r>
            <a:r>
              <a:rPr kumimoji="1" lang="zh-CN" altLang="en-US" b="1" dirty="0">
                <a:solidFill>
                  <a:srgbClr val="B775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层</a:t>
            </a:r>
            <a:endParaRPr kumimoji="1" lang="zh-CN" altLang="en-US" b="1" dirty="0">
              <a:solidFill>
                <a:srgbClr val="B775FF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14751" y="3707434"/>
            <a:ext cx="8705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4EB5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计算</a:t>
            </a:r>
            <a:r>
              <a:rPr kumimoji="1" lang="zh-CN" altLang="en-US" b="1" dirty="0">
                <a:solidFill>
                  <a:srgbClr val="4EB5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层</a:t>
            </a:r>
            <a:endParaRPr kumimoji="1" lang="zh-CN" altLang="en-US" b="1" dirty="0">
              <a:solidFill>
                <a:srgbClr val="4EB5FF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2303927" y="3509835"/>
            <a:ext cx="2742229" cy="792166"/>
            <a:chOff x="5304936" y="3518090"/>
            <a:chExt cx="2742229" cy="792166"/>
          </a:xfrm>
        </p:grpSpPr>
        <p:sp>
          <p:nvSpPr>
            <p:cNvPr id="31" name="矩形: 圆角 341"/>
            <p:cNvSpPr/>
            <p:nvPr/>
          </p:nvSpPr>
          <p:spPr>
            <a:xfrm>
              <a:off x="5304936" y="3518090"/>
              <a:ext cx="1070280" cy="792166"/>
            </a:xfrm>
            <a:prstGeom prst="roundRect">
              <a:avLst>
                <a:gd name="adj" fmla="val 15539"/>
              </a:avLst>
            </a:prstGeom>
            <a:gradFill flip="none" rotWithShape="1">
              <a:gsLst>
                <a:gs pos="100000">
                  <a:srgbClr val="4EB5FF">
                    <a:alpha val="51076"/>
                  </a:srgbClr>
                </a:gs>
                <a:gs pos="85000">
                  <a:srgbClr val="4EB5FF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358687" y="3789776"/>
              <a:ext cx="96277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defRPr>
              </a:lvl1pPr>
            </a:lstStyle>
            <a:p>
              <a:pPr>
                <a:lnSpc>
                  <a:spcPct val="110000"/>
                </a:lnSpc>
              </a:pPr>
              <a:r>
                <a:rPr lang="en-US" altLang="zh-CN" sz="1200" b="1" dirty="0"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Flink</a:t>
              </a:r>
              <a:endParaRPr lang="en-US" altLang="zh-CN" sz="1200" b="1" dirty="0"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endParaRPr>
            </a:p>
          </p:txBody>
        </p:sp>
        <p:sp>
          <p:nvSpPr>
            <p:cNvPr id="33" name="圆角矩形 59"/>
            <p:cNvSpPr/>
            <p:nvPr/>
          </p:nvSpPr>
          <p:spPr>
            <a:xfrm>
              <a:off x="6439688" y="3953752"/>
              <a:ext cx="1607477" cy="3564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alpha val="3005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549746" y="4001167"/>
              <a:ext cx="1410786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自动</a:t>
              </a:r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调优</a:t>
              </a:r>
              <a:endPara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endParaRPr>
            </a:p>
          </p:txBody>
        </p:sp>
        <p:sp>
          <p:nvSpPr>
            <p:cNvPr id="35" name="圆角矩形 59"/>
            <p:cNvSpPr/>
            <p:nvPr/>
          </p:nvSpPr>
          <p:spPr>
            <a:xfrm>
              <a:off x="6439688" y="3518154"/>
              <a:ext cx="1607477" cy="3564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alpha val="3005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549746" y="3565569"/>
              <a:ext cx="1410786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流式入湖</a:t>
              </a:r>
              <a:r>
                <a:rPr kumimoji="1" lang="en-US" altLang="zh-CN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/</a:t>
              </a:r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读取</a:t>
              </a:r>
              <a:endPara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6986326" y="3509835"/>
            <a:ext cx="2742229" cy="792166"/>
            <a:chOff x="8251881" y="3518090"/>
            <a:chExt cx="2742229" cy="792166"/>
          </a:xfrm>
        </p:grpSpPr>
        <p:sp>
          <p:nvSpPr>
            <p:cNvPr id="37" name="矩形: 圆角 350"/>
            <p:cNvSpPr/>
            <p:nvPr/>
          </p:nvSpPr>
          <p:spPr>
            <a:xfrm>
              <a:off x="8251881" y="3518090"/>
              <a:ext cx="1070280" cy="792166"/>
            </a:xfrm>
            <a:prstGeom prst="roundRect">
              <a:avLst>
                <a:gd name="adj" fmla="val 16688"/>
              </a:avLst>
            </a:prstGeom>
            <a:gradFill flip="none" rotWithShape="1">
              <a:gsLst>
                <a:gs pos="100000">
                  <a:srgbClr val="4EB5FF">
                    <a:alpha val="51076"/>
                  </a:srgbClr>
                </a:gs>
                <a:gs pos="85000">
                  <a:srgbClr val="4EB5FF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8305632" y="3789776"/>
              <a:ext cx="96277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defRPr>
              </a:lvl1pPr>
            </a:lstStyle>
            <a:p>
              <a:pPr>
                <a:lnSpc>
                  <a:spcPct val="110000"/>
                </a:lnSpc>
              </a:pPr>
              <a:r>
                <a:rPr lang="en-US" altLang="zh-CN" sz="1200" b="1" dirty="0"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Amoro</a:t>
              </a:r>
              <a:endParaRPr lang="en-US" altLang="zh-CN" sz="1200" b="1" dirty="0"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endParaRPr>
            </a:p>
          </p:txBody>
        </p:sp>
        <p:sp>
          <p:nvSpPr>
            <p:cNvPr id="39" name="圆角矩形 59"/>
            <p:cNvSpPr/>
            <p:nvPr/>
          </p:nvSpPr>
          <p:spPr>
            <a:xfrm>
              <a:off x="9386633" y="3953752"/>
              <a:ext cx="1607477" cy="3564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alpha val="3005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9496691" y="4001167"/>
              <a:ext cx="1410786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湖仓</a:t>
              </a:r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元数据</a:t>
              </a:r>
              <a:endPara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endParaRPr>
            </a:p>
          </p:txBody>
        </p:sp>
        <p:sp>
          <p:nvSpPr>
            <p:cNvPr id="41" name="圆角矩形 59"/>
            <p:cNvSpPr/>
            <p:nvPr/>
          </p:nvSpPr>
          <p:spPr>
            <a:xfrm>
              <a:off x="9386633" y="3518154"/>
              <a:ext cx="1607477" cy="35644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alpha val="3005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496691" y="3565569"/>
              <a:ext cx="1410786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优化</a:t>
              </a:r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作业管控</a:t>
              </a:r>
              <a:endPara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endParaRPr>
            </a:p>
          </p:txBody>
        </p:sp>
      </p:grpSp>
      <p:sp>
        <p:nvSpPr>
          <p:cNvPr id="43" name="圆角矩形 59"/>
          <p:cNvSpPr/>
          <p:nvPr/>
        </p:nvSpPr>
        <p:spPr>
          <a:xfrm>
            <a:off x="4115152" y="5315648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>
                  <a:alpha val="4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213498" y="5356042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COS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5" name="圆角矩形 59"/>
          <p:cNvSpPr/>
          <p:nvPr/>
        </p:nvSpPr>
        <p:spPr>
          <a:xfrm>
            <a:off x="725805" y="1539240"/>
            <a:ext cx="7331710" cy="1560830"/>
          </a:xfrm>
          <a:prstGeom prst="roundRect">
            <a:avLst>
              <a:gd name="adj" fmla="val 14435"/>
            </a:avLst>
          </a:prstGeom>
          <a:noFill/>
          <a:ln w="15875">
            <a:solidFill>
              <a:srgbClr val="04D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46" name="圆角矩形 59"/>
          <p:cNvSpPr/>
          <p:nvPr/>
        </p:nvSpPr>
        <p:spPr>
          <a:xfrm>
            <a:off x="2357992" y="2466426"/>
            <a:ext cx="1515025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4D082">
                  <a:alpha val="39963"/>
                </a:srgbClr>
              </a:gs>
              <a:gs pos="100000">
                <a:srgbClr val="04D082">
                  <a:alpha val="0"/>
                </a:srgb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450681" y="2513841"/>
            <a:ext cx="1329647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埋点</a:t>
            </a:r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数据</a:t>
            </a:r>
            <a:endParaRPr kumimoji="1" lang="zh-CN" altLang="en-US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8" name="圆角矩形 59"/>
          <p:cNvSpPr/>
          <p:nvPr/>
        </p:nvSpPr>
        <p:spPr>
          <a:xfrm>
            <a:off x="2357992" y="2033956"/>
            <a:ext cx="1515025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4D082">
                  <a:alpha val="39963"/>
                </a:srgbClr>
              </a:gs>
              <a:gs pos="100000">
                <a:srgbClr val="04D082">
                  <a:alpha val="0"/>
                </a:srgb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50681" y="2081371"/>
            <a:ext cx="1329647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交易</a:t>
            </a:r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2.0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52" name="圆角矩形 59"/>
          <p:cNvSpPr/>
          <p:nvPr/>
        </p:nvSpPr>
        <p:spPr>
          <a:xfrm>
            <a:off x="4207827" y="2466426"/>
            <a:ext cx="1515025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4D082">
                  <a:alpha val="39963"/>
                </a:srgbClr>
              </a:gs>
              <a:gs pos="100000">
                <a:srgbClr val="04D082">
                  <a:alpha val="0"/>
                </a:srgb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300515" y="2513841"/>
            <a:ext cx="1329647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数仓</a:t>
            </a:r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业务</a:t>
            </a:r>
            <a:endParaRPr kumimoji="1" lang="zh-CN" altLang="en-US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54" name="圆角矩形 59"/>
          <p:cNvSpPr/>
          <p:nvPr/>
        </p:nvSpPr>
        <p:spPr>
          <a:xfrm>
            <a:off x="4207827" y="2033956"/>
            <a:ext cx="1515025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4D082">
                  <a:alpha val="39963"/>
                </a:srgbClr>
              </a:gs>
              <a:gs pos="100000">
                <a:srgbClr val="04D082">
                  <a:alpha val="0"/>
                </a:srgb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300515" y="2081371"/>
            <a:ext cx="1329647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用户</a:t>
            </a:r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画像</a:t>
            </a:r>
            <a:endParaRPr kumimoji="1" lang="zh-CN" altLang="en-US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114751" y="2113137"/>
            <a:ext cx="7689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04D082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Data </a:t>
            </a:r>
            <a:endParaRPr kumimoji="1" lang="en-US" altLang="zh-CN" b="1" dirty="0">
              <a:solidFill>
                <a:srgbClr val="04D082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71" name="箭头: 右 302"/>
          <p:cNvSpPr/>
          <p:nvPr/>
        </p:nvSpPr>
        <p:spPr>
          <a:xfrm rot="16200000">
            <a:off x="3218583" y="4552598"/>
            <a:ext cx="476309" cy="607815"/>
          </a:xfrm>
          <a:prstGeom prst="rightArrow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73" name="箭头: 右 303"/>
          <p:cNvSpPr/>
          <p:nvPr/>
        </p:nvSpPr>
        <p:spPr>
          <a:xfrm rot="16200000">
            <a:off x="6311592" y="4552598"/>
            <a:ext cx="476309" cy="607815"/>
          </a:xfrm>
          <a:prstGeom prst="rightArrow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76" name="箭头: 右 304"/>
          <p:cNvSpPr/>
          <p:nvPr/>
        </p:nvSpPr>
        <p:spPr>
          <a:xfrm rot="16200000">
            <a:off x="9404600" y="4552598"/>
            <a:ext cx="476309" cy="607815"/>
          </a:xfrm>
          <a:prstGeom prst="rightArrow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78" name="圆角矩形 59"/>
          <p:cNvSpPr/>
          <p:nvPr/>
        </p:nvSpPr>
        <p:spPr>
          <a:xfrm>
            <a:off x="2357992" y="5315648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>
                  <a:alpha val="4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456338" y="5356042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OSS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86" name="圆角矩形 59"/>
          <p:cNvSpPr/>
          <p:nvPr/>
        </p:nvSpPr>
        <p:spPr>
          <a:xfrm>
            <a:off x="5872313" y="5315648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>
                  <a:alpha val="4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970659" y="5356042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HDFS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89" name="圆角矩形 59"/>
          <p:cNvSpPr/>
          <p:nvPr/>
        </p:nvSpPr>
        <p:spPr>
          <a:xfrm>
            <a:off x="7629473" y="5315648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>
                  <a:alpha val="4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727819" y="5356042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S3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91" name="圆角矩形 59"/>
          <p:cNvSpPr/>
          <p:nvPr/>
        </p:nvSpPr>
        <p:spPr>
          <a:xfrm>
            <a:off x="9386633" y="5315648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>
                  <a:alpha val="4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9484979" y="5356042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.....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93" name="圆角矩形 59"/>
          <p:cNvSpPr/>
          <p:nvPr/>
        </p:nvSpPr>
        <p:spPr>
          <a:xfrm>
            <a:off x="8460740" y="1539240"/>
            <a:ext cx="3005455" cy="1560830"/>
          </a:xfrm>
          <a:prstGeom prst="roundRect">
            <a:avLst>
              <a:gd name="adj" fmla="val 12102"/>
            </a:avLst>
          </a:prstGeom>
          <a:noFill/>
          <a:ln w="15875">
            <a:solidFill>
              <a:srgbClr val="04D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94" name="圆角矩形 59"/>
          <p:cNvSpPr/>
          <p:nvPr/>
        </p:nvSpPr>
        <p:spPr>
          <a:xfrm>
            <a:off x="9676490" y="2418801"/>
            <a:ext cx="1515025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4D082">
                  <a:alpha val="39963"/>
                </a:srgbClr>
              </a:gs>
              <a:gs pos="100000">
                <a:srgbClr val="04D082">
                  <a:alpha val="0"/>
                </a:srgb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9769179" y="2466216"/>
            <a:ext cx="1329647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GPT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96" name="圆角矩形 59"/>
          <p:cNvSpPr/>
          <p:nvPr/>
        </p:nvSpPr>
        <p:spPr>
          <a:xfrm>
            <a:off x="9676490" y="1986331"/>
            <a:ext cx="1515025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4D082">
                  <a:alpha val="39963"/>
                </a:srgbClr>
              </a:gs>
              <a:gs pos="100000">
                <a:srgbClr val="04D082">
                  <a:alpha val="0"/>
                </a:srgb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9769179" y="2033746"/>
            <a:ext cx="1329647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速</a:t>
            </a:r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查</a:t>
            </a:r>
            <a:endParaRPr kumimoji="1" lang="zh-CN" altLang="en-US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8726620" y="2113137"/>
            <a:ext cx="6121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b="1" dirty="0">
                <a:solidFill>
                  <a:srgbClr val="04D082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AI +</a:t>
            </a:r>
            <a:endParaRPr kumimoji="1" lang="zh-CN" altLang="en-US" b="1" dirty="0">
              <a:solidFill>
                <a:srgbClr val="04D082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" name="圆角矩形 59"/>
          <p:cNvSpPr/>
          <p:nvPr>
            <p:custDataLst>
              <p:tags r:id="rId1"/>
            </p:custDataLst>
          </p:nvPr>
        </p:nvSpPr>
        <p:spPr>
          <a:xfrm>
            <a:off x="4998874" y="3509899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3005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173702" y="3548424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Flink </a:t>
            </a:r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CDC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6" name="圆角矩形 59"/>
          <p:cNvSpPr/>
          <p:nvPr>
            <p:custDataLst>
              <p:tags r:id="rId3"/>
            </p:custDataLst>
          </p:nvPr>
        </p:nvSpPr>
        <p:spPr>
          <a:xfrm>
            <a:off x="9641994" y="3509899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3005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816822" y="3548424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索引</a:t>
            </a:r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优化</a:t>
            </a:r>
            <a:endParaRPr kumimoji="1" lang="zh-CN" altLang="en-US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8" name="圆角矩形 59"/>
          <p:cNvSpPr/>
          <p:nvPr>
            <p:custDataLst>
              <p:tags r:id="rId5"/>
            </p:custDataLst>
          </p:nvPr>
        </p:nvSpPr>
        <p:spPr>
          <a:xfrm>
            <a:off x="9663584" y="3955034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3005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9838412" y="3993559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小文件</a:t>
            </a:r>
            <a:r>
              <a: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合并</a:t>
            </a:r>
            <a:endParaRPr kumimoji="1" lang="zh-CN" altLang="en-US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10" name="圆角矩形 59"/>
          <p:cNvSpPr/>
          <p:nvPr>
            <p:custDataLst>
              <p:tags r:id="rId7"/>
            </p:custDataLst>
          </p:nvPr>
        </p:nvSpPr>
        <p:spPr>
          <a:xfrm>
            <a:off x="4998239" y="3955669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3005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5173067" y="3994194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Flink </a:t>
            </a:r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SQL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5" name="圆角矩形 59"/>
          <p:cNvSpPr/>
          <p:nvPr>
            <p:custDataLst>
              <p:tags r:id="rId9"/>
            </p:custDataLst>
          </p:nvPr>
        </p:nvSpPr>
        <p:spPr>
          <a:xfrm>
            <a:off x="6057582" y="2481666"/>
            <a:ext cx="1515025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4D082">
                  <a:alpha val="39963"/>
                </a:srgbClr>
              </a:gs>
              <a:gs pos="100000">
                <a:srgbClr val="04D082">
                  <a:alpha val="0"/>
                </a:srgb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6150270" y="2529081"/>
            <a:ext cx="1329647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......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7" name="圆角矩形 59"/>
          <p:cNvSpPr/>
          <p:nvPr>
            <p:custDataLst>
              <p:tags r:id="rId11"/>
            </p:custDataLst>
          </p:nvPr>
        </p:nvSpPr>
        <p:spPr>
          <a:xfrm>
            <a:off x="6057582" y="2062531"/>
            <a:ext cx="1515025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4D082">
                  <a:alpha val="39963"/>
                </a:srgbClr>
              </a:gs>
              <a:gs pos="100000">
                <a:srgbClr val="04D082">
                  <a:alpha val="0"/>
                </a:srgb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6150270" y="2109946"/>
            <a:ext cx="1329647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Kepler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3832543" y="2961970"/>
            <a:ext cx="45269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Amoro</a:t>
            </a:r>
            <a:r>
              <a:rPr kumimoji="1" lang="zh-CN" sz="48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入湖</a:t>
            </a:r>
            <a:r>
              <a:rPr kumimoji="1" lang="zh-CN" sz="48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优化</a:t>
            </a:r>
            <a:endParaRPr kumimoji="1" lang="zh-CN" sz="4800" b="1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15091" y="4042952"/>
            <a:ext cx="436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针对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iceberg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碎片文件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、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数据文件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优化</a:t>
            </a:r>
            <a:endParaRPr kumimoji="1" lang="zh-CN" altLang="en-US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40744" y="3825111"/>
            <a:ext cx="510511" cy="446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494655" y="1872652"/>
            <a:ext cx="128270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1" sz="11500" b="1">
                <a:gradFill flip="none" rotWithShape="1">
                  <a:gsLst>
                    <a:gs pos="15000">
                      <a:schemeClr val="bg1">
                        <a:alpha val="35000"/>
                      </a:schemeClr>
                    </a:gs>
                    <a:gs pos="75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altLang="zh-CN" sz="7200" dirty="0">
                <a:gradFill flip="none" rotWithShape="1">
                  <a:gsLst>
                    <a:gs pos="15000">
                      <a:schemeClr val="bg2"/>
                    </a:gs>
                    <a:gs pos="75000">
                      <a:schemeClr val="bg2">
                        <a:alpha val="0"/>
                      </a:schemeClr>
                    </a:gs>
                  </a:gsLst>
                  <a:lin ang="5400000" scaled="0"/>
                  <a:tileRect/>
                </a:gradFill>
              </a:rPr>
              <a:t>03</a:t>
            </a:r>
            <a:endParaRPr lang="zh-CN" altLang="en-US" sz="7200" dirty="0">
              <a:gradFill flip="none" rotWithShape="1">
                <a:gsLst>
                  <a:gs pos="15000">
                    <a:schemeClr val="bg2"/>
                  </a:gs>
                  <a:gs pos="75000">
                    <a:schemeClr val="bg2">
                      <a:alpha val="0"/>
                    </a:schemeClr>
                  </a:gs>
                </a:gsLst>
                <a:lin ang="5400000" scaled="0"/>
                <a:tileRect/>
              </a:gra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amoro-inde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715" y="1670050"/>
            <a:ext cx="9177655" cy="431419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952436" y="838835"/>
            <a:ext cx="62845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zh-CN" altLang="en-GB" dirty="0">
                <a:latin typeface="Space Grotesk" pitchFamily="2" charset="0"/>
                <a:cs typeface="Space Grotesk" pitchFamily="2" charset="0"/>
              </a:rPr>
              <a:t>湖仓管理系统</a:t>
            </a:r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 Apache Amoro</a:t>
            </a:r>
            <a:endParaRPr lang="en-US" altLang="zh-CN" dirty="0">
              <a:latin typeface="Space Grotesk" pitchFamily="2" charset="0"/>
              <a:cs typeface="Space Grotesk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596134" y="838835"/>
            <a:ext cx="29972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dirty="0">
                <a:latin typeface="Space Grotesk" pitchFamily="2" charset="0"/>
                <a:cs typeface="Space Grotesk" pitchFamily="2" charset="0"/>
              </a:rPr>
              <a:t>AMORO 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特点</a:t>
            </a:r>
            <a:endParaRPr lang="zh-CN" altLang="en-US" dirty="0"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1930" y="2026920"/>
            <a:ext cx="4624070" cy="359346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6641465" y="2027555"/>
            <a:ext cx="4321810" cy="3571875"/>
          </a:xfrm>
          <a:prstGeom prst="rect">
            <a:avLst/>
          </a:prstGeom>
          <a:noFill/>
        </p:spPr>
        <p:txBody>
          <a:bodyPr vert="horz" wrap="square" lIns="46990" tIns="46990" rIns="46990" bIns="46990" rtlCol="0">
            <a:noAutofit/>
          </a:bodyPr>
          <a:p>
            <a:pPr indent="0" algn="l">
              <a:buFont typeface="Arial" panose="020B0604020202090204" pitchFamily="34" charset="0"/>
              <a:buNone/>
            </a:pPr>
            <a:r>
              <a:rPr kumimoji="1" sz="22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Amoro 利用 AMS 管理功能和自优化机制，为用户提供了解决三方悖论的方案。与传统的数据仓库不同，Lakehouse 表格被广泛应用于各种数据管道、AI 和 BI 场景。衡量数据新鲜度对于数据开发人员、分析师和管理员至关重要，Amoro 通过在流计算中采用水印概念来解决这一挑战，从而评估表格新鲜度。</a:t>
            </a:r>
            <a:endParaRPr kumimoji="1" sz="22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825562" y="838835"/>
            <a:ext cx="453834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CDC 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数据入湖困难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点</a:t>
            </a:r>
            <a:endParaRPr lang="zh-CN" altLang="en-US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2"/>
            </p:custDataLst>
          </p:nvPr>
        </p:nvSpPr>
        <p:spPr>
          <a:xfrm>
            <a:off x="8428990" y="2157730"/>
            <a:ext cx="4189095" cy="298069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Arial" panose="020B0604020202090204" pitchFamily="34" charset="0"/>
              <a:buChar char="•"/>
            </a:pPr>
            <a:endParaRPr kumimoji="1" lang="en-US" altLang="zh-CN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21740" y="1841500"/>
            <a:ext cx="6794500" cy="361378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8289290" y="1841500"/>
            <a:ext cx="2811145" cy="3613785"/>
          </a:xfrm>
          <a:prstGeom prst="rect">
            <a:avLst/>
          </a:prstGeom>
          <a:noFill/>
        </p:spPr>
        <p:txBody>
          <a:bodyPr vert="horz" wrap="square" lIns="46990" tIns="46990" rIns="46990" bIns="46990" rtlCol="0">
            <a:noAutofit/>
          </a:bodyPr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2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数据质量问题</a:t>
            </a:r>
            <a:endParaRPr kumimoji="1" lang="zh-CN" altLang="en-US" sz="22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2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数据</a:t>
            </a:r>
            <a:r>
              <a:rPr kumimoji="1" lang="en-US" altLang="zh-CN" sz="22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Schema change</a:t>
            </a:r>
            <a:endParaRPr kumimoji="1" lang="en-US" altLang="zh-CN" sz="22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2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数据时效性问题</a:t>
            </a:r>
            <a:endParaRPr kumimoji="1" lang="zh-CN" altLang="en-US" sz="22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2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读放大和写放大问题</a:t>
            </a:r>
            <a:endParaRPr kumimoji="1" lang="zh-CN" altLang="en-US" sz="22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en-US" altLang="zh-CN" sz="22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....</a:t>
            </a:r>
            <a:endParaRPr kumimoji="1" lang="en-US" altLang="zh-CN" sz="22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>
              <a:buFont typeface="Arial" panose="020B0604020202090204" pitchFamily="34" charset="0"/>
              <a:buChar char="•"/>
            </a:pPr>
            <a:endParaRPr kumimoji="1" sz="22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130997" y="838835"/>
            <a:ext cx="392747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CDC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数据入湖</a:t>
            </a:r>
            <a:r>
              <a:rPr lang="zh-CN" altLang="en-US" dirty="0">
                <a:latin typeface="Space Grotesk" pitchFamily="2" charset="0"/>
                <a:cs typeface="Space Grotesk" pitchFamily="2" charset="0"/>
              </a:rPr>
              <a:t>优化</a:t>
            </a:r>
            <a:endParaRPr lang="zh-CN" altLang="en-US" dirty="0"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53795" y="2013585"/>
            <a:ext cx="6470015" cy="34798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4"/>
            </p:custDataLst>
          </p:nvPr>
        </p:nvSpPr>
        <p:spPr>
          <a:xfrm>
            <a:off x="7956550" y="2258060"/>
            <a:ext cx="3262630" cy="299021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流式写入</a:t>
            </a: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文件碎片</a:t>
            </a:r>
            <a:endParaRPr kumimoji="1" lang="zh-CN" altLang="en-US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  <a:sym typeface="+mn-ea"/>
              </a:rPr>
              <a:t>优化资源管理</a:t>
            </a:r>
            <a:endParaRPr kumimoji="1" lang="zh-CN" altLang="en-US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优化资源任务</a:t>
            </a: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隔离</a:t>
            </a:r>
            <a:endParaRPr kumimoji="1" lang="zh-CN" altLang="en-US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表</a:t>
            </a:r>
            <a:r>
              <a:rPr kumimoji="1" lang="zh-CN" altLang="en-US" sz="24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格式读写平衡</a:t>
            </a:r>
            <a:endParaRPr kumimoji="1" lang="zh-CN" altLang="en-US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endParaRPr kumimoji="1" lang="zh-CN" altLang="en-US" sz="24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374077" y="838835"/>
            <a:ext cx="544131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zh-CN" altLang="en-GB" dirty="0">
                <a:latin typeface="Space Grotesk" pitchFamily="2" charset="0"/>
                <a:cs typeface="Space Grotesk" pitchFamily="2" charset="0"/>
              </a:rPr>
              <a:t>文件</a:t>
            </a:r>
            <a:r>
              <a:rPr lang="zh-CN" altLang="en-GB" dirty="0">
                <a:latin typeface="Space Grotesk" pitchFamily="2" charset="0"/>
                <a:cs typeface="Space Grotesk" pitchFamily="2" charset="0"/>
              </a:rPr>
              <a:t>碎片优化过程</a:t>
            </a:r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（</a:t>
            </a:r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GC）</a:t>
            </a:r>
            <a:endParaRPr lang="en-US" altLang="zh-CN" dirty="0"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83945" y="1638935"/>
            <a:ext cx="10024745" cy="42068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629789" y="838835"/>
            <a:ext cx="29298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zh-CN" altLang="en-GB" dirty="0">
                <a:latin typeface="Space Grotesk" pitchFamily="2" charset="0"/>
                <a:cs typeface="Space Grotesk" pitchFamily="2" charset="0"/>
              </a:rPr>
              <a:t>数据优化</a:t>
            </a:r>
            <a:r>
              <a:rPr lang="zh-CN" altLang="en-GB" dirty="0">
                <a:latin typeface="Space Grotesk" pitchFamily="2" charset="0"/>
                <a:cs typeface="Space Grotesk" pitchFamily="2" charset="0"/>
              </a:rPr>
              <a:t>阶段</a:t>
            </a:r>
            <a:endParaRPr lang="zh-CN" altLang="en-GB" dirty="0">
              <a:latin typeface="Space Grotesk" pitchFamily="2" charset="0"/>
              <a:cs typeface="Space Grotesk" pitchFamily="2" charset="0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273810" y="1844675"/>
          <a:ext cx="9791700" cy="3195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340"/>
                <a:gridCol w="1958340"/>
                <a:gridCol w="1958340"/>
                <a:gridCol w="1958340"/>
                <a:gridCol w="1958340"/>
              </a:tblGrid>
              <a:tr h="660400">
                <a:tc>
                  <a:txBody>
                    <a:bodyPr/>
                    <a:p>
                      <a:pPr algn="ctr"/>
                      <a:r>
                        <a:rPr lang="en-US" altLang="zh-CN" sz="1100" b="1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Self-optimizing type</a:t>
                      </a:r>
                      <a:endParaRPr lang="en-US" altLang="zh-CN" sz="1100" b="1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Input space</a:t>
                      </a:r>
                      <a:endParaRPr lang="en-US" altLang="zh-CN" sz="1100" b="1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Output space</a:t>
                      </a:r>
                      <a:endParaRPr lang="en-US" altLang="zh-CN" sz="1100" b="1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Input file types</a:t>
                      </a:r>
                      <a:endParaRPr lang="en-US" altLang="zh-CN" sz="1100" b="1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Output file types</a:t>
                      </a:r>
                      <a:endParaRPr lang="en-US" altLang="zh-CN" sz="1100" b="1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845185">
                <a:tc>
                  <a:txBody>
                    <a:bodyPr/>
                    <a:p>
                      <a:pPr algn="ctr"/>
                      <a:r>
                        <a:rPr lang="en-US" altLang="zh-CN" sz="1100" b="1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minor</a:t>
                      </a:r>
                      <a:endParaRPr lang="en-US" altLang="zh-CN" sz="1100" b="1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fragment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fragment/segment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insert, eq-delete, pos-delete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insert, pos-delete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44550">
                <a:tc>
                  <a:txBody>
                    <a:bodyPr/>
                    <a:p>
                      <a:pPr algn="ctr"/>
                      <a:r>
                        <a:rPr lang="en-US" altLang="zh-CN" sz="1100" b="1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major</a:t>
                      </a:r>
                      <a:endParaRPr lang="en-US" altLang="zh-CN" sz="1100" b="1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fragment, segment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segment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insert, eq-delete, pos-delete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insert, pos-delete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845820">
                <a:tc>
                  <a:txBody>
                    <a:bodyPr/>
                    <a:p>
                      <a:pPr algn="ctr"/>
                      <a:r>
                        <a:rPr lang="en-US" altLang="zh-CN" sz="1100" b="1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full</a:t>
                      </a:r>
                      <a:endParaRPr lang="en-US" altLang="zh-CN" sz="1100" b="1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fragment, segment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segment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insert, eq-delete, pos-delete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i="0">
                          <a:solidFill>
                            <a:srgbClr val="24292F"/>
                          </a:solidFill>
                          <a:latin typeface="sans-serif"/>
                          <a:ea typeface="sans-serif"/>
                        </a:rPr>
                        <a:t>insert</a:t>
                      </a:r>
                      <a:endParaRPr lang="en-US" altLang="zh-CN" sz="1100" b="0" i="0">
                        <a:solidFill>
                          <a:srgbClr val="24292F"/>
                        </a:solidFill>
                        <a:latin typeface="sans-serif"/>
                        <a:ea typeface="sans-serif"/>
                      </a:endParaRPr>
                    </a:p>
                  </a:txBody>
                  <a:tcPr marL="165417" marR="165417" marT="76517" marB="76517" anchor="ctr" anchorCtr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273809" y="5402487"/>
            <a:ext cx="67779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Tips：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入湖时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可以根据数据新鲜度要求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调整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文件合并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频率</a:t>
            </a:r>
            <a:endParaRPr kumimoji="1" lang="zh-CN" altLang="en-US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915097" y="838835"/>
            <a:ext cx="435927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Flink Mixed </a:t>
            </a:r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Format</a:t>
            </a:r>
            <a:endParaRPr lang="en-US" altLang="zh-CN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8632190" y="1604645"/>
            <a:ext cx="2525395" cy="4438015"/>
          </a:xfrm>
          <a:prstGeom prst="rect">
            <a:avLst/>
          </a:prstGeom>
          <a:noFill/>
        </p:spPr>
        <p:txBody>
          <a:bodyPr vert="horz" wrap="square" lIns="46990" tIns="46990" rIns="46990" bIns="46990" rtlCol="0">
            <a:noAutofit/>
          </a:bodyPr>
          <a:p>
            <a:pPr indent="0" algn="l">
              <a:buFont typeface="Arial" panose="020B0604020202090204" pitchFamily="34" charset="0"/>
              <a:buNone/>
            </a:pPr>
            <a:r>
              <a:rPr kumimoji="1" sz="22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借助 Amoro Mixed Iceberg 有主键表，既支持了 ODS 层的 upsert，也支持增量消费 CDC 数据，继续构建下游的表；尤其是还可以通过 Log Store 将数据写入 Kafka，给下游提供毫秒级延迟的数据，避免数据流经多个层级后延迟不断叠加</a:t>
            </a:r>
            <a:endParaRPr kumimoji="1" sz="22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73810" y="1604645"/>
            <a:ext cx="7056755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/>
          <p:cNvCxnSpPr/>
          <p:nvPr/>
        </p:nvCxnSpPr>
        <p:spPr>
          <a:xfrm rot="5400000">
            <a:off x="6096600" y="-54090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94475" y="422276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8056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94475" y="6163857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218717" y="3171237"/>
            <a:ext cx="353943" cy="51552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bg1">
                    <a:alpha val="34598"/>
                  </a:schemeClr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安全线</a:t>
            </a:r>
            <a:endParaRPr kumimoji="1" lang="zh-CN" altLang="en-US" sz="1100" dirty="0">
              <a:solidFill>
                <a:schemeClr val="bg1">
                  <a:alpha val="34598"/>
                </a:schemeClr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cxnSp>
        <p:nvCxnSpPr>
          <p:cNvPr id="2" name="直线连接符 1"/>
          <p:cNvCxnSpPr/>
          <p:nvPr/>
        </p:nvCxnSpPr>
        <p:spPr>
          <a:xfrm>
            <a:off x="947738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/>
          <p:cNvCxnSpPr/>
          <p:nvPr/>
        </p:nvCxnSpPr>
        <p:spPr>
          <a:xfrm>
            <a:off x="11243955" y="0"/>
            <a:ext cx="0" cy="68580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 rot="5400000">
            <a:off x="6096600" y="73800"/>
            <a:ext cx="0" cy="12193200"/>
          </a:xfrm>
          <a:prstGeom prst="line">
            <a:avLst/>
          </a:prstGeom>
          <a:ln w="6350">
            <a:solidFill>
              <a:schemeClr val="bg1">
                <a:alpha val="35027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130997" y="838835"/>
            <a:ext cx="392747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altLang="zh-CN" dirty="0">
                <a:latin typeface="Space Grotesk" pitchFamily="2" charset="0"/>
                <a:cs typeface="Space Grotesk" pitchFamily="2" charset="0"/>
              </a:rPr>
              <a:t>CDC</a:t>
            </a:r>
            <a:r>
              <a:rPr lang="zh-CN" altLang="en-GB" dirty="0">
                <a:latin typeface="Space Grotesk" pitchFamily="2" charset="0"/>
                <a:cs typeface="Space Grotesk" pitchFamily="2" charset="0"/>
              </a:rPr>
              <a:t>实时入湖</a:t>
            </a:r>
            <a:r>
              <a:rPr lang="zh-CN" altLang="en-GB" dirty="0">
                <a:latin typeface="Space Grotesk" pitchFamily="2" charset="0"/>
                <a:cs typeface="Space Grotesk" pitchFamily="2" charset="0"/>
              </a:rPr>
              <a:t>链路</a:t>
            </a:r>
            <a:endParaRPr lang="zh-CN" altLang="en-GB" dirty="0"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11" name="图片 10" descr="flink_squirrel_5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045" y="3507105"/>
            <a:ext cx="875665" cy="875665"/>
          </a:xfrm>
          <a:prstGeom prst="rect">
            <a:avLst/>
          </a:prstGeom>
        </p:spPr>
      </p:pic>
      <p:pic>
        <p:nvPicPr>
          <p:cNvPr id="15" name="图片 14" descr="68747470733a2f2f616d6f726f2e6170616368652e6f72672f696d672f616d6f726f2d6c6f676f2e73766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5775" y="1704340"/>
            <a:ext cx="2200910" cy="514985"/>
          </a:xfrm>
          <a:prstGeom prst="rect">
            <a:avLst/>
          </a:prstGeom>
        </p:spPr>
      </p:pic>
      <p:pic>
        <p:nvPicPr>
          <p:cNvPr id="17" name="图片 16" descr="Iceberg-logo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0395" y="3147695"/>
            <a:ext cx="2066290" cy="56324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299450" y="4135755"/>
            <a:ext cx="2007235" cy="622300"/>
          </a:xfrm>
          <a:prstGeom prst="rect">
            <a:avLst/>
          </a:prstGeom>
        </p:spPr>
      </p:pic>
      <p:sp>
        <p:nvSpPr>
          <p:cNvPr id="5" name="燕尾形 4"/>
          <p:cNvSpPr/>
          <p:nvPr/>
        </p:nvSpPr>
        <p:spPr>
          <a:xfrm>
            <a:off x="4341495" y="3796665"/>
            <a:ext cx="486410" cy="367030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85000"/>
              </a:schemeClr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59"/>
          <p:cNvSpPr/>
          <p:nvPr>
            <p:custDataLst>
              <p:tags r:id="rId10"/>
            </p:custDataLst>
          </p:nvPr>
        </p:nvSpPr>
        <p:spPr>
          <a:xfrm>
            <a:off x="1080770" y="5140960"/>
            <a:ext cx="10042525" cy="717550"/>
          </a:xfrm>
          <a:prstGeom prst="roundRect">
            <a:avLst>
              <a:gd name="adj" fmla="val 20363"/>
            </a:avLst>
          </a:prstGeom>
          <a:noFill/>
          <a:ln w="15875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1221431" y="5287130"/>
            <a:ext cx="8705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b="1" dirty="0">
                <a:solidFill>
                  <a:srgbClr val="B775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存储</a:t>
            </a:r>
            <a:r>
              <a:rPr kumimoji="1" lang="zh-CN" altLang="en-US" b="1" dirty="0">
                <a:solidFill>
                  <a:srgbClr val="B775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层</a:t>
            </a:r>
            <a:endParaRPr kumimoji="1" lang="zh-CN" altLang="en-US" b="1" dirty="0">
              <a:solidFill>
                <a:srgbClr val="B775FF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78" name="圆角矩形 59"/>
          <p:cNvSpPr/>
          <p:nvPr>
            <p:custDataLst>
              <p:tags r:id="rId12"/>
            </p:custDataLst>
          </p:nvPr>
        </p:nvSpPr>
        <p:spPr>
          <a:xfrm>
            <a:off x="2464672" y="5315648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>
                  <a:alpha val="4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85" name="文本框 84"/>
          <p:cNvSpPr txBox="1"/>
          <p:nvPr>
            <p:custDataLst>
              <p:tags r:id="rId13"/>
            </p:custDataLst>
          </p:nvPr>
        </p:nvSpPr>
        <p:spPr>
          <a:xfrm>
            <a:off x="2563018" y="5356042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OSS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14" name="圆角矩形 59"/>
          <p:cNvSpPr/>
          <p:nvPr>
            <p:custDataLst>
              <p:tags r:id="rId14"/>
            </p:custDataLst>
          </p:nvPr>
        </p:nvSpPr>
        <p:spPr>
          <a:xfrm>
            <a:off x="4369672" y="5299138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>
                  <a:alpha val="4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4468018" y="5339532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OSS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18" name="圆角矩形 59"/>
          <p:cNvSpPr/>
          <p:nvPr>
            <p:custDataLst>
              <p:tags r:id="rId16"/>
            </p:custDataLst>
          </p:nvPr>
        </p:nvSpPr>
        <p:spPr>
          <a:xfrm>
            <a:off x="6411832" y="5311838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>
                  <a:alpha val="4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6510178" y="5352232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OSS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0" name="圆角矩形 59"/>
          <p:cNvSpPr/>
          <p:nvPr>
            <p:custDataLst>
              <p:tags r:id="rId18"/>
            </p:custDataLst>
          </p:nvPr>
        </p:nvSpPr>
        <p:spPr>
          <a:xfrm>
            <a:off x="8405732" y="5300408"/>
            <a:ext cx="1607477" cy="356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>
                  <a:alpha val="4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8504078" y="5340802"/>
            <a:ext cx="1410786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OSS</a:t>
            </a:r>
            <a:endParaRPr kumimoji="1" lang="en-US" altLang="zh-CN" sz="110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25" name="燕尾形 24"/>
          <p:cNvSpPr/>
          <p:nvPr>
            <p:custDataLst>
              <p:tags r:id="rId20"/>
            </p:custDataLst>
          </p:nvPr>
        </p:nvSpPr>
        <p:spPr>
          <a:xfrm>
            <a:off x="5052695" y="3816985"/>
            <a:ext cx="486410" cy="367030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85000"/>
              </a:schemeClr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燕尾形 25"/>
          <p:cNvSpPr/>
          <p:nvPr>
            <p:custDataLst>
              <p:tags r:id="rId21"/>
            </p:custDataLst>
          </p:nvPr>
        </p:nvSpPr>
        <p:spPr>
          <a:xfrm>
            <a:off x="5763895" y="3804920"/>
            <a:ext cx="486410" cy="367030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85000"/>
              </a:schemeClr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流程图: 磁盘 26"/>
          <p:cNvSpPr/>
          <p:nvPr/>
        </p:nvSpPr>
        <p:spPr>
          <a:xfrm>
            <a:off x="1556385" y="3686810"/>
            <a:ext cx="1139190" cy="795020"/>
          </a:xfrm>
          <a:prstGeom prst="flowChartMagneticDisk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rgbClr val="002060"/>
                </a:solidFill>
              </a:rPr>
              <a:t>MySQL</a:t>
            </a:r>
            <a:endParaRPr lang="en-US" altLang="zh-CN" sz="2000" b="1">
              <a:solidFill>
                <a:srgbClr val="002060"/>
              </a:solidFill>
            </a:endParaRPr>
          </a:p>
        </p:txBody>
      </p:sp>
      <p:sp>
        <p:nvSpPr>
          <p:cNvPr id="28" name="燕尾形 27"/>
          <p:cNvSpPr/>
          <p:nvPr>
            <p:custDataLst>
              <p:tags r:id="rId22"/>
            </p:custDataLst>
          </p:nvPr>
        </p:nvSpPr>
        <p:spPr>
          <a:xfrm>
            <a:off x="6562090" y="3816985"/>
            <a:ext cx="486410" cy="367030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85000"/>
              </a:schemeClr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 59"/>
          <p:cNvSpPr/>
          <p:nvPr>
            <p:custDataLst>
              <p:tags r:id="rId23"/>
            </p:custDataLst>
          </p:nvPr>
        </p:nvSpPr>
        <p:spPr>
          <a:xfrm>
            <a:off x="7693025" y="2929890"/>
            <a:ext cx="3253740" cy="1898650"/>
          </a:xfrm>
          <a:prstGeom prst="roundRect">
            <a:avLst>
              <a:gd name="adj" fmla="val 17715"/>
            </a:avLst>
          </a:prstGeom>
          <a:noFill/>
          <a:ln w="15875">
            <a:solidFill>
              <a:srgbClr val="4EB5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24"/>
            </p:custDataLst>
          </p:nvPr>
        </p:nvSpPr>
        <p:spPr>
          <a:xfrm>
            <a:off x="4059236" y="2929797"/>
            <a:ext cx="31349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Flink CDC </a:t>
            </a:r>
            <a:r>
              <a:rPr kumimoji="1" lang="zh-CN" altLang="en-US" sz="2000" b="1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实时</a:t>
            </a:r>
            <a:r>
              <a:rPr kumimoji="1" lang="en-US" altLang="zh-CN" sz="2000" b="1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 ETL </a:t>
            </a:r>
            <a:r>
              <a:rPr kumimoji="1" lang="zh-CN" altLang="en-US" sz="2000" b="1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写入</a:t>
            </a:r>
            <a:endParaRPr kumimoji="1" lang="zh-CN" altLang="en-US" sz="2000" b="1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2" name="下箭头 31"/>
          <p:cNvSpPr/>
          <p:nvPr/>
        </p:nvSpPr>
        <p:spPr>
          <a:xfrm>
            <a:off x="8578215" y="2509520"/>
            <a:ext cx="389890" cy="302260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下箭头 32"/>
          <p:cNvSpPr/>
          <p:nvPr>
            <p:custDataLst>
              <p:tags r:id="rId25"/>
            </p:custDataLst>
          </p:nvPr>
        </p:nvSpPr>
        <p:spPr>
          <a:xfrm>
            <a:off x="9372600" y="2532380"/>
            <a:ext cx="389890" cy="302260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流程图: 磁盘 33"/>
          <p:cNvSpPr/>
          <p:nvPr>
            <p:custDataLst>
              <p:tags r:id="rId26"/>
            </p:custDataLst>
          </p:nvPr>
        </p:nvSpPr>
        <p:spPr>
          <a:xfrm>
            <a:off x="1556385" y="2712085"/>
            <a:ext cx="1139190" cy="795020"/>
          </a:xfrm>
          <a:prstGeom prst="flowChartMagneticDisk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rgbClr val="002060"/>
                </a:solidFill>
              </a:rPr>
              <a:t>PG</a:t>
            </a:r>
            <a:endParaRPr lang="en-US" altLang="zh-CN" sz="20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2823596" y="4850274"/>
            <a:ext cx="5927090" cy="551815"/>
            <a:chOff x="4050600" y="5069704"/>
            <a:chExt cx="10300687" cy="590272"/>
          </a:xfrm>
        </p:grpSpPr>
        <p:sp>
          <p:nvSpPr>
            <p:cNvPr id="4" name="同侧圆角矩形 3"/>
            <p:cNvSpPr/>
            <p:nvPr/>
          </p:nvSpPr>
          <p:spPr>
            <a:xfrm>
              <a:off x="7325984" y="5316953"/>
              <a:ext cx="634551" cy="342344"/>
            </a:xfrm>
            <a:prstGeom prst="round2SameRect">
              <a:avLst>
                <a:gd name="adj1" fmla="val 11900"/>
                <a:gd name="adj2" fmla="val 0"/>
              </a:avLst>
            </a:prstGeom>
            <a:gradFill>
              <a:gsLst>
                <a:gs pos="10000">
                  <a:srgbClr val="4EB5FF"/>
                </a:gs>
                <a:gs pos="100000">
                  <a:srgbClr val="4EB5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同侧圆角矩形 5"/>
            <p:cNvSpPr/>
            <p:nvPr/>
          </p:nvSpPr>
          <p:spPr>
            <a:xfrm>
              <a:off x="10488805" y="5244273"/>
              <a:ext cx="682004" cy="415024"/>
            </a:xfrm>
            <a:prstGeom prst="round2SameRect">
              <a:avLst>
                <a:gd name="adj1" fmla="val 14211"/>
                <a:gd name="adj2" fmla="val 0"/>
              </a:avLst>
            </a:prstGeom>
            <a:gradFill>
              <a:gsLst>
                <a:gs pos="10000">
                  <a:srgbClr val="4EB5FF"/>
                </a:gs>
                <a:gs pos="100000">
                  <a:srgbClr val="4EB5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同侧圆角矩形 7"/>
            <p:cNvSpPr/>
            <p:nvPr/>
          </p:nvSpPr>
          <p:spPr>
            <a:xfrm>
              <a:off x="13664869" y="5069704"/>
              <a:ext cx="686418" cy="590272"/>
            </a:xfrm>
            <a:prstGeom prst="round2SameRect">
              <a:avLst>
                <a:gd name="adj1" fmla="val 11900"/>
                <a:gd name="adj2" fmla="val 0"/>
              </a:avLst>
            </a:prstGeom>
            <a:gradFill>
              <a:gsLst>
                <a:gs pos="10000">
                  <a:srgbClr val="4EB5FF"/>
                </a:gs>
                <a:gs pos="100000">
                  <a:srgbClr val="4EB5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同侧圆角矩形 25"/>
            <p:cNvSpPr/>
            <p:nvPr/>
          </p:nvSpPr>
          <p:spPr>
            <a:xfrm>
              <a:off x="4050600" y="5431067"/>
              <a:ext cx="719525" cy="228229"/>
            </a:xfrm>
            <a:prstGeom prst="round2SameRect">
              <a:avLst>
                <a:gd name="adj1" fmla="val 9078"/>
                <a:gd name="adj2" fmla="val 0"/>
              </a:avLst>
            </a:prstGeom>
            <a:gradFill>
              <a:gsLst>
                <a:gs pos="10000">
                  <a:srgbClr val="4EB5FF"/>
                </a:gs>
                <a:gs pos="100000">
                  <a:srgbClr val="4EB5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674431" y="447040"/>
            <a:ext cx="484314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en-US" altLang="zh-CN" dirty="0"/>
              <a:t>CDC</a:t>
            </a:r>
            <a:r>
              <a:rPr lang="zh-CN" altLang="en-US" dirty="0"/>
              <a:t>入</a:t>
            </a:r>
            <a:r>
              <a:rPr lang="zh-CN" altLang="en-US" dirty="0"/>
              <a:t>湖优化效果</a:t>
            </a:r>
            <a:r>
              <a:rPr lang="zh-CN" altLang="en-US" dirty="0"/>
              <a:t>对比</a:t>
            </a:r>
            <a:endParaRPr lang="zh-CN" altLang="en-US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2416411" y="4588759"/>
            <a:ext cx="7251065" cy="0"/>
          </a:xfrm>
          <a:prstGeom prst="line">
            <a:avLst/>
          </a:prstGeom>
          <a:ln w="6350">
            <a:solidFill>
              <a:schemeClr val="bg1">
                <a:alpha val="35148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/>
          <p:cNvCxnSpPr/>
          <p:nvPr/>
        </p:nvCxnSpPr>
        <p:spPr>
          <a:xfrm>
            <a:off x="2416411" y="2962559"/>
            <a:ext cx="7236460" cy="0"/>
          </a:xfrm>
          <a:prstGeom prst="line">
            <a:avLst/>
          </a:prstGeom>
          <a:ln w="6350">
            <a:solidFill>
              <a:schemeClr val="bg1">
                <a:alpha val="35148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2416411" y="2149459"/>
            <a:ext cx="7236460" cy="0"/>
          </a:xfrm>
          <a:prstGeom prst="line">
            <a:avLst/>
          </a:prstGeom>
          <a:ln w="6350">
            <a:solidFill>
              <a:schemeClr val="bg1">
                <a:alpha val="35148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8413044" y="5443422"/>
            <a:ext cx="75057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sz="11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12 </a:t>
            </a:r>
            <a:r>
              <a:rPr kumimoji="1" lang="en-US" sz="11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Hours</a:t>
            </a:r>
            <a:endParaRPr kumimoji="1" lang="en-US" sz="11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595224" y="5443422"/>
            <a:ext cx="69469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sz="11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6 </a:t>
            </a:r>
            <a:r>
              <a:rPr kumimoji="1" lang="en-US" sz="11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Hours</a:t>
            </a:r>
            <a:endParaRPr kumimoji="1" lang="en-US" sz="11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763436" y="5443422"/>
            <a:ext cx="66675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sz="11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1 </a:t>
            </a:r>
            <a:r>
              <a:rPr kumimoji="1" lang="en-US" sz="11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Hours</a:t>
            </a:r>
            <a:endParaRPr kumimoji="1" lang="en-US" sz="11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758609" y="5443422"/>
            <a:ext cx="704215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sz="11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30 </a:t>
            </a:r>
            <a:r>
              <a:rPr kumimoji="1" lang="en-US" sz="11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Mins</a:t>
            </a:r>
            <a:endParaRPr kumimoji="1" lang="en-US" sz="11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172016" y="5292454"/>
            <a:ext cx="241989" cy="235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0</a:t>
            </a:r>
            <a:endParaRPr kumimoji="1" lang="zh-CN" altLang="en-US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008142" y="4477577"/>
            <a:ext cx="405864" cy="235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500</a:t>
            </a:r>
            <a:endParaRPr kumimoji="1" lang="zh-CN" altLang="en-US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865366" y="3662701"/>
            <a:ext cx="5486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2000</a:t>
            </a:r>
            <a:endParaRPr kumimoji="1" lang="zh-CN" altLang="en-US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922145" y="2847975"/>
            <a:ext cx="492125" cy="21399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1,500</a:t>
            </a:r>
            <a:endParaRPr kumimoji="1" lang="zh-CN" altLang="en-US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892064" y="2032949"/>
            <a:ext cx="521943" cy="235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2,000</a:t>
            </a:r>
            <a:endParaRPr kumimoji="1" lang="zh-CN" altLang="en-US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cxnSp>
        <p:nvCxnSpPr>
          <p:cNvPr id="66" name="直线连接符 65"/>
          <p:cNvCxnSpPr/>
          <p:nvPr/>
        </p:nvCxnSpPr>
        <p:spPr>
          <a:xfrm>
            <a:off x="2416411" y="5401858"/>
            <a:ext cx="723646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组合 86"/>
          <p:cNvGrpSpPr/>
          <p:nvPr/>
        </p:nvGrpSpPr>
        <p:grpSpPr>
          <a:xfrm>
            <a:off x="4429659" y="1500855"/>
            <a:ext cx="1021080" cy="260350"/>
            <a:chOff x="4873705" y="1533654"/>
            <a:chExt cx="1021080" cy="260350"/>
          </a:xfrm>
        </p:grpSpPr>
        <p:sp>
          <p:nvSpPr>
            <p:cNvPr id="68" name="文本框 67"/>
            <p:cNvSpPr txBox="1"/>
            <p:nvPr/>
          </p:nvSpPr>
          <p:spPr>
            <a:xfrm>
              <a:off x="4873705" y="1533654"/>
              <a:ext cx="1021080" cy="260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优化前文件</a:t>
              </a:r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数</a:t>
              </a:r>
              <a:endPara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endParaRPr>
            </a:p>
          </p:txBody>
        </p:sp>
        <p:sp>
          <p:nvSpPr>
            <p:cNvPr id="72" name="矩形 71"/>
            <p:cNvSpPr>
              <a:spLocks noChangeAspect="1"/>
            </p:cNvSpPr>
            <p:nvPr/>
          </p:nvSpPr>
          <p:spPr>
            <a:xfrm>
              <a:off x="4873945" y="1633316"/>
              <a:ext cx="62287" cy="622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595009" y="1485615"/>
            <a:ext cx="1021080" cy="260350"/>
            <a:chOff x="4873705" y="1533654"/>
            <a:chExt cx="1021080" cy="260350"/>
          </a:xfrm>
        </p:grpSpPr>
        <p:sp>
          <p:nvSpPr>
            <p:cNvPr id="7" name="文本框 6"/>
            <p:cNvSpPr txBox="1"/>
            <p:nvPr>
              <p:custDataLst>
                <p:tags r:id="rId1"/>
              </p:custDataLst>
            </p:nvPr>
          </p:nvSpPr>
          <p:spPr>
            <a:xfrm>
              <a:off x="4873705" y="1533654"/>
              <a:ext cx="1021080" cy="260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优化后文件</a:t>
              </a:r>
              <a:r>
                <a:rPr kumimoji="1" lang="zh-CN" altLang="en-US" sz="1100" dirty="0">
                  <a:solidFill>
                    <a:schemeClr val="bg1"/>
                  </a:solidFill>
                  <a:latin typeface="Alibaba PuHuiTi 2.0 55 Regular" pitchFamily="18" charset="-122"/>
                  <a:ea typeface="Alibaba PuHuiTi 2.0 55 Regular" pitchFamily="18" charset="-122"/>
                  <a:cs typeface="Alibaba PuHuiTi 2.0 55 Regular" pitchFamily="18" charset="-122"/>
                </a:rPr>
                <a:t>数</a:t>
              </a:r>
              <a:endParaRPr kumimoji="1" lang="zh-CN" altLang="en-US" sz="110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endParaRPr>
            </a:p>
          </p:txBody>
        </p:sp>
        <p:sp>
          <p:nvSpPr>
            <p:cNvPr id="9" name="矩形 8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4873945" y="1633316"/>
              <a:ext cx="62287" cy="622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 sz="1200"/>
            </a:p>
          </p:txBody>
        </p:sp>
      </p:grpSp>
      <p:sp>
        <p:nvSpPr>
          <p:cNvPr id="27" name="同侧圆角矩形 26"/>
          <p:cNvSpPr/>
          <p:nvPr>
            <p:custDataLst>
              <p:tags r:id="rId3"/>
            </p:custDataLst>
          </p:nvPr>
        </p:nvSpPr>
        <p:spPr>
          <a:xfrm>
            <a:off x="3267710" y="4832350"/>
            <a:ext cx="365125" cy="569595"/>
          </a:xfrm>
          <a:prstGeom prst="round2SameRect">
            <a:avLst>
              <a:gd name="adj1" fmla="val 14723"/>
              <a:gd name="adj2" fmla="val 0"/>
            </a:avLst>
          </a:prstGeom>
          <a:gradFill>
            <a:gsLst>
              <a:gs pos="1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3" name="同侧圆角矩形 12"/>
          <p:cNvSpPr/>
          <p:nvPr>
            <p:custDataLst>
              <p:tags r:id="rId4"/>
            </p:custDataLst>
          </p:nvPr>
        </p:nvSpPr>
        <p:spPr>
          <a:xfrm>
            <a:off x="5073650" y="4729480"/>
            <a:ext cx="426720" cy="644525"/>
          </a:xfrm>
          <a:prstGeom prst="round2SameRect">
            <a:avLst>
              <a:gd name="adj1" fmla="val 14723"/>
              <a:gd name="adj2" fmla="val 0"/>
            </a:avLst>
          </a:prstGeom>
          <a:gradFill>
            <a:gsLst>
              <a:gs pos="1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4" name="同侧圆角矩形 13"/>
          <p:cNvSpPr/>
          <p:nvPr>
            <p:custDataLst>
              <p:tags r:id="rId5"/>
            </p:custDataLst>
          </p:nvPr>
        </p:nvSpPr>
        <p:spPr>
          <a:xfrm>
            <a:off x="6929755" y="4367530"/>
            <a:ext cx="382905" cy="993140"/>
          </a:xfrm>
          <a:prstGeom prst="round2SameRect">
            <a:avLst>
              <a:gd name="adj1" fmla="val 14723"/>
              <a:gd name="adj2" fmla="val 0"/>
            </a:avLst>
          </a:prstGeom>
          <a:gradFill>
            <a:gsLst>
              <a:gs pos="1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922144" y="6000022"/>
            <a:ext cx="856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基于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 Flink 1.20 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LTS、iceberg 1.6.X 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实时写入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，Checkpoint 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设置为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3</a:t>
            </a:r>
            <a:r>
              <a:rPr kumimoji="1" lang="en-US" altLang="zh-CN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 </a:t>
            </a:r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分钟</a:t>
            </a:r>
            <a:endParaRPr kumimoji="1" lang="zh-CN" altLang="en-US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16" name="同侧圆角矩形 15"/>
          <p:cNvSpPr/>
          <p:nvPr>
            <p:custDataLst>
              <p:tags r:id="rId7"/>
            </p:custDataLst>
          </p:nvPr>
        </p:nvSpPr>
        <p:spPr>
          <a:xfrm>
            <a:off x="8748395" y="2864485"/>
            <a:ext cx="426720" cy="2534285"/>
          </a:xfrm>
          <a:prstGeom prst="round2SameRect">
            <a:avLst>
              <a:gd name="adj1" fmla="val 14723"/>
              <a:gd name="adj2" fmla="val 0"/>
            </a:avLst>
          </a:prstGeom>
          <a:gradFill>
            <a:gsLst>
              <a:gs pos="1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2756535" y="4889500"/>
            <a:ext cx="426720" cy="300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90</a:t>
            </a:r>
            <a:endParaRPr kumimoji="1" lang="zh-CN" altLang="en-US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3224902" y="4475965"/>
            <a:ext cx="4572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220</a:t>
            </a:r>
            <a:endParaRPr kumimoji="1" lang="en-US" altLang="zh-CN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4613910" y="4767580"/>
            <a:ext cx="426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150</a:t>
            </a:r>
            <a:endParaRPr kumimoji="1" lang="en-US" altLang="zh-CN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6471022" y="4726155"/>
            <a:ext cx="426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162</a:t>
            </a:r>
            <a:endParaRPr kumimoji="1" lang="en-US" altLang="zh-CN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2"/>
            </p:custDataLst>
          </p:nvPr>
        </p:nvSpPr>
        <p:spPr>
          <a:xfrm>
            <a:off x="6877422" y="4050515"/>
            <a:ext cx="4489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723</a:t>
            </a:r>
            <a:endParaRPr kumimoji="1" lang="en-US" altLang="zh-CN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8320142" y="4557880"/>
            <a:ext cx="4267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210</a:t>
            </a:r>
            <a:endParaRPr kumimoji="1" lang="en-US" altLang="zh-CN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4"/>
            </p:custDataLst>
          </p:nvPr>
        </p:nvSpPr>
        <p:spPr>
          <a:xfrm>
            <a:off x="5080372" y="4425800"/>
            <a:ext cx="4572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430</a:t>
            </a:r>
            <a:endParaRPr kumimoji="1" lang="en-US" altLang="zh-CN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5"/>
            </p:custDataLst>
          </p:nvPr>
        </p:nvSpPr>
        <p:spPr>
          <a:xfrm>
            <a:off x="8675742" y="2585570"/>
            <a:ext cx="487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kumimoji="1" lang="en-US" altLang="zh-CN" sz="1200" dirty="0">
                <a:solidFill>
                  <a:schemeClr val="bg1"/>
                </a:solidFill>
                <a:latin typeface="Space Grotesk" pitchFamily="2" charset="0"/>
                <a:ea typeface="FZVariable-LanTingHeiK Normal" panose="02000600000000000000" pitchFamily="2" charset="-122"/>
                <a:cs typeface="Space Grotesk" pitchFamily="2" charset="0"/>
              </a:rPr>
              <a:t>1612</a:t>
            </a:r>
            <a:endParaRPr kumimoji="1" lang="en-US" altLang="zh-CN" sz="1200" dirty="0">
              <a:solidFill>
                <a:schemeClr val="bg1"/>
              </a:solidFill>
              <a:latin typeface="Space Grotesk" pitchFamily="2" charset="0"/>
              <a:ea typeface="FZVariable-LanTingHeiK Normal" panose="02000600000000000000" pitchFamily="2" charset="-122"/>
              <a:cs typeface="Space Grotesk" pitchFamily="2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784091" y="2961970"/>
            <a:ext cx="26238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sz="48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未来</a:t>
            </a:r>
            <a:r>
              <a:rPr kumimoji="1" lang="zh-CN" sz="4800" b="1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规划</a:t>
            </a:r>
            <a:endParaRPr kumimoji="1" lang="zh-CN" sz="4800" b="1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96559" y="4042952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社区规划</a:t>
            </a:r>
            <a:endParaRPr kumimoji="1" lang="en-US" altLang="zh-CN" sz="2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71770" y="1617396"/>
            <a:ext cx="164846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9600" b="1" dirty="0">
                <a:gradFill flip="none" rotWithShape="1">
                  <a:gsLst>
                    <a:gs pos="15000">
                      <a:schemeClr val="tx2"/>
                    </a:gs>
                    <a:gs pos="75000">
                      <a:schemeClr val="tx2">
                        <a:alpha val="0"/>
                      </a:schemeClr>
                    </a:gs>
                  </a:gsLst>
                  <a:lin ang="5400000" scaled="0"/>
                  <a:tileRect/>
                </a:gradFill>
                <a:latin typeface="Space Grotesk" pitchFamily="2" charset="0"/>
                <a:cs typeface="Space Grotesk" pitchFamily="2" charset="0"/>
              </a:rPr>
              <a:t>04</a:t>
            </a:r>
            <a:endParaRPr kumimoji="1" lang="zh-CN" altLang="en-US" sz="9600" b="1" dirty="0">
              <a:gradFill flip="none" rotWithShape="1">
                <a:gsLst>
                  <a:gs pos="15000">
                    <a:schemeClr val="tx2"/>
                  </a:gs>
                  <a:gs pos="75000">
                    <a:schemeClr val="tx2">
                      <a:alpha val="0"/>
                    </a:schemeClr>
                  </a:gs>
                </a:gsLst>
                <a:lin ang="5400000" scaled="0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40744" y="3825111"/>
            <a:ext cx="510511" cy="446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形状 72"/>
          <p:cNvSpPr>
            <a:spLocks noChangeAspect="1"/>
          </p:cNvSpPr>
          <p:nvPr/>
        </p:nvSpPr>
        <p:spPr>
          <a:xfrm>
            <a:off x="1862667" y="4300776"/>
            <a:ext cx="8466666" cy="1333700"/>
          </a:xfrm>
          <a:custGeom>
            <a:avLst/>
            <a:gdLst>
              <a:gd name="connsiteX0" fmla="*/ 4345873 w 8691746"/>
              <a:gd name="connsiteY0" fmla="*/ 0 h 1788514"/>
              <a:gd name="connsiteX1" fmla="*/ 8691746 w 8691746"/>
              <a:gd name="connsiteY1" fmla="*/ 894257 h 1788514"/>
              <a:gd name="connsiteX2" fmla="*/ 4345873 w 8691746"/>
              <a:gd name="connsiteY2" fmla="*/ 1788514 h 1788514"/>
              <a:gd name="connsiteX3" fmla="*/ 0 w 8691746"/>
              <a:gd name="connsiteY3" fmla="*/ 894257 h 1788514"/>
              <a:gd name="connsiteX4" fmla="*/ 4345873 w 8691746"/>
              <a:gd name="connsiteY4" fmla="*/ 0 h 1788514"/>
              <a:gd name="connsiteX5" fmla="*/ 4345873 w 8691746"/>
              <a:gd name="connsiteY5" fmla="*/ 103299 h 1788514"/>
              <a:gd name="connsiteX6" fmla="*/ 502006 w 8691746"/>
              <a:gd name="connsiteY6" fmla="*/ 894257 h 1788514"/>
              <a:gd name="connsiteX7" fmla="*/ 4345873 w 8691746"/>
              <a:gd name="connsiteY7" fmla="*/ 1685215 h 1788514"/>
              <a:gd name="connsiteX8" fmla="*/ 8189740 w 8691746"/>
              <a:gd name="connsiteY8" fmla="*/ 894257 h 1788514"/>
              <a:gd name="connsiteX9" fmla="*/ 4345873 w 8691746"/>
              <a:gd name="connsiteY9" fmla="*/ 103299 h 178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691746" h="1788514">
                <a:moveTo>
                  <a:pt x="4345873" y="0"/>
                </a:moveTo>
                <a:cubicBezTo>
                  <a:pt x="6746032" y="0"/>
                  <a:pt x="8691746" y="400372"/>
                  <a:pt x="8691746" y="894257"/>
                </a:cubicBezTo>
                <a:cubicBezTo>
                  <a:pt x="8691746" y="1388142"/>
                  <a:pt x="6746032" y="1788514"/>
                  <a:pt x="4345873" y="1788514"/>
                </a:cubicBezTo>
                <a:cubicBezTo>
                  <a:pt x="1945714" y="1788514"/>
                  <a:pt x="0" y="1388142"/>
                  <a:pt x="0" y="894257"/>
                </a:cubicBezTo>
                <a:cubicBezTo>
                  <a:pt x="0" y="400372"/>
                  <a:pt x="1945714" y="0"/>
                  <a:pt x="4345873" y="0"/>
                </a:cubicBezTo>
                <a:close/>
                <a:moveTo>
                  <a:pt x="4345873" y="103299"/>
                </a:moveTo>
                <a:cubicBezTo>
                  <a:pt x="2222964" y="103299"/>
                  <a:pt x="502006" y="457423"/>
                  <a:pt x="502006" y="894257"/>
                </a:cubicBezTo>
                <a:cubicBezTo>
                  <a:pt x="502006" y="1331091"/>
                  <a:pt x="2222964" y="1685215"/>
                  <a:pt x="4345873" y="1685215"/>
                </a:cubicBezTo>
                <a:cubicBezTo>
                  <a:pt x="6468782" y="1685215"/>
                  <a:pt x="8189740" y="1331091"/>
                  <a:pt x="8189740" y="894257"/>
                </a:cubicBezTo>
                <a:cubicBezTo>
                  <a:pt x="8189740" y="457423"/>
                  <a:pt x="6468782" y="103299"/>
                  <a:pt x="4345873" y="103299"/>
                </a:cubicBezTo>
                <a:close/>
              </a:path>
            </a:pathLst>
          </a:custGeom>
          <a:gradFill flip="none" rotWithShape="1">
            <a:gsLst>
              <a:gs pos="68000">
                <a:schemeClr val="bg2">
                  <a:alpha val="0"/>
                </a:schemeClr>
              </a:gs>
              <a:gs pos="99000">
                <a:schemeClr val="bg2"/>
              </a:gs>
            </a:gsLst>
            <a:lin ang="4800000" scaled="0"/>
          </a:gradFill>
          <a:ln w="12700" cap="flat">
            <a:noFill/>
            <a:miter lim="400000"/>
          </a:ln>
          <a:effectLst/>
        </p:spPr>
        <p:txBody>
          <a:bodyPr wrap="square" lIns="12246" tIns="12246" rIns="12246" bIns="12246" numCol="1" anchor="ctr">
            <a:noAutofit/>
          </a:bodyPr>
          <a:lstStyle/>
          <a:p>
            <a:pPr marL="0" marR="0" lvl="0" indent="0" algn="l" defTabSz="245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pPr>
            <a:endParaRPr kumimoji="0" sz="22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汉仪旗黑-50S"/>
              <a:ea typeface="汉仪旗黑-50S"/>
              <a:cs typeface="+mn-cs"/>
            </a:endParaRPr>
          </a:p>
        </p:txBody>
      </p:sp>
      <p:sp>
        <p:nvSpPr>
          <p:cNvPr id="76" name="椭圆 15"/>
          <p:cNvSpPr/>
          <p:nvPr/>
        </p:nvSpPr>
        <p:spPr>
          <a:xfrm>
            <a:off x="2442395" y="4313183"/>
            <a:ext cx="7307211" cy="1151058"/>
          </a:xfrm>
          <a:prstGeom prst="ellipse">
            <a:avLst/>
          </a:prstGeom>
          <a:noFill/>
          <a:ln w="19050" cap="flat">
            <a:gradFill>
              <a:gsLst>
                <a:gs pos="50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6000000" scaled="0"/>
            </a:gradFill>
            <a:miter lim="400000"/>
          </a:ln>
          <a:effectLst/>
        </p:spPr>
        <p:txBody>
          <a:bodyPr wrap="square" lIns="12246" tIns="12246" rIns="12246" bIns="12246" numCol="1" anchor="ctr">
            <a:noAutofit/>
          </a:bodyPr>
          <a:lstStyle/>
          <a:p>
            <a:pPr marL="0" marR="0" lvl="0" indent="0" algn="l" defTabSz="245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pPr>
            <a:endParaRPr kumimoji="0" sz="22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汉仪旗黑-50S"/>
              <a:ea typeface="汉仪旗黑-50S"/>
              <a:cs typeface="+mn-cs"/>
            </a:endParaRPr>
          </a:p>
        </p:txBody>
      </p:sp>
      <p:sp>
        <p:nvSpPr>
          <p:cNvPr id="69" name="任意形状 68"/>
          <p:cNvSpPr>
            <a:spLocks noChangeAspect="1"/>
          </p:cNvSpPr>
          <p:nvPr/>
        </p:nvSpPr>
        <p:spPr>
          <a:xfrm>
            <a:off x="1862667" y="4300776"/>
            <a:ext cx="8466666" cy="1333700"/>
          </a:xfrm>
          <a:custGeom>
            <a:avLst/>
            <a:gdLst>
              <a:gd name="connsiteX0" fmla="*/ 4345873 w 8691746"/>
              <a:gd name="connsiteY0" fmla="*/ 0 h 1788514"/>
              <a:gd name="connsiteX1" fmla="*/ 8691746 w 8691746"/>
              <a:gd name="connsiteY1" fmla="*/ 894257 h 1788514"/>
              <a:gd name="connsiteX2" fmla="*/ 4345873 w 8691746"/>
              <a:gd name="connsiteY2" fmla="*/ 1788514 h 1788514"/>
              <a:gd name="connsiteX3" fmla="*/ 0 w 8691746"/>
              <a:gd name="connsiteY3" fmla="*/ 894257 h 1788514"/>
              <a:gd name="connsiteX4" fmla="*/ 4345873 w 8691746"/>
              <a:gd name="connsiteY4" fmla="*/ 0 h 1788514"/>
              <a:gd name="connsiteX5" fmla="*/ 4345873 w 8691746"/>
              <a:gd name="connsiteY5" fmla="*/ 103299 h 1788514"/>
              <a:gd name="connsiteX6" fmla="*/ 502006 w 8691746"/>
              <a:gd name="connsiteY6" fmla="*/ 894257 h 1788514"/>
              <a:gd name="connsiteX7" fmla="*/ 4345873 w 8691746"/>
              <a:gd name="connsiteY7" fmla="*/ 1685215 h 1788514"/>
              <a:gd name="connsiteX8" fmla="*/ 8189740 w 8691746"/>
              <a:gd name="connsiteY8" fmla="*/ 894257 h 1788514"/>
              <a:gd name="connsiteX9" fmla="*/ 4345873 w 8691746"/>
              <a:gd name="connsiteY9" fmla="*/ 103299 h 178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691746" h="1788514">
                <a:moveTo>
                  <a:pt x="4345873" y="0"/>
                </a:moveTo>
                <a:cubicBezTo>
                  <a:pt x="6746032" y="0"/>
                  <a:pt x="8691746" y="400372"/>
                  <a:pt x="8691746" y="894257"/>
                </a:cubicBezTo>
                <a:cubicBezTo>
                  <a:pt x="8691746" y="1388142"/>
                  <a:pt x="6746032" y="1788514"/>
                  <a:pt x="4345873" y="1788514"/>
                </a:cubicBezTo>
                <a:cubicBezTo>
                  <a:pt x="1945714" y="1788514"/>
                  <a:pt x="0" y="1388142"/>
                  <a:pt x="0" y="894257"/>
                </a:cubicBezTo>
                <a:cubicBezTo>
                  <a:pt x="0" y="400372"/>
                  <a:pt x="1945714" y="0"/>
                  <a:pt x="4345873" y="0"/>
                </a:cubicBezTo>
                <a:close/>
                <a:moveTo>
                  <a:pt x="4345873" y="103299"/>
                </a:moveTo>
                <a:cubicBezTo>
                  <a:pt x="2222964" y="103299"/>
                  <a:pt x="502006" y="457423"/>
                  <a:pt x="502006" y="894257"/>
                </a:cubicBezTo>
                <a:cubicBezTo>
                  <a:pt x="502006" y="1331091"/>
                  <a:pt x="2222964" y="1685215"/>
                  <a:pt x="4345873" y="1685215"/>
                </a:cubicBezTo>
                <a:cubicBezTo>
                  <a:pt x="6468782" y="1685215"/>
                  <a:pt x="8189740" y="1331091"/>
                  <a:pt x="8189740" y="894257"/>
                </a:cubicBezTo>
                <a:cubicBezTo>
                  <a:pt x="8189740" y="457423"/>
                  <a:pt x="6468782" y="103299"/>
                  <a:pt x="4345873" y="103299"/>
                </a:cubicBezTo>
                <a:close/>
              </a:path>
            </a:pathLst>
          </a:custGeom>
          <a:gradFill flip="none" rotWithShape="1">
            <a:gsLst>
              <a:gs pos="57000">
                <a:schemeClr val="tx2">
                  <a:alpha val="0"/>
                </a:schemeClr>
              </a:gs>
              <a:gs pos="99000">
                <a:schemeClr val="tx2">
                  <a:alpha val="65187"/>
                </a:schemeClr>
              </a:gs>
            </a:gsLst>
            <a:lin ang="6000000" scaled="0"/>
          </a:gradFill>
          <a:ln w="12700" cap="flat">
            <a:noFill/>
            <a:miter lim="400000"/>
          </a:ln>
          <a:effectLst/>
        </p:spPr>
        <p:txBody>
          <a:bodyPr wrap="square" lIns="12246" tIns="12246" rIns="12246" bIns="12246" numCol="1" anchor="ctr">
            <a:noAutofit/>
          </a:bodyPr>
          <a:lstStyle/>
          <a:p>
            <a:pPr marL="0" marR="0" lvl="0" indent="0" algn="l" defTabSz="245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pPr>
            <a:endParaRPr kumimoji="0" sz="22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汉仪旗黑-50S"/>
              <a:ea typeface="汉仪旗黑-50S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40000"/>
          </a:blip>
          <a:srcRect/>
          <a:stretch>
            <a:fillRect/>
          </a:stretch>
        </p:blipFill>
        <p:spPr>
          <a:xfrm>
            <a:off x="3112822" y="1960260"/>
            <a:ext cx="5966357" cy="2224800"/>
          </a:xfrm>
          <a:prstGeom prst="rect">
            <a:avLst/>
          </a:prstGeom>
        </p:spPr>
      </p:pic>
      <p:sp>
        <p:nvSpPr>
          <p:cNvPr id="3" name="同侧圆角矩形 2"/>
          <p:cNvSpPr/>
          <p:nvPr/>
        </p:nvSpPr>
        <p:spPr>
          <a:xfrm rot="5400000" flipH="1">
            <a:off x="9734235" y="1714773"/>
            <a:ext cx="731797" cy="2732042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4EB5FF">
                  <a:alpha val="30000"/>
                </a:srgbClr>
              </a:gs>
              <a:gs pos="100000">
                <a:srgbClr val="4EB5FF">
                  <a:alpha val="0"/>
                </a:srgb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6" name="同侧圆角矩形 5"/>
          <p:cNvSpPr/>
          <p:nvPr/>
        </p:nvSpPr>
        <p:spPr>
          <a:xfrm rot="16200000">
            <a:off x="1725967" y="1714773"/>
            <a:ext cx="731797" cy="2732042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2">
                  <a:alpha val="3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825069" y="2831188"/>
            <a:ext cx="10801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400" dirty="0">
                <a:solidFill>
                  <a:srgbClr val="B775FF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Amoro</a:t>
            </a:r>
            <a:r>
              <a:rPr kumimoji="1" lang="zh-CN" altLang="en-US" sz="1400" dirty="0">
                <a:solidFill>
                  <a:srgbClr val="B775FF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入</a:t>
            </a:r>
            <a:r>
              <a:rPr kumimoji="1" lang="zh-CN" altLang="en-US" sz="1400" dirty="0">
                <a:solidFill>
                  <a:srgbClr val="B775FF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湖</a:t>
            </a:r>
            <a:endParaRPr kumimoji="1" lang="zh-CN" altLang="en-US" sz="1400" dirty="0">
              <a:solidFill>
                <a:srgbClr val="B775FF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81789" y="3116686"/>
            <a:ext cx="1923415" cy="252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Amoro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支持多种数据一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键入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湖</a:t>
            </a:r>
            <a:endParaRPr kumimoji="1" lang="zh-CN" altLang="en-US" sz="105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286794" y="2831188"/>
            <a:ext cx="1071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2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稳定性</a:t>
            </a:r>
            <a:r>
              <a:rPr kumimoji="1" lang="zh-CN" altLang="en-US" sz="1400" dirty="0">
                <a:solidFill>
                  <a:schemeClr val="bg2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建设</a:t>
            </a:r>
            <a:endParaRPr kumimoji="1" lang="zh-CN" altLang="en-US" sz="1400" dirty="0">
              <a:solidFill>
                <a:schemeClr val="bg2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286794" y="3116686"/>
            <a:ext cx="1674495" cy="252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支持</a:t>
            </a:r>
            <a:r>
              <a:rPr kumimoji="1" lang="en-US" altLang="zh-CN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 Flink 1.20 LTS 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版本</a:t>
            </a:r>
            <a:endParaRPr kumimoji="1" lang="zh-CN" altLang="en-US" sz="105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7" name="同侧圆角矩形 6"/>
          <p:cNvSpPr/>
          <p:nvPr/>
        </p:nvSpPr>
        <p:spPr>
          <a:xfrm rot="16200000">
            <a:off x="1948099" y="2675253"/>
            <a:ext cx="731797" cy="2732042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2">
                  <a:alpha val="3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8" name="同侧圆角矩形 7"/>
          <p:cNvSpPr/>
          <p:nvPr/>
        </p:nvSpPr>
        <p:spPr>
          <a:xfrm rot="16200000">
            <a:off x="1948099" y="745903"/>
            <a:ext cx="731797" cy="2732042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2">
                  <a:alpha val="31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954239" y="1858669"/>
            <a:ext cx="121285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400" dirty="0">
                <a:solidFill>
                  <a:srgbClr val="B775FF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Paimon </a:t>
            </a:r>
            <a:r>
              <a:rPr kumimoji="1" lang="zh-CN" altLang="en-US" sz="1400" dirty="0">
                <a:solidFill>
                  <a:srgbClr val="B775FF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优化</a:t>
            </a:r>
            <a:endParaRPr kumimoji="1" lang="zh-CN" altLang="en-US" sz="1400" dirty="0">
              <a:solidFill>
                <a:srgbClr val="B775FF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16064" y="2144168"/>
            <a:ext cx="1851025" cy="252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Amoro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支持</a:t>
            </a:r>
            <a:r>
              <a:rPr kumimoji="1" lang="en-US" altLang="zh-CN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Paimon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自动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优化</a:t>
            </a:r>
            <a:endParaRPr kumimoji="1" lang="zh-CN" altLang="en-US" sz="105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843114" y="3788621"/>
            <a:ext cx="13239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400" dirty="0">
                <a:solidFill>
                  <a:srgbClr val="B775FF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Mixed </a:t>
            </a:r>
            <a:r>
              <a:rPr kumimoji="1" lang="en-US" altLang="zh-CN" sz="1400" dirty="0">
                <a:solidFill>
                  <a:srgbClr val="B775FF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Format</a:t>
            </a:r>
            <a:endParaRPr kumimoji="1" lang="en-US" altLang="zh-CN" sz="1400" dirty="0">
              <a:solidFill>
                <a:srgbClr val="B775FF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322414" y="4074120"/>
            <a:ext cx="1844675" cy="252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基于</a:t>
            </a:r>
            <a:r>
              <a:rPr kumimoji="1" lang="en-US" altLang="zh-CN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iceberg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的实时入湖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方案</a:t>
            </a:r>
            <a:endParaRPr kumimoji="1" lang="zh-CN" altLang="en-US" sz="105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" name="同侧圆角矩形 3"/>
          <p:cNvSpPr/>
          <p:nvPr/>
        </p:nvSpPr>
        <p:spPr>
          <a:xfrm rot="5400000" flipH="1">
            <a:off x="9512104" y="2675253"/>
            <a:ext cx="731797" cy="2732042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4EB5FF">
                  <a:alpha val="30000"/>
                </a:srgbClr>
              </a:gs>
              <a:gs pos="100000">
                <a:srgbClr val="4EB5FF">
                  <a:alpha val="0"/>
                </a:srgb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5" name="同侧圆角矩形 4"/>
          <p:cNvSpPr/>
          <p:nvPr/>
        </p:nvSpPr>
        <p:spPr>
          <a:xfrm rot="5400000" flipH="1">
            <a:off x="9512104" y="745903"/>
            <a:ext cx="731797" cy="2732042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4EB5FF">
                  <a:alpha val="30000"/>
                </a:srgbClr>
              </a:gs>
              <a:gs pos="100000">
                <a:srgbClr val="4EB5FF">
                  <a:alpha val="0"/>
                </a:srgb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041019" y="1858669"/>
            <a:ext cx="15627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2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Iceberg </a:t>
            </a:r>
            <a:r>
              <a:rPr kumimoji="1" lang="zh-CN" altLang="en-US" sz="1400" dirty="0">
                <a:solidFill>
                  <a:schemeClr val="bg2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生态</a:t>
            </a:r>
            <a:r>
              <a:rPr kumimoji="1" lang="zh-CN" altLang="en-US" sz="1400" dirty="0">
                <a:solidFill>
                  <a:schemeClr val="bg2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支持</a:t>
            </a:r>
            <a:endParaRPr kumimoji="1" lang="zh-CN" altLang="en-US" sz="1400" dirty="0">
              <a:solidFill>
                <a:schemeClr val="bg2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041019" y="2144168"/>
            <a:ext cx="1664335" cy="252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支持</a:t>
            </a:r>
            <a:r>
              <a:rPr kumimoji="1" lang="en-US" altLang="zh-CN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Pipeline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写入</a:t>
            </a:r>
            <a:r>
              <a:rPr kumimoji="1" lang="en-US" altLang="zh-CN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iceberg</a:t>
            </a:r>
            <a:endParaRPr kumimoji="1" lang="en-US" altLang="zh-CN" sz="105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041019" y="3788621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bg2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平台化</a:t>
            </a:r>
            <a:endParaRPr kumimoji="1" lang="zh-CN" altLang="en-US" sz="1400" dirty="0">
              <a:solidFill>
                <a:schemeClr val="bg2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041019" y="4074120"/>
            <a:ext cx="2631440" cy="252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联合</a:t>
            </a:r>
            <a:r>
              <a:rPr kumimoji="1" lang="en-US" altLang="zh-CN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Dinky+Amoro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打造开源</a:t>
            </a:r>
            <a:r>
              <a:rPr kumimoji="1" lang="en-US" altLang="zh-CN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CDC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入</a:t>
            </a:r>
            <a:r>
              <a:rPr kumimoji="1" lang="zh-CN" altLang="en-US" sz="1050" dirty="0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  <a:sym typeface="+mn-ea"/>
              </a:rPr>
              <a:t>湖产品</a:t>
            </a:r>
            <a:endParaRPr kumimoji="1" lang="zh-CN" altLang="en-US" sz="1050" dirty="0">
              <a:solidFill>
                <a:schemeClr val="bg1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88893" y="447040"/>
            <a:ext cx="20142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3600" b="1">
                <a:solidFill>
                  <a:schemeClr val="bg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defRPr>
            </a:lvl1pPr>
          </a:lstStyle>
          <a:p>
            <a:r>
              <a:rPr lang="zh-CN" altLang="en-US" dirty="0"/>
              <a:t>未来</a:t>
            </a:r>
            <a:r>
              <a:rPr lang="zh-CN" altLang="en-US" dirty="0"/>
              <a:t>规划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 rot="18900000">
            <a:off x="2988418" y="1865189"/>
            <a:ext cx="2459544" cy="2459544"/>
          </a:xfrm>
          <a:prstGeom prst="ellipse">
            <a:avLst/>
          </a:prstGeom>
          <a:gradFill>
            <a:gsLst>
              <a:gs pos="74000">
                <a:schemeClr val="tx2">
                  <a:alpha val="0"/>
                </a:schemeClr>
              </a:gs>
              <a:gs pos="100000">
                <a:schemeClr val="tx2">
                  <a:alpha val="26000"/>
                </a:schemeClr>
              </a:gs>
            </a:gsLst>
            <a:path path="circle">
              <a:fillToRect l="100000" t="100000"/>
            </a:path>
          </a:gradFill>
          <a:ln w="9525">
            <a:gradFill>
              <a:gsLst>
                <a:gs pos="0">
                  <a:schemeClr val="tx2"/>
                </a:gs>
                <a:gs pos="50000">
                  <a:schemeClr val="tx2">
                    <a:alpha val="0"/>
                  </a:schemeClr>
                </a:gs>
              </a:gsLst>
              <a:lin ang="2700000" scaled="0"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18" name="椭圆 17"/>
          <p:cNvSpPr/>
          <p:nvPr/>
        </p:nvSpPr>
        <p:spPr>
          <a:xfrm rot="2700000" flipH="1">
            <a:off x="6748745" y="1865187"/>
            <a:ext cx="2459544" cy="2459544"/>
          </a:xfrm>
          <a:prstGeom prst="ellipse">
            <a:avLst/>
          </a:prstGeom>
          <a:gradFill>
            <a:gsLst>
              <a:gs pos="74000">
                <a:schemeClr val="bg2">
                  <a:alpha val="0"/>
                </a:schemeClr>
              </a:gs>
              <a:gs pos="100000">
                <a:schemeClr val="bg2">
                  <a:alpha val="24892"/>
                </a:schemeClr>
              </a:gs>
            </a:gsLst>
            <a:path path="circle">
              <a:fillToRect l="100000" t="100000"/>
            </a:path>
          </a:gradFill>
          <a:ln w="9525">
            <a:gradFill>
              <a:gsLst>
                <a:gs pos="0">
                  <a:schemeClr val="bg2"/>
                </a:gs>
                <a:gs pos="50000">
                  <a:schemeClr val="bg2">
                    <a:alpha val="0"/>
                  </a:schemeClr>
                </a:gs>
              </a:gsLst>
              <a:lin ang="2700000" scaled="0"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601" y="2875363"/>
            <a:ext cx="1442798" cy="410862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>
          <a:xfrm rot="10800000">
            <a:off x="3323391" y="2199125"/>
            <a:ext cx="1763339" cy="1763339"/>
          </a:xfrm>
          <a:prstGeom prst="ellipse">
            <a:avLst/>
          </a:prstGeom>
          <a:gradFill flip="none" rotWithShape="1">
            <a:gsLst>
              <a:gs pos="67000">
                <a:schemeClr val="tx2">
                  <a:alpha val="0"/>
                </a:schemeClr>
              </a:gs>
              <a:gs pos="100000">
                <a:schemeClr val="tx2">
                  <a:alpha val="69986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26" name="椭圆 25"/>
          <p:cNvSpPr/>
          <p:nvPr/>
        </p:nvSpPr>
        <p:spPr>
          <a:xfrm rot="10800000">
            <a:off x="7105271" y="2199125"/>
            <a:ext cx="1763339" cy="1763339"/>
          </a:xfrm>
          <a:prstGeom prst="ellipse">
            <a:avLst/>
          </a:prstGeom>
          <a:gradFill flip="none" rotWithShape="1">
            <a:gsLst>
              <a:gs pos="67000">
                <a:srgbClr val="4EB5FF">
                  <a:alpha val="0"/>
                </a:srgbClr>
              </a:gs>
              <a:gs pos="100000">
                <a:srgbClr val="4EB5FF">
                  <a:alpha val="70125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9050">
            <a:solidFill>
              <a:srgbClr val="4EB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572282" y="2875521"/>
            <a:ext cx="1251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B775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数据</a:t>
            </a:r>
            <a:r>
              <a:rPr kumimoji="1" lang="zh-CN" altLang="en-US" sz="2800" b="1" dirty="0">
                <a:solidFill>
                  <a:srgbClr val="B775FF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湖</a:t>
            </a:r>
            <a:endParaRPr kumimoji="1" lang="zh-CN" altLang="en-US" sz="2800" b="1" dirty="0">
              <a:solidFill>
                <a:srgbClr val="B775FF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507197" y="2831175"/>
            <a:ext cx="9594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2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CDC</a:t>
            </a:r>
            <a:endParaRPr kumimoji="1" lang="en-US" altLang="zh-CN" sz="2800" b="1" dirty="0">
              <a:solidFill>
                <a:schemeClr val="bg2"/>
              </a:solidFill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sp>
        <p:nvSpPr>
          <p:cNvPr id="44" name="椭圆 43"/>
          <p:cNvSpPr>
            <a:spLocks noChangeAspect="1"/>
          </p:cNvSpPr>
          <p:nvPr/>
        </p:nvSpPr>
        <p:spPr>
          <a:xfrm flipH="1">
            <a:off x="9169408" y="3036886"/>
            <a:ext cx="87817" cy="8781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47" name="椭圆 46"/>
          <p:cNvSpPr>
            <a:spLocks noChangeAspect="1"/>
          </p:cNvSpPr>
          <p:nvPr/>
        </p:nvSpPr>
        <p:spPr>
          <a:xfrm>
            <a:off x="2934775" y="3036886"/>
            <a:ext cx="87817" cy="8781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45" name="椭圆 44"/>
          <p:cNvSpPr>
            <a:spLocks noChangeAspect="1"/>
          </p:cNvSpPr>
          <p:nvPr/>
        </p:nvSpPr>
        <p:spPr>
          <a:xfrm flipH="1">
            <a:off x="8706361" y="4022770"/>
            <a:ext cx="87817" cy="8781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48" name="椭圆 47"/>
          <p:cNvSpPr>
            <a:spLocks noChangeAspect="1"/>
          </p:cNvSpPr>
          <p:nvPr/>
        </p:nvSpPr>
        <p:spPr>
          <a:xfrm>
            <a:off x="3397823" y="4022770"/>
            <a:ext cx="87817" cy="8781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46" name="椭圆 45"/>
          <p:cNvSpPr>
            <a:spLocks noChangeAspect="1"/>
          </p:cNvSpPr>
          <p:nvPr/>
        </p:nvSpPr>
        <p:spPr>
          <a:xfrm flipH="1">
            <a:off x="8706361" y="2093420"/>
            <a:ext cx="87817" cy="8781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3397823" y="2093420"/>
            <a:ext cx="87817" cy="8781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/>
          </a:p>
        </p:txBody>
      </p:sp>
      <p:sp>
        <p:nvSpPr>
          <p:cNvPr id="71" name="椭圆 15"/>
          <p:cNvSpPr/>
          <p:nvPr/>
        </p:nvSpPr>
        <p:spPr>
          <a:xfrm>
            <a:off x="2442396" y="4321504"/>
            <a:ext cx="7307211" cy="1151058"/>
          </a:xfrm>
          <a:prstGeom prst="ellipse">
            <a:avLst/>
          </a:prstGeom>
          <a:noFill/>
          <a:ln w="19050" cap="flat">
            <a:gradFill>
              <a:gsLst>
                <a:gs pos="50000">
                  <a:schemeClr val="bg2">
                    <a:alpha val="0"/>
                  </a:schemeClr>
                </a:gs>
                <a:gs pos="100000">
                  <a:schemeClr val="bg2"/>
                </a:gs>
              </a:gsLst>
              <a:lin ang="4800000" scaled="0"/>
            </a:gradFill>
            <a:miter lim="400000"/>
          </a:ln>
          <a:effectLst/>
        </p:spPr>
        <p:txBody>
          <a:bodyPr wrap="square" lIns="12246" tIns="12246" rIns="12246" bIns="12246" numCol="1" anchor="ctr">
            <a:noAutofit/>
          </a:bodyPr>
          <a:lstStyle/>
          <a:p>
            <a:pPr marL="0" marR="0" lvl="0" indent="0" algn="l" defTabSz="245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</a:defRPr>
            </a:pPr>
            <a:endParaRPr kumimoji="0" sz="22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汉仪旗黑-50S"/>
              <a:ea typeface="汉仪旗黑-50S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61564" y="1260896"/>
            <a:ext cx="46650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6000" spc="300" dirty="0">
                <a:solidFill>
                  <a:schemeClr val="bg1"/>
                </a:solidFill>
                <a:latin typeface="Space Grotesk Medium" pitchFamily="2" charset="0"/>
                <a:cs typeface="Space Grotesk Medium" pitchFamily="2" charset="0"/>
              </a:rPr>
              <a:t>THANK YOU</a:t>
            </a:r>
            <a:endParaRPr kumimoji="1" lang="zh-CN" altLang="en-US" sz="6000" spc="300" dirty="0">
              <a:solidFill>
                <a:schemeClr val="bg1"/>
              </a:solidFill>
              <a:latin typeface="Space Grotesk Medium" pitchFamily="2" charset="0"/>
              <a:cs typeface="Space Grotesk Medium" pitchFamily="2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41933" y="2344750"/>
            <a:ext cx="6050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spc="1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关注公众号了解更多</a:t>
            </a:r>
            <a:r>
              <a:rPr kumimoji="1" lang="zh-CN" altLang="en-US" sz="3200" spc="1000" dirty="0">
                <a:solidFill>
                  <a:schemeClr val="bg1"/>
                </a:solidFill>
                <a:latin typeface="Alibaba PuHuiTi 2.0 65 Medium" pitchFamily="18" charset="-122"/>
                <a:ea typeface="Alibaba PuHuiTi 2.0 65 Medium" pitchFamily="18" charset="-122"/>
                <a:cs typeface="Alibaba PuHuiTi 2.0 65 Medium" pitchFamily="18" charset="-122"/>
              </a:rPr>
              <a:t>资讯</a:t>
            </a:r>
            <a:endParaRPr kumimoji="1" lang="zh-CN" altLang="en-US" sz="3200" spc="1000" dirty="0">
              <a:solidFill>
                <a:schemeClr val="bg1"/>
              </a:solidFill>
              <a:latin typeface="Alibaba PuHuiTi 2.0 65 Medium" pitchFamily="18" charset="-122"/>
              <a:ea typeface="Alibaba PuHuiTi 2.0 65 Medium" pitchFamily="18" charset="-122"/>
              <a:cs typeface="Alibaba PuHuiTi 2.0 65 Medium" pitchFamily="18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802765" y="2573020"/>
            <a:ext cx="8433435" cy="127635"/>
            <a:chOff x="4691392" y="4120819"/>
            <a:chExt cx="2480544" cy="37626"/>
          </a:xfrm>
        </p:grpSpPr>
        <p:sp>
          <p:nvSpPr>
            <p:cNvPr id="12" name="矩形 11"/>
            <p:cNvSpPr/>
            <p:nvPr/>
          </p:nvSpPr>
          <p:spPr>
            <a:xfrm>
              <a:off x="4691392" y="4120819"/>
              <a:ext cx="134382" cy="37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3" name="矩形 12"/>
            <p:cNvSpPr/>
            <p:nvPr/>
          </p:nvSpPr>
          <p:spPr>
            <a:xfrm>
              <a:off x="7037554" y="4120819"/>
              <a:ext cx="134382" cy="37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</p:grpSp>
      <p:pic>
        <p:nvPicPr>
          <p:cNvPr id="4" name="图片 3" descr="qrcode_for_gh_e9471aef29d1_4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5975" y="3429000"/>
            <a:ext cx="2863850" cy="2863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15820" y="3347085"/>
            <a:ext cx="2987040" cy="30283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TABLE_ENDDRAG_ORIGIN_RECT" val="712*186"/>
  <p:tag name="TABLE_ENDDRAG_RECT" val="120*307*712*186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TABLE_ENDDRAG_ORIGIN_RECT" val="764*248"/>
  <p:tag name="TABLE_ENDDRAG_RECT" val="100*168*764*249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commondata" val="eyJoZGlkIjoiZmQ5ZTBiNjU1ZDk2NzJmNDRjY2JhYWU0NzBkMDU5NDUifQ=="/>
</p:tagLst>
</file>

<file path=ppt/theme/theme1.xml><?xml version="1.0" encoding="utf-8"?>
<a:theme xmlns:a="http://schemas.openxmlformats.org/drawingml/2006/main" name="Office 主题​​">
  <a:themeElements>
    <a:clrScheme name="自定义 123">
      <a:dk1>
        <a:srgbClr val="000000"/>
      </a:dk1>
      <a:lt1>
        <a:srgbClr val="FFFFFF"/>
      </a:lt1>
      <a:dk2>
        <a:srgbClr val="9966F7"/>
      </a:dk2>
      <a:lt2>
        <a:srgbClr val="4DB5FF"/>
      </a:lt2>
      <a:accent1>
        <a:srgbClr val="04CF82"/>
      </a:accent1>
      <a:accent2>
        <a:srgbClr val="F8DE4B"/>
      </a:accent2>
      <a:accent3>
        <a:srgbClr val="FF5350"/>
      </a:accent3>
      <a:accent4>
        <a:srgbClr val="FFFFFF"/>
      </a:accent4>
      <a:accent5>
        <a:srgbClr val="FFFFFF"/>
      </a:accent5>
      <a:accent6>
        <a:srgbClr val="FFFF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2907</Words>
  <Application>WPS 演示</Application>
  <PresentationFormat>宽屏</PresentationFormat>
  <Paragraphs>551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59" baseType="lpstr">
      <vt:lpstr>Arial</vt:lpstr>
      <vt:lpstr>宋体</vt:lpstr>
      <vt:lpstr>Wingdings</vt:lpstr>
      <vt:lpstr>Alibaba PuHuiTi 2.0 55 Regular</vt:lpstr>
      <vt:lpstr>苹方-简</vt:lpstr>
      <vt:lpstr>Space Grotesk</vt:lpstr>
      <vt:lpstr>阿里巴巴普惠体 R</vt:lpstr>
      <vt:lpstr>Alibaba PuHuiTi 2.0 95 ExtraBol</vt:lpstr>
      <vt:lpstr>Alibaba PuHuiTi 2.0 65 Medium</vt:lpstr>
      <vt:lpstr>Aptos</vt:lpstr>
      <vt:lpstr>等线</vt:lpstr>
      <vt:lpstr>汉仪中等线KW</vt:lpstr>
      <vt:lpstr>冬青黑体简体中文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Avenir Next Medium</vt:lpstr>
      <vt:lpstr>Alibaba PuHuiTi H</vt:lpstr>
      <vt:lpstr>Helvetica Neue</vt:lpstr>
      <vt:lpstr>等线</vt:lpstr>
      <vt:lpstr>sans-serif</vt:lpstr>
      <vt:lpstr>FZVariable-LanTingHeiK Normal</vt:lpstr>
      <vt:lpstr>汉仪旗黑-50S</vt:lpstr>
      <vt:lpstr>Space Grotesk Medium</vt:lpstr>
      <vt:lpstr>Thonburi</vt:lpstr>
      <vt:lpstr>华文宋体</vt:lpstr>
      <vt:lpstr>汉仪中黑KW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b1135</dc:creator>
  <cp:lastModifiedBy>jam</cp:lastModifiedBy>
  <cp:revision>341</cp:revision>
  <dcterms:created xsi:type="dcterms:W3CDTF">2024-12-01T12:13:32Z</dcterms:created>
  <dcterms:modified xsi:type="dcterms:W3CDTF">2024-12-01T12:13:32Z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65ECD0E69266E2C9FA4924674B157FD7_43</vt:lpwstr>
  </property>
  <property fmtid="{D5CDD505-2E9C-101B-9397-08002B2CF9AE}" pid="3" name="KSOProductBuildVer">
    <vt:lpwstr>2052-6.11.0.8885</vt:lpwstr>
  </property>
</Properties>
</file>